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1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2.xml" ContentType="application/vnd.openxmlformats-officedocument.theme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13.xml" ContentType="application/vnd.openxmlformats-officedocument.theme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  <p:sldMasterId id="2147483686" r:id="rId2"/>
    <p:sldMasterId id="2147483698" r:id="rId3"/>
    <p:sldMasterId id="2147483710" r:id="rId4"/>
    <p:sldMasterId id="2147483722" r:id="rId5"/>
    <p:sldMasterId id="2147483734" r:id="rId6"/>
    <p:sldMasterId id="2147483746" r:id="rId7"/>
    <p:sldMasterId id="2147483758" r:id="rId8"/>
    <p:sldMasterId id="2147483770" r:id="rId9"/>
    <p:sldMasterId id="2147483806" r:id="rId10"/>
    <p:sldMasterId id="2147483818" r:id="rId11"/>
    <p:sldMasterId id="2147483829" r:id="rId12"/>
    <p:sldMasterId id="2147483840" r:id="rId13"/>
    <p:sldMasterId id="2147483851" r:id="rId14"/>
  </p:sldMasterIdLst>
  <p:notesMasterIdLst>
    <p:notesMasterId r:id="rId54"/>
  </p:notesMasterIdLst>
  <p:sldIdLst>
    <p:sldId id="270" r:id="rId15"/>
    <p:sldId id="256" r:id="rId16"/>
    <p:sldId id="387" r:id="rId17"/>
    <p:sldId id="259" r:id="rId18"/>
    <p:sldId id="320" r:id="rId19"/>
    <p:sldId id="338" r:id="rId20"/>
    <p:sldId id="321" r:id="rId21"/>
    <p:sldId id="400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0" r:id="rId30"/>
    <p:sldId id="396" r:id="rId31"/>
    <p:sldId id="339" r:id="rId32"/>
    <p:sldId id="356" r:id="rId33"/>
    <p:sldId id="331" r:id="rId34"/>
    <p:sldId id="352" r:id="rId35"/>
    <p:sldId id="354" r:id="rId36"/>
    <p:sldId id="353" r:id="rId37"/>
    <p:sldId id="332" r:id="rId38"/>
    <p:sldId id="341" r:id="rId39"/>
    <p:sldId id="403" r:id="rId40"/>
    <p:sldId id="333" r:id="rId41"/>
    <p:sldId id="334" r:id="rId42"/>
    <p:sldId id="340" r:id="rId43"/>
    <p:sldId id="409" r:id="rId44"/>
    <p:sldId id="398" r:id="rId45"/>
    <p:sldId id="335" r:id="rId46"/>
    <p:sldId id="404" r:id="rId47"/>
    <p:sldId id="394" r:id="rId48"/>
    <p:sldId id="406" r:id="rId49"/>
    <p:sldId id="407" r:id="rId50"/>
    <p:sldId id="411" r:id="rId51"/>
    <p:sldId id="412" r:id="rId52"/>
    <p:sldId id="408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2673E5C-48F0-4880-9E5D-C1B753F526B3}">
          <p14:sldIdLst>
            <p14:sldId id="270"/>
          </p14:sldIdLst>
        </p14:section>
        <p14:section name="Sessions" id="{6B305998-727F-4E0D-B590-D2FA76C3FDC2}">
          <p14:sldIdLst>
            <p14:sldId id="256"/>
            <p14:sldId id="387"/>
          </p14:sldIdLst>
        </p14:section>
        <p14:section name="Session 02" id="{05DEB79A-6749-4FB3-A8CD-1CDF5B9F093B}">
          <p14:sldIdLst>
            <p14:sldId id="259"/>
            <p14:sldId id="320"/>
            <p14:sldId id="338"/>
            <p14:sldId id="321"/>
            <p14:sldId id="400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96"/>
            <p14:sldId id="339"/>
            <p14:sldId id="356"/>
            <p14:sldId id="331"/>
            <p14:sldId id="352"/>
            <p14:sldId id="354"/>
            <p14:sldId id="353"/>
            <p14:sldId id="332"/>
            <p14:sldId id="341"/>
            <p14:sldId id="403"/>
            <p14:sldId id="333"/>
            <p14:sldId id="334"/>
            <p14:sldId id="340"/>
            <p14:sldId id="409"/>
            <p14:sldId id="398"/>
            <p14:sldId id="335"/>
            <p14:sldId id="404"/>
            <p14:sldId id="394"/>
            <p14:sldId id="406"/>
            <p14:sldId id="407"/>
            <p14:sldId id="411"/>
            <p14:sldId id="412"/>
            <p14:sldId id="4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DB720D-CB23-00BD-4BF4-8F254009EC64}" name="Adrian Gould" initials="AG" userId="S::Adrian.Gould@nmtafe.wa.edu.au::0a44525a-5416-41c1-827b-f073cee28c70" providerId="AD"/>
  <p188:author id="{CF9B4C55-2547-8E87-20F7-0B62AB1B37EA}" name="John Robertson" initials="JR" userId="S::john.robertson@nmtafe.wa.edu.au::27eef65d-0d9b-46bb-85ea-fba5d9d9135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0001"/>
    <a:srgbClr val="4C0001"/>
    <a:srgbClr val="3C3F41"/>
    <a:srgbClr val="0B0000"/>
    <a:srgbClr val="000000"/>
    <a:srgbClr val="3A0001"/>
    <a:srgbClr val="3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EE47B1-A0E6-433F-98F4-CDE6325D7CE3}" v="484" dt="2023-07-18T04:19:58.301"/>
    <p1510:client id="{3680DEAA-FE01-CE12-E1CA-38DE35996143}" v="676" dt="2023-07-18T03:39:39.321"/>
    <p1510:client id="{49385AEC-9CAB-76EC-9671-1881B6C1E532}" v="1" dt="2023-07-25T04:59:55.610"/>
    <p1510:client id="{6541241C-2F99-BA6D-A8E7-FB69CC158D51}" v="28" vWet="29" dt="2023-07-18T04:27:30.043"/>
    <p1510:client id="{6858ABA0-FC70-8D56-670E-532A1396A990}" v="195" dt="2023-07-18T06:18:46.346"/>
    <p1510:client id="{D09E2D8D-6DFB-0E31-9C22-593DFB49DF21}" v="250" dt="2023-07-18T06:08:44.634"/>
    <p1510:client id="{E94E1F07-6711-489F-86FA-881F1AF05D35}" v="73" dt="2023-07-25T04:55:19.362"/>
    <p1510:client id="{F3F89D1A-9238-4DBE-911B-101A4A966D4D}" v="1806" dt="2023-07-18T06:49:35.4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slide" Target="slides/slide25.xml"/><Relationship Id="rId21" Type="http://schemas.openxmlformats.org/officeDocument/2006/relationships/slide" Target="slides/slide7.xml"/><Relationship Id="rId34" Type="http://schemas.openxmlformats.org/officeDocument/2006/relationships/slide" Target="slides/slide20.xml"/><Relationship Id="rId42" Type="http://schemas.openxmlformats.org/officeDocument/2006/relationships/slide" Target="slides/slide28.xml"/><Relationship Id="rId47" Type="http://schemas.openxmlformats.org/officeDocument/2006/relationships/slide" Target="slides/slide33.xml"/><Relationship Id="rId50" Type="http://schemas.openxmlformats.org/officeDocument/2006/relationships/slide" Target="slides/slide36.xml"/><Relationship Id="rId55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2.xml"/><Relationship Id="rId29" Type="http://schemas.openxmlformats.org/officeDocument/2006/relationships/slide" Target="slides/slide15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40" Type="http://schemas.openxmlformats.org/officeDocument/2006/relationships/slide" Target="slides/slide26.xml"/><Relationship Id="rId45" Type="http://schemas.openxmlformats.org/officeDocument/2006/relationships/slide" Target="slides/slide31.xml"/><Relationship Id="rId53" Type="http://schemas.openxmlformats.org/officeDocument/2006/relationships/slide" Target="slides/slide39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slide" Target="slides/slide29.xml"/><Relationship Id="rId48" Type="http://schemas.openxmlformats.org/officeDocument/2006/relationships/slide" Target="slides/slide34.xml"/><Relationship Id="rId56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7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slide" Target="slides/slide32.xml"/><Relationship Id="rId59" Type="http://schemas.microsoft.com/office/2015/10/relationships/revisionInfo" Target="revisionInfo.xml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49" Type="http://schemas.openxmlformats.org/officeDocument/2006/relationships/slide" Target="slides/slide35.xml"/><Relationship Id="rId57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7.xml"/><Relationship Id="rId44" Type="http://schemas.openxmlformats.org/officeDocument/2006/relationships/slide" Target="slides/slide30.xml"/><Relationship Id="rId52" Type="http://schemas.openxmlformats.org/officeDocument/2006/relationships/slide" Target="slides/slide38.xml"/><Relationship Id="rId60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36350F-C750-4CEB-AC67-DFE40B1CD4A2}" type="doc">
      <dgm:prSet loTypeId="urn:microsoft.com/office/officeart/2005/8/layout/pyramid1" loCatId="pyramid" qsTypeId="urn:microsoft.com/office/officeart/2005/8/quickstyle/simple1" qsCatId="simple" csTypeId="urn:microsoft.com/office/officeart/2005/8/colors/colorful1" csCatId="colorful" phldr="1"/>
      <dgm:spPr/>
    </dgm:pt>
    <dgm:pt modelId="{77EB2474-8F23-4D3E-B6A2-B2BB2AC9990F}">
      <dgm:prSet phldrT="[Text]"/>
      <dgm:spPr>
        <a:ln w="28575">
          <a:solidFill>
            <a:schemeClr val="bg1"/>
          </a:solidFill>
        </a:ln>
      </dgm:spPr>
      <dgm:t>
        <a:bodyPr/>
        <a:lstStyle/>
        <a:p>
          <a:r>
            <a:rPr lang="en-US" dirty="0" err="1"/>
            <a:t>Behaviour</a:t>
          </a:r>
          <a:endParaRPr lang="en-AU" dirty="0"/>
        </a:p>
      </dgm:t>
    </dgm:pt>
    <dgm:pt modelId="{BCC7E9BB-8B79-48A7-95CF-034E13A02505}" type="parTrans" cxnId="{DC9106F4-C6D4-41F8-9052-7DB10AD54DBE}">
      <dgm:prSet/>
      <dgm:spPr/>
      <dgm:t>
        <a:bodyPr/>
        <a:lstStyle/>
        <a:p>
          <a:endParaRPr lang="en-AU"/>
        </a:p>
      </dgm:t>
    </dgm:pt>
    <dgm:pt modelId="{B50C3C37-06D4-41C0-B99E-2E8F3BD40343}" type="sibTrans" cxnId="{DC9106F4-C6D4-41F8-9052-7DB10AD54DBE}">
      <dgm:prSet/>
      <dgm:spPr/>
      <dgm:t>
        <a:bodyPr/>
        <a:lstStyle/>
        <a:p>
          <a:endParaRPr lang="en-AU"/>
        </a:p>
      </dgm:t>
    </dgm:pt>
    <dgm:pt modelId="{E78CB512-2CCA-4428-94E4-B13B2E7B849C}">
      <dgm:prSet phldrT="[Text]"/>
      <dgm:spPr>
        <a:ln w="28575">
          <a:solidFill>
            <a:schemeClr val="bg1"/>
          </a:solidFill>
        </a:ln>
      </dgm:spPr>
      <dgm:t>
        <a:bodyPr/>
        <a:lstStyle/>
        <a:p>
          <a:r>
            <a:rPr lang="en-US" dirty="0"/>
            <a:t>Presentation</a:t>
          </a:r>
          <a:endParaRPr lang="en-AU" dirty="0"/>
        </a:p>
      </dgm:t>
    </dgm:pt>
    <dgm:pt modelId="{DB2EE161-9BCB-4C9F-A047-A78866B6B4B3}" type="parTrans" cxnId="{D33B73FC-EEA1-4FCF-AC34-F19681AED2CF}">
      <dgm:prSet/>
      <dgm:spPr/>
      <dgm:t>
        <a:bodyPr/>
        <a:lstStyle/>
        <a:p>
          <a:endParaRPr lang="en-AU"/>
        </a:p>
      </dgm:t>
    </dgm:pt>
    <dgm:pt modelId="{90DFA091-6AE1-45B5-BC4F-150DFBB464CA}" type="sibTrans" cxnId="{D33B73FC-EEA1-4FCF-AC34-F19681AED2CF}">
      <dgm:prSet/>
      <dgm:spPr/>
      <dgm:t>
        <a:bodyPr/>
        <a:lstStyle/>
        <a:p>
          <a:endParaRPr lang="en-AU"/>
        </a:p>
      </dgm:t>
    </dgm:pt>
    <dgm:pt modelId="{D8B160A9-2D31-4570-8FCA-1139390B4201}">
      <dgm:prSet phldrT="[Text]"/>
      <dgm:spPr>
        <a:ln w="28575">
          <a:solidFill>
            <a:schemeClr val="bg1"/>
          </a:solidFill>
        </a:ln>
      </dgm:spPr>
      <dgm:t>
        <a:bodyPr/>
        <a:lstStyle/>
        <a:p>
          <a:r>
            <a:rPr lang="en-US" dirty="0"/>
            <a:t>Content</a:t>
          </a:r>
          <a:endParaRPr lang="en-AU" dirty="0"/>
        </a:p>
      </dgm:t>
    </dgm:pt>
    <dgm:pt modelId="{EF2171CB-061A-4FC1-8C17-83AA70E83B7D}" type="parTrans" cxnId="{7A55526B-54D4-4C7D-A78D-A11BE738637E}">
      <dgm:prSet/>
      <dgm:spPr/>
      <dgm:t>
        <a:bodyPr/>
        <a:lstStyle/>
        <a:p>
          <a:endParaRPr lang="en-AU"/>
        </a:p>
      </dgm:t>
    </dgm:pt>
    <dgm:pt modelId="{C3AAF96A-196C-4EDC-B9C5-83294AB59C03}" type="sibTrans" cxnId="{7A55526B-54D4-4C7D-A78D-A11BE738637E}">
      <dgm:prSet/>
      <dgm:spPr/>
      <dgm:t>
        <a:bodyPr/>
        <a:lstStyle/>
        <a:p>
          <a:endParaRPr lang="en-AU"/>
        </a:p>
      </dgm:t>
    </dgm:pt>
    <dgm:pt modelId="{1A245FFC-81E2-4582-9CDB-3494C6EA3535}">
      <dgm:prSet phldrT="[Text]"/>
      <dgm:spPr>
        <a:ln w="28575">
          <a:solidFill>
            <a:schemeClr val="bg1"/>
          </a:solidFill>
        </a:ln>
      </dgm:spPr>
      <dgm:t>
        <a:bodyPr/>
        <a:lstStyle/>
        <a:p>
          <a:r>
            <a:rPr lang="en-AU" dirty="0"/>
            <a:t>Structure</a:t>
          </a:r>
        </a:p>
      </dgm:t>
    </dgm:pt>
    <dgm:pt modelId="{DF074CE5-3FC9-4784-96F4-9E502712926B}" type="parTrans" cxnId="{4084B540-F43A-4FA0-B83B-E07149C2D084}">
      <dgm:prSet/>
      <dgm:spPr/>
      <dgm:t>
        <a:bodyPr/>
        <a:lstStyle/>
        <a:p>
          <a:endParaRPr lang="en-AU"/>
        </a:p>
      </dgm:t>
    </dgm:pt>
    <dgm:pt modelId="{EDEFB2E0-4720-4499-A668-FB663B355B69}" type="sibTrans" cxnId="{4084B540-F43A-4FA0-B83B-E07149C2D084}">
      <dgm:prSet/>
      <dgm:spPr/>
      <dgm:t>
        <a:bodyPr/>
        <a:lstStyle/>
        <a:p>
          <a:endParaRPr lang="en-AU"/>
        </a:p>
      </dgm:t>
    </dgm:pt>
    <dgm:pt modelId="{4BF162F5-9BEE-427D-A32F-64A90F7D679D}" type="pres">
      <dgm:prSet presAssocID="{FC36350F-C750-4CEB-AC67-DFE40B1CD4A2}" presName="Name0" presStyleCnt="0">
        <dgm:presLayoutVars>
          <dgm:dir/>
          <dgm:animLvl val="lvl"/>
          <dgm:resizeHandles val="exact"/>
        </dgm:presLayoutVars>
      </dgm:prSet>
      <dgm:spPr/>
    </dgm:pt>
    <dgm:pt modelId="{AEB34FE7-1EF7-4A92-8FFD-904B1B77B06A}" type="pres">
      <dgm:prSet presAssocID="{77EB2474-8F23-4D3E-B6A2-B2BB2AC9990F}" presName="Name8" presStyleCnt="0"/>
      <dgm:spPr/>
    </dgm:pt>
    <dgm:pt modelId="{A0AA2E7F-021C-4EC9-8E5D-F3AF3167704B}" type="pres">
      <dgm:prSet presAssocID="{77EB2474-8F23-4D3E-B6A2-B2BB2AC9990F}" presName="level" presStyleLbl="node1" presStyleIdx="0" presStyleCnt="4">
        <dgm:presLayoutVars>
          <dgm:chMax val="1"/>
          <dgm:bulletEnabled val="1"/>
        </dgm:presLayoutVars>
      </dgm:prSet>
      <dgm:spPr/>
    </dgm:pt>
    <dgm:pt modelId="{0193B2FF-DEDA-4078-8F99-961B0DC8D622}" type="pres">
      <dgm:prSet presAssocID="{77EB2474-8F23-4D3E-B6A2-B2BB2AC9990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AEA5C68-034B-4103-A620-0D91D2550A2A}" type="pres">
      <dgm:prSet presAssocID="{E78CB512-2CCA-4428-94E4-B13B2E7B849C}" presName="Name8" presStyleCnt="0"/>
      <dgm:spPr/>
    </dgm:pt>
    <dgm:pt modelId="{A76BEF21-2290-40FF-9F2B-D450C6236AC6}" type="pres">
      <dgm:prSet presAssocID="{E78CB512-2CCA-4428-94E4-B13B2E7B849C}" presName="level" presStyleLbl="node1" presStyleIdx="1" presStyleCnt="4">
        <dgm:presLayoutVars>
          <dgm:chMax val="1"/>
          <dgm:bulletEnabled val="1"/>
        </dgm:presLayoutVars>
      </dgm:prSet>
      <dgm:spPr/>
    </dgm:pt>
    <dgm:pt modelId="{368A0193-7D79-4276-B43E-21440C2FCF76}" type="pres">
      <dgm:prSet presAssocID="{E78CB512-2CCA-4428-94E4-B13B2E7B849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15C4F70-C434-4638-9D79-F941B5F9CE93}" type="pres">
      <dgm:prSet presAssocID="{1A245FFC-81E2-4582-9CDB-3494C6EA3535}" presName="Name8" presStyleCnt="0"/>
      <dgm:spPr/>
    </dgm:pt>
    <dgm:pt modelId="{C3D70834-161E-470A-879C-5B94B12B1314}" type="pres">
      <dgm:prSet presAssocID="{1A245FFC-81E2-4582-9CDB-3494C6EA3535}" presName="level" presStyleLbl="node1" presStyleIdx="2" presStyleCnt="4">
        <dgm:presLayoutVars>
          <dgm:chMax val="1"/>
          <dgm:bulletEnabled val="1"/>
        </dgm:presLayoutVars>
      </dgm:prSet>
      <dgm:spPr/>
    </dgm:pt>
    <dgm:pt modelId="{3C9C0B54-622E-44A6-9AF2-617876EE18FF}" type="pres">
      <dgm:prSet presAssocID="{1A245FFC-81E2-4582-9CDB-3494C6EA353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E5E02B8-084D-4663-9A7F-98570A7D1230}" type="pres">
      <dgm:prSet presAssocID="{D8B160A9-2D31-4570-8FCA-1139390B4201}" presName="Name8" presStyleCnt="0"/>
      <dgm:spPr/>
    </dgm:pt>
    <dgm:pt modelId="{A08D0E44-3853-4A1D-A1E2-5F379DFFB3EB}" type="pres">
      <dgm:prSet presAssocID="{D8B160A9-2D31-4570-8FCA-1139390B4201}" presName="level" presStyleLbl="node1" presStyleIdx="3" presStyleCnt="4" custLinFactNeighborX="7201" custLinFactNeighborY="-1108">
        <dgm:presLayoutVars>
          <dgm:chMax val="1"/>
          <dgm:bulletEnabled val="1"/>
        </dgm:presLayoutVars>
      </dgm:prSet>
      <dgm:spPr/>
    </dgm:pt>
    <dgm:pt modelId="{BE88CEA0-5F2D-40DF-A3BB-31D75F311A16}" type="pres">
      <dgm:prSet presAssocID="{D8B160A9-2D31-4570-8FCA-1139390B4201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1353000-015C-4DB2-832A-4C9A46D97D09}" type="presOf" srcId="{FC36350F-C750-4CEB-AC67-DFE40B1CD4A2}" destId="{4BF162F5-9BEE-427D-A32F-64A90F7D679D}" srcOrd="0" destOrd="0" presId="urn:microsoft.com/office/officeart/2005/8/layout/pyramid1"/>
    <dgm:cxn modelId="{25148022-9BA0-4581-AEB9-0B519CBE5980}" type="presOf" srcId="{77EB2474-8F23-4D3E-B6A2-B2BB2AC9990F}" destId="{A0AA2E7F-021C-4EC9-8E5D-F3AF3167704B}" srcOrd="0" destOrd="0" presId="urn:microsoft.com/office/officeart/2005/8/layout/pyramid1"/>
    <dgm:cxn modelId="{DE4CD52E-39D2-4C2E-9F64-36810075B7D8}" type="presOf" srcId="{1A245FFC-81E2-4582-9CDB-3494C6EA3535}" destId="{3C9C0B54-622E-44A6-9AF2-617876EE18FF}" srcOrd="1" destOrd="0" presId="urn:microsoft.com/office/officeart/2005/8/layout/pyramid1"/>
    <dgm:cxn modelId="{C8B0AA37-9416-470C-A8D6-6CE3B785347F}" type="presOf" srcId="{D8B160A9-2D31-4570-8FCA-1139390B4201}" destId="{BE88CEA0-5F2D-40DF-A3BB-31D75F311A16}" srcOrd="1" destOrd="0" presId="urn:microsoft.com/office/officeart/2005/8/layout/pyramid1"/>
    <dgm:cxn modelId="{4084B540-F43A-4FA0-B83B-E07149C2D084}" srcId="{FC36350F-C750-4CEB-AC67-DFE40B1CD4A2}" destId="{1A245FFC-81E2-4582-9CDB-3494C6EA3535}" srcOrd="2" destOrd="0" parTransId="{DF074CE5-3FC9-4784-96F4-9E502712926B}" sibTransId="{EDEFB2E0-4720-4499-A668-FB663B355B69}"/>
    <dgm:cxn modelId="{5B1C4D60-59F1-4D3F-92EE-E855849A7011}" type="presOf" srcId="{1A245FFC-81E2-4582-9CDB-3494C6EA3535}" destId="{C3D70834-161E-470A-879C-5B94B12B1314}" srcOrd="0" destOrd="0" presId="urn:microsoft.com/office/officeart/2005/8/layout/pyramid1"/>
    <dgm:cxn modelId="{7A55526B-54D4-4C7D-A78D-A11BE738637E}" srcId="{FC36350F-C750-4CEB-AC67-DFE40B1CD4A2}" destId="{D8B160A9-2D31-4570-8FCA-1139390B4201}" srcOrd="3" destOrd="0" parTransId="{EF2171CB-061A-4FC1-8C17-83AA70E83B7D}" sibTransId="{C3AAF96A-196C-4EDC-B9C5-83294AB59C03}"/>
    <dgm:cxn modelId="{1FA8C49C-4681-4BD7-B774-3760566D121F}" type="presOf" srcId="{E78CB512-2CCA-4428-94E4-B13B2E7B849C}" destId="{A76BEF21-2290-40FF-9F2B-D450C6236AC6}" srcOrd="0" destOrd="0" presId="urn:microsoft.com/office/officeart/2005/8/layout/pyramid1"/>
    <dgm:cxn modelId="{235F36BA-0BED-45E6-B646-123DAE27C334}" type="presOf" srcId="{77EB2474-8F23-4D3E-B6A2-B2BB2AC9990F}" destId="{0193B2FF-DEDA-4078-8F99-961B0DC8D622}" srcOrd="1" destOrd="0" presId="urn:microsoft.com/office/officeart/2005/8/layout/pyramid1"/>
    <dgm:cxn modelId="{2D3A01DE-6891-4203-A790-92610EE86D06}" type="presOf" srcId="{D8B160A9-2D31-4570-8FCA-1139390B4201}" destId="{A08D0E44-3853-4A1D-A1E2-5F379DFFB3EB}" srcOrd="0" destOrd="0" presId="urn:microsoft.com/office/officeart/2005/8/layout/pyramid1"/>
    <dgm:cxn modelId="{DC9106F4-C6D4-41F8-9052-7DB10AD54DBE}" srcId="{FC36350F-C750-4CEB-AC67-DFE40B1CD4A2}" destId="{77EB2474-8F23-4D3E-B6A2-B2BB2AC9990F}" srcOrd="0" destOrd="0" parTransId="{BCC7E9BB-8B79-48A7-95CF-034E13A02505}" sibTransId="{B50C3C37-06D4-41C0-B99E-2E8F3BD40343}"/>
    <dgm:cxn modelId="{D33B73FC-EEA1-4FCF-AC34-F19681AED2CF}" srcId="{FC36350F-C750-4CEB-AC67-DFE40B1CD4A2}" destId="{E78CB512-2CCA-4428-94E4-B13B2E7B849C}" srcOrd="1" destOrd="0" parTransId="{DB2EE161-9BCB-4C9F-A047-A78866B6B4B3}" sibTransId="{90DFA091-6AE1-45B5-BC4F-150DFBB464CA}"/>
    <dgm:cxn modelId="{D22DABFF-C713-464E-A0B7-20241A322249}" type="presOf" srcId="{E78CB512-2CCA-4428-94E4-B13B2E7B849C}" destId="{368A0193-7D79-4276-B43E-21440C2FCF76}" srcOrd="1" destOrd="0" presId="urn:microsoft.com/office/officeart/2005/8/layout/pyramid1"/>
    <dgm:cxn modelId="{EC1782EA-4C1E-4623-A05F-1BE529049B7F}" type="presParOf" srcId="{4BF162F5-9BEE-427D-A32F-64A90F7D679D}" destId="{AEB34FE7-1EF7-4A92-8FFD-904B1B77B06A}" srcOrd="0" destOrd="0" presId="urn:microsoft.com/office/officeart/2005/8/layout/pyramid1"/>
    <dgm:cxn modelId="{39E211BB-F120-4DD6-BD67-1CC9E3064F0A}" type="presParOf" srcId="{AEB34FE7-1EF7-4A92-8FFD-904B1B77B06A}" destId="{A0AA2E7F-021C-4EC9-8E5D-F3AF3167704B}" srcOrd="0" destOrd="0" presId="urn:microsoft.com/office/officeart/2005/8/layout/pyramid1"/>
    <dgm:cxn modelId="{EFB2606D-75D8-497B-BEB2-3B9D054214CC}" type="presParOf" srcId="{AEB34FE7-1EF7-4A92-8FFD-904B1B77B06A}" destId="{0193B2FF-DEDA-4078-8F99-961B0DC8D622}" srcOrd="1" destOrd="0" presId="urn:microsoft.com/office/officeart/2005/8/layout/pyramid1"/>
    <dgm:cxn modelId="{E2EC6450-C6D0-4E07-8250-0DC04E19FF09}" type="presParOf" srcId="{4BF162F5-9BEE-427D-A32F-64A90F7D679D}" destId="{BAEA5C68-034B-4103-A620-0D91D2550A2A}" srcOrd="1" destOrd="0" presId="urn:microsoft.com/office/officeart/2005/8/layout/pyramid1"/>
    <dgm:cxn modelId="{E104EEBF-FE06-451E-995F-0524B7DA502F}" type="presParOf" srcId="{BAEA5C68-034B-4103-A620-0D91D2550A2A}" destId="{A76BEF21-2290-40FF-9F2B-D450C6236AC6}" srcOrd="0" destOrd="0" presId="urn:microsoft.com/office/officeart/2005/8/layout/pyramid1"/>
    <dgm:cxn modelId="{17D0C1FE-B207-4C8D-BFD8-3BF6D44FE038}" type="presParOf" srcId="{BAEA5C68-034B-4103-A620-0D91D2550A2A}" destId="{368A0193-7D79-4276-B43E-21440C2FCF76}" srcOrd="1" destOrd="0" presId="urn:microsoft.com/office/officeart/2005/8/layout/pyramid1"/>
    <dgm:cxn modelId="{8A531793-1FB7-423F-9BEF-3804F06EB262}" type="presParOf" srcId="{4BF162F5-9BEE-427D-A32F-64A90F7D679D}" destId="{215C4F70-C434-4638-9D79-F941B5F9CE93}" srcOrd="2" destOrd="0" presId="urn:microsoft.com/office/officeart/2005/8/layout/pyramid1"/>
    <dgm:cxn modelId="{5E54905B-370A-4B5C-AFC0-8E3EE3EA5726}" type="presParOf" srcId="{215C4F70-C434-4638-9D79-F941B5F9CE93}" destId="{C3D70834-161E-470A-879C-5B94B12B1314}" srcOrd="0" destOrd="0" presId="urn:microsoft.com/office/officeart/2005/8/layout/pyramid1"/>
    <dgm:cxn modelId="{40930081-EF86-4918-B001-7E7DE6E24DF6}" type="presParOf" srcId="{215C4F70-C434-4638-9D79-F941B5F9CE93}" destId="{3C9C0B54-622E-44A6-9AF2-617876EE18FF}" srcOrd="1" destOrd="0" presId="urn:microsoft.com/office/officeart/2005/8/layout/pyramid1"/>
    <dgm:cxn modelId="{F9DF90E9-2BA3-4F78-81B4-B008D567F66E}" type="presParOf" srcId="{4BF162F5-9BEE-427D-A32F-64A90F7D679D}" destId="{FE5E02B8-084D-4663-9A7F-98570A7D1230}" srcOrd="3" destOrd="0" presId="urn:microsoft.com/office/officeart/2005/8/layout/pyramid1"/>
    <dgm:cxn modelId="{10014E65-6F0F-4499-A299-322179549F39}" type="presParOf" srcId="{FE5E02B8-084D-4663-9A7F-98570A7D1230}" destId="{A08D0E44-3853-4A1D-A1E2-5F379DFFB3EB}" srcOrd="0" destOrd="0" presId="urn:microsoft.com/office/officeart/2005/8/layout/pyramid1"/>
    <dgm:cxn modelId="{34358558-AECC-4ED0-B722-62B7AC201751}" type="presParOf" srcId="{FE5E02B8-084D-4663-9A7F-98570A7D1230}" destId="{BE88CEA0-5F2D-40DF-A3BB-31D75F311A16}" srcOrd="1" destOrd="0" presId="urn:microsoft.com/office/officeart/2005/8/layout/pyramid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36350F-C750-4CEB-AC67-DFE40B1CD4A2}" type="doc">
      <dgm:prSet loTypeId="urn:microsoft.com/office/officeart/2005/8/layout/pyramid1" loCatId="pyramid" qsTypeId="urn:microsoft.com/office/officeart/2005/8/quickstyle/simple1" qsCatId="simple" csTypeId="urn:microsoft.com/office/officeart/2005/8/colors/colorful1" csCatId="colorful" phldr="1"/>
      <dgm:spPr/>
    </dgm:pt>
    <dgm:pt modelId="{77EB2474-8F23-4D3E-B6A2-B2BB2AC9990F}">
      <dgm:prSet phldrT="[Text]" custT="1"/>
      <dgm:spPr>
        <a:ln w="28575">
          <a:solidFill>
            <a:schemeClr val="bg1"/>
          </a:solidFill>
        </a:ln>
      </dgm:spPr>
      <dgm:t>
        <a:bodyPr/>
        <a:lstStyle/>
        <a:p>
          <a:r>
            <a:rPr lang="en-US" sz="4800" dirty="0"/>
            <a:t>JS</a:t>
          </a:r>
          <a:endParaRPr lang="en-AU" sz="4800" dirty="0"/>
        </a:p>
      </dgm:t>
    </dgm:pt>
    <dgm:pt modelId="{BCC7E9BB-8B79-48A7-95CF-034E13A02505}" type="parTrans" cxnId="{DC9106F4-C6D4-41F8-9052-7DB10AD54DBE}">
      <dgm:prSet/>
      <dgm:spPr/>
      <dgm:t>
        <a:bodyPr/>
        <a:lstStyle/>
        <a:p>
          <a:endParaRPr lang="en-AU"/>
        </a:p>
      </dgm:t>
    </dgm:pt>
    <dgm:pt modelId="{B50C3C37-06D4-41C0-B99E-2E8F3BD40343}" type="sibTrans" cxnId="{DC9106F4-C6D4-41F8-9052-7DB10AD54DBE}">
      <dgm:prSet/>
      <dgm:spPr/>
      <dgm:t>
        <a:bodyPr/>
        <a:lstStyle/>
        <a:p>
          <a:endParaRPr lang="en-AU"/>
        </a:p>
      </dgm:t>
    </dgm:pt>
    <dgm:pt modelId="{E78CB512-2CCA-4428-94E4-B13B2E7B849C}">
      <dgm:prSet phldrT="[Text]" custT="1"/>
      <dgm:spPr>
        <a:ln w="28575">
          <a:solidFill>
            <a:schemeClr val="bg1"/>
          </a:solidFill>
        </a:ln>
      </dgm:spPr>
      <dgm:t>
        <a:bodyPr/>
        <a:lstStyle/>
        <a:p>
          <a:r>
            <a:rPr lang="en-US" sz="4800" dirty="0"/>
            <a:t>CSS</a:t>
          </a:r>
          <a:endParaRPr lang="en-AU" sz="4800" dirty="0"/>
        </a:p>
      </dgm:t>
    </dgm:pt>
    <dgm:pt modelId="{DB2EE161-9BCB-4C9F-A047-A78866B6B4B3}" type="parTrans" cxnId="{D33B73FC-EEA1-4FCF-AC34-F19681AED2CF}">
      <dgm:prSet/>
      <dgm:spPr/>
      <dgm:t>
        <a:bodyPr/>
        <a:lstStyle/>
        <a:p>
          <a:endParaRPr lang="en-AU"/>
        </a:p>
      </dgm:t>
    </dgm:pt>
    <dgm:pt modelId="{90DFA091-6AE1-45B5-BC4F-150DFBB464CA}" type="sibTrans" cxnId="{D33B73FC-EEA1-4FCF-AC34-F19681AED2CF}">
      <dgm:prSet/>
      <dgm:spPr/>
      <dgm:t>
        <a:bodyPr/>
        <a:lstStyle/>
        <a:p>
          <a:endParaRPr lang="en-AU"/>
        </a:p>
      </dgm:t>
    </dgm:pt>
    <dgm:pt modelId="{D8B160A9-2D31-4570-8FCA-1139390B4201}">
      <dgm:prSet phldrT="[Text]" custT="1"/>
      <dgm:spPr>
        <a:ln w="28575">
          <a:solidFill>
            <a:schemeClr val="bg1"/>
          </a:solidFill>
        </a:ln>
      </dgm:spPr>
      <dgm:t>
        <a:bodyPr/>
        <a:lstStyle/>
        <a:p>
          <a:r>
            <a:rPr lang="en-US" sz="4800" dirty="0"/>
            <a:t>HTML</a:t>
          </a:r>
          <a:endParaRPr lang="en-AU" sz="4800" dirty="0"/>
        </a:p>
      </dgm:t>
    </dgm:pt>
    <dgm:pt modelId="{EF2171CB-061A-4FC1-8C17-83AA70E83B7D}" type="parTrans" cxnId="{7A55526B-54D4-4C7D-A78D-A11BE738637E}">
      <dgm:prSet/>
      <dgm:spPr/>
      <dgm:t>
        <a:bodyPr/>
        <a:lstStyle/>
        <a:p>
          <a:endParaRPr lang="en-AU"/>
        </a:p>
      </dgm:t>
    </dgm:pt>
    <dgm:pt modelId="{C3AAF96A-196C-4EDC-B9C5-83294AB59C03}" type="sibTrans" cxnId="{7A55526B-54D4-4C7D-A78D-A11BE738637E}">
      <dgm:prSet/>
      <dgm:spPr/>
      <dgm:t>
        <a:bodyPr/>
        <a:lstStyle/>
        <a:p>
          <a:endParaRPr lang="en-AU"/>
        </a:p>
      </dgm:t>
    </dgm:pt>
    <dgm:pt modelId="{241A7909-542A-49F3-A418-71EFBA8B7FE4}">
      <dgm:prSet phldrT="[Text]" custT="1"/>
      <dgm:spPr>
        <a:ln w="28575">
          <a:solidFill>
            <a:schemeClr val="bg1"/>
          </a:solidFill>
        </a:ln>
      </dgm:spPr>
      <dgm:t>
        <a:bodyPr/>
        <a:lstStyle/>
        <a:p>
          <a:r>
            <a:rPr lang="en-AU" sz="4800" dirty="0"/>
            <a:t>Content</a:t>
          </a:r>
        </a:p>
      </dgm:t>
    </dgm:pt>
    <dgm:pt modelId="{B35AF4C2-9885-40B7-B7E2-EFFAB4BD752E}" type="parTrans" cxnId="{C0EC98CB-5594-473A-BD61-82F06537086A}">
      <dgm:prSet/>
      <dgm:spPr/>
      <dgm:t>
        <a:bodyPr/>
        <a:lstStyle/>
        <a:p>
          <a:endParaRPr lang="en-AU"/>
        </a:p>
      </dgm:t>
    </dgm:pt>
    <dgm:pt modelId="{7AF555B0-8003-4CCC-9E21-ADF938E4CA7B}" type="sibTrans" cxnId="{C0EC98CB-5594-473A-BD61-82F06537086A}">
      <dgm:prSet/>
      <dgm:spPr/>
      <dgm:t>
        <a:bodyPr/>
        <a:lstStyle/>
        <a:p>
          <a:endParaRPr lang="en-AU"/>
        </a:p>
      </dgm:t>
    </dgm:pt>
    <dgm:pt modelId="{4BF162F5-9BEE-427D-A32F-64A90F7D679D}" type="pres">
      <dgm:prSet presAssocID="{FC36350F-C750-4CEB-AC67-DFE40B1CD4A2}" presName="Name0" presStyleCnt="0">
        <dgm:presLayoutVars>
          <dgm:dir/>
          <dgm:animLvl val="lvl"/>
          <dgm:resizeHandles val="exact"/>
        </dgm:presLayoutVars>
      </dgm:prSet>
      <dgm:spPr/>
    </dgm:pt>
    <dgm:pt modelId="{AEB34FE7-1EF7-4A92-8FFD-904B1B77B06A}" type="pres">
      <dgm:prSet presAssocID="{77EB2474-8F23-4D3E-B6A2-B2BB2AC9990F}" presName="Name8" presStyleCnt="0"/>
      <dgm:spPr/>
    </dgm:pt>
    <dgm:pt modelId="{A0AA2E7F-021C-4EC9-8E5D-F3AF3167704B}" type="pres">
      <dgm:prSet presAssocID="{77EB2474-8F23-4D3E-B6A2-B2BB2AC9990F}" presName="level" presStyleLbl="node1" presStyleIdx="0" presStyleCnt="4">
        <dgm:presLayoutVars>
          <dgm:chMax val="1"/>
          <dgm:bulletEnabled val="1"/>
        </dgm:presLayoutVars>
      </dgm:prSet>
      <dgm:spPr/>
    </dgm:pt>
    <dgm:pt modelId="{0193B2FF-DEDA-4078-8F99-961B0DC8D622}" type="pres">
      <dgm:prSet presAssocID="{77EB2474-8F23-4D3E-B6A2-B2BB2AC9990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AEA5C68-034B-4103-A620-0D91D2550A2A}" type="pres">
      <dgm:prSet presAssocID="{E78CB512-2CCA-4428-94E4-B13B2E7B849C}" presName="Name8" presStyleCnt="0"/>
      <dgm:spPr/>
    </dgm:pt>
    <dgm:pt modelId="{A76BEF21-2290-40FF-9F2B-D450C6236AC6}" type="pres">
      <dgm:prSet presAssocID="{E78CB512-2CCA-4428-94E4-B13B2E7B849C}" presName="level" presStyleLbl="node1" presStyleIdx="1" presStyleCnt="4">
        <dgm:presLayoutVars>
          <dgm:chMax val="1"/>
          <dgm:bulletEnabled val="1"/>
        </dgm:presLayoutVars>
      </dgm:prSet>
      <dgm:spPr/>
    </dgm:pt>
    <dgm:pt modelId="{368A0193-7D79-4276-B43E-21440C2FCF76}" type="pres">
      <dgm:prSet presAssocID="{E78CB512-2CCA-4428-94E4-B13B2E7B849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E5E02B8-084D-4663-9A7F-98570A7D1230}" type="pres">
      <dgm:prSet presAssocID="{D8B160A9-2D31-4570-8FCA-1139390B4201}" presName="Name8" presStyleCnt="0"/>
      <dgm:spPr/>
    </dgm:pt>
    <dgm:pt modelId="{A08D0E44-3853-4A1D-A1E2-5F379DFFB3EB}" type="pres">
      <dgm:prSet presAssocID="{D8B160A9-2D31-4570-8FCA-1139390B4201}" presName="level" presStyleLbl="node1" presStyleIdx="2" presStyleCnt="4">
        <dgm:presLayoutVars>
          <dgm:chMax val="1"/>
          <dgm:bulletEnabled val="1"/>
        </dgm:presLayoutVars>
      </dgm:prSet>
      <dgm:spPr/>
    </dgm:pt>
    <dgm:pt modelId="{BE88CEA0-5F2D-40DF-A3BB-31D75F311A16}" type="pres">
      <dgm:prSet presAssocID="{D8B160A9-2D31-4570-8FCA-1139390B420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8F88E6C-99F9-4AFE-ADFF-6040B74CB880}" type="pres">
      <dgm:prSet presAssocID="{241A7909-542A-49F3-A418-71EFBA8B7FE4}" presName="Name8" presStyleCnt="0"/>
      <dgm:spPr/>
    </dgm:pt>
    <dgm:pt modelId="{45EC3364-E4D5-4214-BCED-D51A9CF4CF02}" type="pres">
      <dgm:prSet presAssocID="{241A7909-542A-49F3-A418-71EFBA8B7FE4}" presName="level" presStyleLbl="node1" presStyleIdx="3" presStyleCnt="4" custLinFactNeighborY="40234">
        <dgm:presLayoutVars>
          <dgm:chMax val="1"/>
          <dgm:bulletEnabled val="1"/>
        </dgm:presLayoutVars>
      </dgm:prSet>
      <dgm:spPr/>
    </dgm:pt>
    <dgm:pt modelId="{3557A702-B34C-43F2-B8B8-F67C896FE4DB}" type="pres">
      <dgm:prSet presAssocID="{241A7909-542A-49F3-A418-71EFBA8B7FE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1353000-015C-4DB2-832A-4C9A46D97D09}" type="presOf" srcId="{FC36350F-C750-4CEB-AC67-DFE40B1CD4A2}" destId="{4BF162F5-9BEE-427D-A32F-64A90F7D679D}" srcOrd="0" destOrd="0" presId="urn:microsoft.com/office/officeart/2005/8/layout/pyramid1"/>
    <dgm:cxn modelId="{25148022-9BA0-4581-AEB9-0B519CBE5980}" type="presOf" srcId="{77EB2474-8F23-4D3E-B6A2-B2BB2AC9990F}" destId="{A0AA2E7F-021C-4EC9-8E5D-F3AF3167704B}" srcOrd="0" destOrd="0" presId="urn:microsoft.com/office/officeart/2005/8/layout/pyramid1"/>
    <dgm:cxn modelId="{C8B0AA37-9416-470C-A8D6-6CE3B785347F}" type="presOf" srcId="{D8B160A9-2D31-4570-8FCA-1139390B4201}" destId="{BE88CEA0-5F2D-40DF-A3BB-31D75F311A16}" srcOrd="1" destOrd="0" presId="urn:microsoft.com/office/officeart/2005/8/layout/pyramid1"/>
    <dgm:cxn modelId="{7A55526B-54D4-4C7D-A78D-A11BE738637E}" srcId="{FC36350F-C750-4CEB-AC67-DFE40B1CD4A2}" destId="{D8B160A9-2D31-4570-8FCA-1139390B4201}" srcOrd="2" destOrd="0" parTransId="{EF2171CB-061A-4FC1-8C17-83AA70E83B7D}" sibTransId="{C3AAF96A-196C-4EDC-B9C5-83294AB59C03}"/>
    <dgm:cxn modelId="{19748793-510B-4539-A2A0-D45FCCFADBDA}" type="presOf" srcId="{241A7909-542A-49F3-A418-71EFBA8B7FE4}" destId="{45EC3364-E4D5-4214-BCED-D51A9CF4CF02}" srcOrd="0" destOrd="0" presId="urn:microsoft.com/office/officeart/2005/8/layout/pyramid1"/>
    <dgm:cxn modelId="{1FA8C49C-4681-4BD7-B774-3760566D121F}" type="presOf" srcId="{E78CB512-2CCA-4428-94E4-B13B2E7B849C}" destId="{A76BEF21-2290-40FF-9F2B-D450C6236AC6}" srcOrd="0" destOrd="0" presId="urn:microsoft.com/office/officeart/2005/8/layout/pyramid1"/>
    <dgm:cxn modelId="{235F36BA-0BED-45E6-B646-123DAE27C334}" type="presOf" srcId="{77EB2474-8F23-4D3E-B6A2-B2BB2AC9990F}" destId="{0193B2FF-DEDA-4078-8F99-961B0DC8D622}" srcOrd="1" destOrd="0" presId="urn:microsoft.com/office/officeart/2005/8/layout/pyramid1"/>
    <dgm:cxn modelId="{C0EC98CB-5594-473A-BD61-82F06537086A}" srcId="{FC36350F-C750-4CEB-AC67-DFE40B1CD4A2}" destId="{241A7909-542A-49F3-A418-71EFBA8B7FE4}" srcOrd="3" destOrd="0" parTransId="{B35AF4C2-9885-40B7-B7E2-EFFAB4BD752E}" sibTransId="{7AF555B0-8003-4CCC-9E21-ADF938E4CA7B}"/>
    <dgm:cxn modelId="{2D3A01DE-6891-4203-A790-92610EE86D06}" type="presOf" srcId="{D8B160A9-2D31-4570-8FCA-1139390B4201}" destId="{A08D0E44-3853-4A1D-A1E2-5F379DFFB3EB}" srcOrd="0" destOrd="0" presId="urn:microsoft.com/office/officeart/2005/8/layout/pyramid1"/>
    <dgm:cxn modelId="{DC9106F4-C6D4-41F8-9052-7DB10AD54DBE}" srcId="{FC36350F-C750-4CEB-AC67-DFE40B1CD4A2}" destId="{77EB2474-8F23-4D3E-B6A2-B2BB2AC9990F}" srcOrd="0" destOrd="0" parTransId="{BCC7E9BB-8B79-48A7-95CF-034E13A02505}" sibTransId="{B50C3C37-06D4-41C0-B99E-2E8F3BD40343}"/>
    <dgm:cxn modelId="{ED4937FC-8B46-4A55-B049-160EE2A242CF}" type="presOf" srcId="{241A7909-542A-49F3-A418-71EFBA8B7FE4}" destId="{3557A702-B34C-43F2-B8B8-F67C896FE4DB}" srcOrd="1" destOrd="0" presId="urn:microsoft.com/office/officeart/2005/8/layout/pyramid1"/>
    <dgm:cxn modelId="{D33B73FC-EEA1-4FCF-AC34-F19681AED2CF}" srcId="{FC36350F-C750-4CEB-AC67-DFE40B1CD4A2}" destId="{E78CB512-2CCA-4428-94E4-B13B2E7B849C}" srcOrd="1" destOrd="0" parTransId="{DB2EE161-9BCB-4C9F-A047-A78866B6B4B3}" sibTransId="{90DFA091-6AE1-45B5-BC4F-150DFBB464CA}"/>
    <dgm:cxn modelId="{D22DABFF-C713-464E-A0B7-20241A322249}" type="presOf" srcId="{E78CB512-2CCA-4428-94E4-B13B2E7B849C}" destId="{368A0193-7D79-4276-B43E-21440C2FCF76}" srcOrd="1" destOrd="0" presId="urn:microsoft.com/office/officeart/2005/8/layout/pyramid1"/>
    <dgm:cxn modelId="{EC1782EA-4C1E-4623-A05F-1BE529049B7F}" type="presParOf" srcId="{4BF162F5-9BEE-427D-A32F-64A90F7D679D}" destId="{AEB34FE7-1EF7-4A92-8FFD-904B1B77B06A}" srcOrd="0" destOrd="0" presId="urn:microsoft.com/office/officeart/2005/8/layout/pyramid1"/>
    <dgm:cxn modelId="{39E211BB-F120-4DD6-BD67-1CC9E3064F0A}" type="presParOf" srcId="{AEB34FE7-1EF7-4A92-8FFD-904B1B77B06A}" destId="{A0AA2E7F-021C-4EC9-8E5D-F3AF3167704B}" srcOrd="0" destOrd="0" presId="urn:microsoft.com/office/officeart/2005/8/layout/pyramid1"/>
    <dgm:cxn modelId="{EFB2606D-75D8-497B-BEB2-3B9D054214CC}" type="presParOf" srcId="{AEB34FE7-1EF7-4A92-8FFD-904B1B77B06A}" destId="{0193B2FF-DEDA-4078-8F99-961B0DC8D622}" srcOrd="1" destOrd="0" presId="urn:microsoft.com/office/officeart/2005/8/layout/pyramid1"/>
    <dgm:cxn modelId="{E2EC6450-C6D0-4E07-8250-0DC04E19FF09}" type="presParOf" srcId="{4BF162F5-9BEE-427D-A32F-64A90F7D679D}" destId="{BAEA5C68-034B-4103-A620-0D91D2550A2A}" srcOrd="1" destOrd="0" presId="urn:microsoft.com/office/officeart/2005/8/layout/pyramid1"/>
    <dgm:cxn modelId="{E104EEBF-FE06-451E-995F-0524B7DA502F}" type="presParOf" srcId="{BAEA5C68-034B-4103-A620-0D91D2550A2A}" destId="{A76BEF21-2290-40FF-9F2B-D450C6236AC6}" srcOrd="0" destOrd="0" presId="urn:microsoft.com/office/officeart/2005/8/layout/pyramid1"/>
    <dgm:cxn modelId="{17D0C1FE-B207-4C8D-BFD8-3BF6D44FE038}" type="presParOf" srcId="{BAEA5C68-034B-4103-A620-0D91D2550A2A}" destId="{368A0193-7D79-4276-B43E-21440C2FCF76}" srcOrd="1" destOrd="0" presId="urn:microsoft.com/office/officeart/2005/8/layout/pyramid1"/>
    <dgm:cxn modelId="{F9DF90E9-2BA3-4F78-81B4-B008D567F66E}" type="presParOf" srcId="{4BF162F5-9BEE-427D-A32F-64A90F7D679D}" destId="{FE5E02B8-084D-4663-9A7F-98570A7D1230}" srcOrd="2" destOrd="0" presId="urn:microsoft.com/office/officeart/2005/8/layout/pyramid1"/>
    <dgm:cxn modelId="{10014E65-6F0F-4499-A299-322179549F39}" type="presParOf" srcId="{FE5E02B8-084D-4663-9A7F-98570A7D1230}" destId="{A08D0E44-3853-4A1D-A1E2-5F379DFFB3EB}" srcOrd="0" destOrd="0" presId="urn:microsoft.com/office/officeart/2005/8/layout/pyramid1"/>
    <dgm:cxn modelId="{34358558-AECC-4ED0-B722-62B7AC201751}" type="presParOf" srcId="{FE5E02B8-084D-4663-9A7F-98570A7D1230}" destId="{BE88CEA0-5F2D-40DF-A3BB-31D75F311A16}" srcOrd="1" destOrd="0" presId="urn:microsoft.com/office/officeart/2005/8/layout/pyramid1"/>
    <dgm:cxn modelId="{F3F7C49C-EEDB-477B-96FF-119C87AC2691}" type="presParOf" srcId="{4BF162F5-9BEE-427D-A32F-64A90F7D679D}" destId="{98F88E6C-99F9-4AFE-ADFF-6040B74CB880}" srcOrd="3" destOrd="0" presId="urn:microsoft.com/office/officeart/2005/8/layout/pyramid1"/>
    <dgm:cxn modelId="{0B092F42-C6AB-434E-B428-3BC79AE07EC5}" type="presParOf" srcId="{98F88E6C-99F9-4AFE-ADFF-6040B74CB880}" destId="{45EC3364-E4D5-4214-BCED-D51A9CF4CF02}" srcOrd="0" destOrd="0" presId="urn:microsoft.com/office/officeart/2005/8/layout/pyramid1"/>
    <dgm:cxn modelId="{C2CD6B2E-F9F0-4598-B49C-B8635631277C}" type="presParOf" srcId="{98F88E6C-99F9-4AFE-ADFF-6040B74CB880}" destId="{3557A702-B34C-43F2-B8B8-F67C896FE4D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AA2E7F-021C-4EC9-8E5D-F3AF3167704B}">
      <dsp:nvSpPr>
        <dsp:cNvPr id="0" name=""/>
        <dsp:cNvSpPr/>
      </dsp:nvSpPr>
      <dsp:spPr>
        <a:xfrm>
          <a:off x="2510689" y="0"/>
          <a:ext cx="1673793" cy="1115862"/>
        </a:xfrm>
        <a:prstGeom prst="trapezoid">
          <a:avLst>
            <a:gd name="adj" fmla="val 7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Behaviour</a:t>
          </a:r>
          <a:endParaRPr lang="en-AU" sz="3000" kern="1200" dirty="0"/>
        </a:p>
      </dsp:txBody>
      <dsp:txXfrm>
        <a:off x="2510689" y="0"/>
        <a:ext cx="1673793" cy="1115862"/>
      </dsp:txXfrm>
    </dsp:sp>
    <dsp:sp modelId="{A76BEF21-2290-40FF-9F2B-D450C6236AC6}">
      <dsp:nvSpPr>
        <dsp:cNvPr id="0" name=""/>
        <dsp:cNvSpPr/>
      </dsp:nvSpPr>
      <dsp:spPr>
        <a:xfrm>
          <a:off x="1673793" y="1115862"/>
          <a:ext cx="3347586" cy="1115862"/>
        </a:xfrm>
        <a:prstGeom prst="trapezoid">
          <a:avLst>
            <a:gd name="adj" fmla="val 7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Presentation</a:t>
          </a:r>
          <a:endParaRPr lang="en-AU" sz="3000" kern="1200" dirty="0"/>
        </a:p>
      </dsp:txBody>
      <dsp:txXfrm>
        <a:off x="2259620" y="1115862"/>
        <a:ext cx="2175931" cy="1115862"/>
      </dsp:txXfrm>
    </dsp:sp>
    <dsp:sp modelId="{C3D70834-161E-470A-879C-5B94B12B1314}">
      <dsp:nvSpPr>
        <dsp:cNvPr id="0" name=""/>
        <dsp:cNvSpPr/>
      </dsp:nvSpPr>
      <dsp:spPr>
        <a:xfrm>
          <a:off x="836896" y="2231725"/>
          <a:ext cx="5021379" cy="1115862"/>
        </a:xfrm>
        <a:prstGeom prst="trapezoid">
          <a:avLst>
            <a:gd name="adj" fmla="val 7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000" kern="1200" dirty="0"/>
            <a:t>Structure</a:t>
          </a:r>
        </a:p>
      </dsp:txBody>
      <dsp:txXfrm>
        <a:off x="1715638" y="2231725"/>
        <a:ext cx="3263896" cy="1115862"/>
      </dsp:txXfrm>
    </dsp:sp>
    <dsp:sp modelId="{A08D0E44-3853-4A1D-A1E2-5F379DFFB3EB}">
      <dsp:nvSpPr>
        <dsp:cNvPr id="0" name=""/>
        <dsp:cNvSpPr/>
      </dsp:nvSpPr>
      <dsp:spPr>
        <a:xfrm>
          <a:off x="0" y="3335223"/>
          <a:ext cx="6695173" cy="1115862"/>
        </a:xfrm>
        <a:prstGeom prst="trapezoid">
          <a:avLst>
            <a:gd name="adj" fmla="val 7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Content</a:t>
          </a:r>
          <a:endParaRPr lang="en-AU" sz="3000" kern="1200" dirty="0"/>
        </a:p>
      </dsp:txBody>
      <dsp:txXfrm>
        <a:off x="1171655" y="3335223"/>
        <a:ext cx="4351862" cy="1115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AA2E7F-021C-4EC9-8E5D-F3AF3167704B}">
      <dsp:nvSpPr>
        <dsp:cNvPr id="0" name=""/>
        <dsp:cNvSpPr/>
      </dsp:nvSpPr>
      <dsp:spPr>
        <a:xfrm>
          <a:off x="2532346" y="0"/>
          <a:ext cx="1688231" cy="1125487"/>
        </a:xfrm>
        <a:prstGeom prst="trapezoid">
          <a:avLst>
            <a:gd name="adj" fmla="val 7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JS</a:t>
          </a:r>
          <a:endParaRPr lang="en-AU" sz="4800" kern="1200" dirty="0"/>
        </a:p>
      </dsp:txBody>
      <dsp:txXfrm>
        <a:off x="2532346" y="0"/>
        <a:ext cx="1688231" cy="1125487"/>
      </dsp:txXfrm>
    </dsp:sp>
    <dsp:sp modelId="{A76BEF21-2290-40FF-9F2B-D450C6236AC6}">
      <dsp:nvSpPr>
        <dsp:cNvPr id="0" name=""/>
        <dsp:cNvSpPr/>
      </dsp:nvSpPr>
      <dsp:spPr>
        <a:xfrm>
          <a:off x="1688231" y="1125487"/>
          <a:ext cx="3376462" cy="1125487"/>
        </a:xfrm>
        <a:prstGeom prst="trapezoid">
          <a:avLst>
            <a:gd name="adj" fmla="val 7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CSS</a:t>
          </a:r>
          <a:endParaRPr lang="en-AU" sz="4800" kern="1200" dirty="0"/>
        </a:p>
      </dsp:txBody>
      <dsp:txXfrm>
        <a:off x="2279111" y="1125487"/>
        <a:ext cx="2194700" cy="1125487"/>
      </dsp:txXfrm>
    </dsp:sp>
    <dsp:sp modelId="{A08D0E44-3853-4A1D-A1E2-5F379DFFB3EB}">
      <dsp:nvSpPr>
        <dsp:cNvPr id="0" name=""/>
        <dsp:cNvSpPr/>
      </dsp:nvSpPr>
      <dsp:spPr>
        <a:xfrm>
          <a:off x="844115" y="2250974"/>
          <a:ext cx="5064693" cy="1125487"/>
        </a:xfrm>
        <a:prstGeom prst="trapezoid">
          <a:avLst>
            <a:gd name="adj" fmla="val 7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HTML</a:t>
          </a:r>
          <a:endParaRPr lang="en-AU" sz="4800" kern="1200" dirty="0"/>
        </a:p>
      </dsp:txBody>
      <dsp:txXfrm>
        <a:off x="1730436" y="2250974"/>
        <a:ext cx="3292050" cy="1125487"/>
      </dsp:txXfrm>
    </dsp:sp>
    <dsp:sp modelId="{45EC3364-E4D5-4214-BCED-D51A9CF4CF02}">
      <dsp:nvSpPr>
        <dsp:cNvPr id="0" name=""/>
        <dsp:cNvSpPr/>
      </dsp:nvSpPr>
      <dsp:spPr>
        <a:xfrm>
          <a:off x="0" y="3376462"/>
          <a:ext cx="6752924" cy="1125487"/>
        </a:xfrm>
        <a:prstGeom prst="trapezoid">
          <a:avLst>
            <a:gd name="adj" fmla="val 7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4800" kern="1200" dirty="0"/>
            <a:t>Content</a:t>
          </a:r>
        </a:p>
      </dsp:txBody>
      <dsp:txXfrm>
        <a:off x="1181761" y="3376462"/>
        <a:ext cx="4389400" cy="11254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301C5-0842-4614-AC71-1DD14D18BF88}" type="datetimeFigureOut">
              <a:rPr lang="en-AU" smtClean="0"/>
              <a:t>5/2/2024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DB9DA5-3B98-40B0-A6FF-9A1FF4494B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2553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Internationalization &amp; </a:t>
            </a:r>
            <a:r>
              <a:rPr lang="en-US" dirty="0" err="1"/>
              <a:t>Localisation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B9DA5-3B98-40B0-A6FF-9A1FF4494BFC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3761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Quiz the class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B9DA5-3B98-40B0-A6FF-9A1FF4494BFC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25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 elements &amp; tags</a:t>
            </a:r>
          </a:p>
          <a:p>
            <a:r>
              <a:rPr lang="en-US" dirty="0"/>
              <a:t>Begin to insert text in the HTML</a:t>
            </a:r>
          </a:p>
          <a:p>
            <a:r>
              <a:rPr lang="en-US" dirty="0"/>
              <a:t>Quickly review styles – padding, margin, </a:t>
            </a:r>
            <a:r>
              <a:rPr lang="en-US" dirty="0" err="1"/>
              <a:t>colour</a:t>
            </a:r>
            <a:r>
              <a:rPr lang="en-US" dirty="0"/>
              <a:t>, width </a:t>
            </a:r>
            <a:r>
              <a:rPr lang="en-US" dirty="0" err="1"/>
              <a:t>etc</a:t>
            </a:r>
            <a:r>
              <a:rPr lang="en-US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B9DA5-3B98-40B0-A6FF-9A1FF4494BFC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0134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97172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22132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08213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77524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0742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49472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65863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86759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5211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912073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2/5/24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45813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7852940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58343247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5235436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5075545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4416204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446637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6902548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8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951281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2910913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01532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5/2/2024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914329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639090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26711071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454972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091054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094653"/>
      </p:ext>
    </p:extLst>
  </p:cSld>
  <p:clrMapOvr>
    <a:masterClrMapping/>
  </p:clrMapOvr>
  <p:transition spd="slow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3124391"/>
      </p:ext>
    </p:extLst>
  </p:cSld>
  <p:clrMapOvr>
    <a:masterClrMapping/>
  </p:clrMapOvr>
  <p:transition spd="slow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677842"/>
      </p:ext>
    </p:extLst>
  </p:cSld>
  <p:clrMapOvr>
    <a:masterClrMapping/>
  </p:clrMapOvr>
  <p:transition spd="slow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439502"/>
      </p:ext>
    </p:extLst>
  </p:cSld>
  <p:clrMapOvr>
    <a:masterClrMapping/>
  </p:clrMapOvr>
  <p:transition spd="slow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7761409"/>
      </p:ext>
    </p:extLst>
  </p:cSld>
  <p:clrMapOvr>
    <a:masterClrMapping/>
  </p:clrMapOvr>
  <p:transition spd="slow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551233"/>
      </p:ext>
    </p:extLst>
  </p:cSld>
  <p:clrMapOvr>
    <a:masterClrMapping/>
  </p:clrMapOvr>
  <p:transition spd="slow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5/2/2024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7872616"/>
      </p:ext>
    </p:extLst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7325809"/>
      </p:ext>
    </p:extLst>
  </p:cSld>
  <p:clrMapOvr>
    <a:masterClrMapping/>
  </p:clrMapOvr>
  <p:transition spd="slow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009829"/>
      </p:ext>
    </p:extLst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5945563"/>
      </p:ext>
    </p:extLst>
  </p:cSld>
  <p:clrMapOvr>
    <a:masterClrMapping/>
  </p:clrMapOvr>
  <p:transition spd="slow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44494"/>
      </p:ext>
    </p:extLst>
  </p:cSld>
  <p:clrMapOvr>
    <a:masterClrMapping/>
  </p:clrMapOvr>
  <p:transition spd="slow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2350594"/>
      </p:ext>
    </p:extLst>
  </p:cSld>
  <p:clrMapOvr>
    <a:masterClrMapping/>
  </p:clrMapOvr>
  <p:transition spd="slow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9059109"/>
      </p:ext>
    </p:extLst>
  </p:cSld>
  <p:clrMapOvr>
    <a:masterClrMapping/>
  </p:clrMapOvr>
  <p:transition spd="slow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440938"/>
      </p:ext>
    </p:extLst>
  </p:cSld>
  <p:clrMapOvr>
    <a:masterClrMapping/>
  </p:clrMapOvr>
  <p:transition spd="slow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4279959"/>
      </p:ext>
    </p:extLst>
  </p:cSld>
  <p:clrMapOvr>
    <a:masterClrMapping/>
  </p:clrMapOvr>
  <p:transition spd="slow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590441"/>
      </p:ext>
    </p:extLst>
  </p:cSld>
  <p:clrMapOvr>
    <a:masterClrMapping/>
  </p:clrMapOvr>
  <p:transition spd="slow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9257663"/>
      </p:ext>
    </p:extLst>
  </p:cSld>
  <p:clrMapOvr>
    <a:masterClrMapping/>
  </p:clrMapOvr>
  <p:transition spd="slow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646541"/>
      </p:ext>
    </p:extLst>
  </p:cSld>
  <p:clrMapOvr>
    <a:masterClrMapping/>
  </p:clrMapOvr>
  <p:transition spd="slow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842572"/>
      </p:ext>
    </p:extLst>
  </p:cSld>
  <p:clrMapOvr>
    <a:masterClrMapping/>
  </p:clrMapOvr>
  <p:transition spd="slow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037543"/>
      </p:ext>
    </p:extLst>
  </p:cSld>
  <p:clrMapOvr>
    <a:masterClrMapping/>
  </p:clrMapOvr>
  <p:transition spd="slow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5812088"/>
      </p:ext>
    </p:extLst>
  </p:cSld>
  <p:clrMapOvr>
    <a:masterClrMapping/>
  </p:clrMapOvr>
  <p:transition spd="slow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0765084"/>
      </p:ext>
    </p:extLst>
  </p:cSld>
  <p:clrMapOvr>
    <a:masterClrMapping/>
  </p:clrMapOvr>
  <p:transition spd="slow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7664379"/>
      </p:ext>
    </p:extLst>
  </p:cSld>
  <p:clrMapOvr>
    <a:masterClrMapping/>
  </p:clrMapOvr>
  <p:transition spd="slow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9627324"/>
      </p:ext>
    </p:extLst>
  </p:cSld>
  <p:clrMapOvr>
    <a:masterClrMapping/>
  </p:clrMapOvr>
  <p:transition spd="slow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146778"/>
      </p:ext>
    </p:extLst>
  </p:cSld>
  <p:clrMapOvr>
    <a:masterClrMapping/>
  </p:clrMapOvr>
  <p:transition spd="slow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866695"/>
      </p:ext>
    </p:extLst>
  </p:cSld>
  <p:clrMapOvr>
    <a:masterClrMapping/>
  </p:clrMapOvr>
  <p:transition spd="slow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941442"/>
      </p:ext>
    </p:extLst>
  </p:cSld>
  <p:clrMapOvr>
    <a:masterClrMapping/>
  </p:clrMapOvr>
  <p:transition spd="slow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579322"/>
      </p:ext>
    </p:extLst>
  </p:cSld>
  <p:clrMapOvr>
    <a:masterClrMapping/>
  </p:clrMapOvr>
  <p:transition spd="slow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2395453"/>
      </p:ext>
    </p:extLst>
  </p:cSld>
  <p:clrMapOvr>
    <a:masterClrMapping/>
  </p:clrMapOvr>
  <p:transition spd="slow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220297"/>
      </p:ext>
    </p:extLst>
  </p:cSld>
  <p:clrMapOvr>
    <a:masterClrMapping/>
  </p:clrMapOvr>
  <p:transition spd="slow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9710051"/>
      </p:ext>
    </p:extLst>
  </p:cSld>
  <p:clrMapOvr>
    <a:masterClrMapping/>
  </p:clrMapOvr>
  <p:transition spd="slow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7095686"/>
      </p:ext>
    </p:extLst>
  </p:cSld>
  <p:clrMapOvr>
    <a:masterClrMapping/>
  </p:clrMapOvr>
  <p:transition spd="slow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082501"/>
      </p:ext>
    </p:extLst>
  </p:cSld>
  <p:clrMapOvr>
    <a:masterClrMapping/>
  </p:clrMapOvr>
  <p:transition spd="slow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6643192"/>
      </p:ext>
    </p:extLst>
  </p:cSld>
  <p:clrMapOvr>
    <a:masterClrMapping/>
  </p:clrMapOvr>
  <p:transition spd="slow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5730182"/>
      </p:ext>
    </p:extLst>
  </p:cSld>
  <p:clrMapOvr>
    <a:masterClrMapping/>
  </p:clrMapOvr>
  <p:transition spd="slow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84613"/>
      </p:ext>
    </p:extLst>
  </p:cSld>
  <p:clrMapOvr>
    <a:masterClrMapping/>
  </p:clrMapOvr>
  <p:transition spd="slow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113288"/>
      </p:ext>
    </p:extLst>
  </p:cSld>
  <p:clrMapOvr>
    <a:masterClrMapping/>
  </p:clrMapOvr>
  <p:transition spd="slow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045618"/>
      </p:ext>
    </p:extLst>
  </p:cSld>
  <p:clrMapOvr>
    <a:masterClrMapping/>
  </p:clrMapOvr>
  <p:transition spd="slow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9998777"/>
      </p:ext>
    </p:extLst>
  </p:cSld>
  <p:clrMapOvr>
    <a:masterClrMapping/>
  </p:clrMapOvr>
  <p:transition spd="slow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052585"/>
      </p:ext>
    </p:extLst>
  </p:cSld>
  <p:clrMapOvr>
    <a:masterClrMapping/>
  </p:clrMapOvr>
  <p:transition spd="slow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4099411"/>
      </p:ext>
    </p:extLst>
  </p:cSld>
  <p:clrMapOvr>
    <a:masterClrMapping/>
  </p:clrMapOvr>
  <p:transition spd="slow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144768"/>
      </p:ext>
    </p:extLst>
  </p:cSld>
  <p:clrMapOvr>
    <a:masterClrMapping/>
  </p:clrMapOvr>
  <p:transition spd="slow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7102047"/>
      </p:ext>
    </p:extLst>
  </p:cSld>
  <p:clrMapOvr>
    <a:masterClrMapping/>
  </p:clrMapOvr>
  <p:transition spd="slow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389621"/>
      </p:ext>
    </p:extLst>
  </p:cSld>
  <p:clrMapOvr>
    <a:masterClrMapping/>
  </p:clrMapOvr>
  <p:transition spd="slow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9817362"/>
      </p:ext>
    </p:extLst>
  </p:cSld>
  <p:clrMapOvr>
    <a:masterClrMapping/>
  </p:clrMapOvr>
  <p:transition spd="slow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3219357"/>
      </p:ext>
    </p:extLst>
  </p:cSld>
  <p:clrMapOvr>
    <a:masterClrMapping/>
  </p:clrMapOvr>
  <p:transition spd="slow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639140"/>
      </p:ext>
    </p:extLst>
  </p:cSld>
  <p:clrMapOvr>
    <a:masterClrMapping/>
  </p:clrMapOvr>
  <p:transition spd="slow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8202440"/>
      </p:ext>
    </p:extLst>
  </p:cSld>
  <p:clrMapOvr>
    <a:masterClrMapping/>
  </p:clrMapOvr>
  <p:transition spd="slow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6118706"/>
      </p:ext>
    </p:extLst>
  </p:cSld>
  <p:clrMapOvr>
    <a:masterClrMapping/>
  </p:clrMapOvr>
  <p:transition spd="slow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297514"/>
      </p:ext>
    </p:extLst>
  </p:cSld>
  <p:clrMapOvr>
    <a:masterClrMapping/>
  </p:clrMapOvr>
  <p:transition spd="slow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6331379"/>
      </p:ext>
    </p:extLst>
  </p:cSld>
  <p:clrMapOvr>
    <a:masterClrMapping/>
  </p:clrMapOvr>
  <p:transition spd="slow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500825"/>
      </p:ext>
    </p:extLst>
  </p:cSld>
  <p:clrMapOvr>
    <a:masterClrMapping/>
  </p:clrMapOvr>
  <p:transition spd="slow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379820"/>
      </p:ext>
    </p:extLst>
  </p:cSld>
  <p:clrMapOvr>
    <a:masterClrMapping/>
  </p:clrMapOvr>
  <p:transition spd="slow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786074"/>
      </p:ext>
    </p:extLst>
  </p:cSld>
  <p:clrMapOvr>
    <a:masterClrMapping/>
  </p:clrMapOvr>
  <p:transition spd="slow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2273943"/>
      </p:ext>
    </p:extLst>
  </p:cSld>
  <p:clrMapOvr>
    <a:masterClrMapping/>
  </p:clrMapOvr>
  <p:transition spd="slow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435440"/>
      </p:ext>
    </p:extLst>
  </p:cSld>
  <p:clrMapOvr>
    <a:masterClrMapping/>
  </p:clrMapOvr>
  <p:transition spd="slow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95935"/>
      </p:ext>
    </p:extLst>
  </p:cSld>
  <p:clrMapOvr>
    <a:masterClrMapping/>
  </p:clrMapOvr>
  <p:transition spd="slow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185332"/>
      </p:ext>
    </p:extLst>
  </p:cSld>
  <p:clrMapOvr>
    <a:masterClrMapping/>
  </p:clrMapOvr>
  <p:transition spd="slow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5765892"/>
      </p:ext>
    </p:extLst>
  </p:cSld>
  <p:clrMapOvr>
    <a:masterClrMapping/>
  </p:clrMapOvr>
  <p:transition spd="slow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031487"/>
      </p:ext>
    </p:extLst>
  </p:cSld>
  <p:clrMapOvr>
    <a:masterClrMapping/>
  </p:clrMapOvr>
  <p:transition spd="slow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6082134"/>
      </p:ext>
    </p:extLst>
  </p:cSld>
  <p:clrMapOvr>
    <a:masterClrMapping/>
  </p:clrMapOvr>
  <p:transition spd="slow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5485142"/>
      </p:ext>
    </p:extLst>
  </p:cSld>
  <p:clrMapOvr>
    <a:masterClrMapping/>
  </p:clrMapOvr>
  <p:transition spd="slow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1969938"/>
      </p:ext>
    </p:extLst>
  </p:cSld>
  <p:clrMapOvr>
    <a:masterClrMapping/>
  </p:clrMapOvr>
  <p:transition spd="slow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283881"/>
      </p:ext>
    </p:extLst>
  </p:cSld>
  <p:clrMapOvr>
    <a:masterClrMapping/>
  </p:clrMapOvr>
  <p:transition spd="slow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006424"/>
      </p:ext>
    </p:extLst>
  </p:cSld>
  <p:clrMapOvr>
    <a:masterClrMapping/>
  </p:clrMapOvr>
  <p:transition spd="slow"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959658"/>
      </p:ext>
    </p:extLst>
  </p:cSld>
  <p:clrMapOvr>
    <a:masterClrMapping/>
  </p:clrMapOvr>
  <p:transition spd="slow"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5316661"/>
      </p:ext>
    </p:extLst>
  </p:cSld>
  <p:clrMapOvr>
    <a:masterClrMapping/>
  </p:clrMapOvr>
  <p:transition spd="slow"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2312828"/>
      </p:ext>
    </p:extLst>
  </p:cSld>
  <p:clrMapOvr>
    <a:masterClrMapping/>
  </p:clrMapOvr>
  <p:transition spd="slow"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389694"/>
      </p:ext>
    </p:extLst>
  </p:cSld>
  <p:clrMapOvr>
    <a:masterClrMapping/>
  </p:clrMapOvr>
  <p:transition spd="slow"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7756321"/>
      </p:ext>
    </p:extLst>
  </p:cSld>
  <p:clrMapOvr>
    <a:masterClrMapping/>
  </p:clrMapOvr>
  <p:transition spd="slow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377667"/>
      </p:ext>
    </p:extLst>
  </p:cSld>
  <p:clrMapOvr>
    <a:masterClrMapping/>
  </p:clrMapOvr>
  <p:transition spd="slow"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1518369"/>
      </p:ext>
    </p:extLst>
  </p:cSld>
  <p:clrMapOvr>
    <a:masterClrMapping/>
  </p:clrMapOvr>
  <p:transition spd="slow"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1450234"/>
      </p:ext>
    </p:extLst>
  </p:cSld>
  <p:clrMapOvr>
    <a:masterClrMapping/>
  </p:clrMapOvr>
  <p:transition spd="slow"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679199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8800938"/>
      </p:ext>
    </p:extLst>
  </p:cSld>
  <p:clrMapOvr>
    <a:masterClrMapping/>
  </p:clrMapOvr>
  <p:transition spd="slow">
    <p:fad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578032"/>
      </p:ext>
    </p:extLst>
  </p:cSld>
  <p:clrMapOvr>
    <a:masterClrMapping/>
  </p:clrMapOvr>
  <p:transition spd="slow">
    <p:fade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5599382"/>
      </p:ext>
    </p:extLst>
  </p:cSld>
  <p:clrMapOvr>
    <a:masterClrMapping/>
  </p:clrMapOvr>
  <p:transition spd="slow">
    <p:fade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3226191"/>
      </p:ext>
    </p:extLst>
  </p:cSld>
  <p:clrMapOvr>
    <a:masterClrMapping/>
  </p:clrMapOvr>
  <p:transition spd="slow">
    <p:fad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065649"/>
      </p:ext>
    </p:extLst>
  </p:cSld>
  <p:clrMapOvr>
    <a:masterClrMapping/>
  </p:clrMapOvr>
  <p:transition spd="slow">
    <p:fade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1847952"/>
      </p:ext>
    </p:extLst>
  </p:cSld>
  <p:clrMapOvr>
    <a:masterClrMapping/>
  </p:clrMapOvr>
  <p:transition spd="slow">
    <p:fade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742388"/>
      </p:ext>
    </p:extLst>
  </p:cSld>
  <p:clrMapOvr>
    <a:masterClrMapping/>
  </p:clrMapOvr>
  <p:transition spd="slow"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28909"/>
      </p:ext>
    </p:extLst>
  </p:cSld>
  <p:clrMapOvr>
    <a:masterClrMapping/>
  </p:clrMapOvr>
  <p:transition spd="slow"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949875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2/5/24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913130"/>
      </p:ext>
    </p:extLst>
  </p:cSld>
  <p:clrMapOvr>
    <a:masterClrMapping/>
  </p:clrMapOvr>
  <p:hf hd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456127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92264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03298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245966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61617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336091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58231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422970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240910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881950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30407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263826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14777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94600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483741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79424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03280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737626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08466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8367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025110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38333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72933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603705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521436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45080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77024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43125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22243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936901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401920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7754979"/>
      </p:ext>
    </p:extLst>
  </p:cSld>
  <p:clrMapOvr>
    <a:masterClrMapping/>
  </p:clrMapOvr>
  <p:transition spd="slow">
    <p:fade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360377"/>
      </p:ext>
    </p:extLst>
  </p:cSld>
  <p:clrMapOvr>
    <a:masterClrMapping/>
  </p:clrMapOvr>
  <p:transition spd="slow">
    <p:fade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9064148"/>
      </p:ext>
    </p:extLst>
  </p:cSld>
  <p:clrMapOvr>
    <a:masterClrMapping/>
  </p:clrMapOvr>
  <p:transition spd="slow">
    <p:fade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2742752"/>
      </p:ext>
    </p:extLst>
  </p:cSld>
  <p:clrMapOvr>
    <a:masterClrMapping/>
  </p:clrMapOvr>
  <p:transition spd="slow">
    <p:fade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2929718"/>
      </p:ext>
    </p:extLst>
  </p:cSld>
  <p:clrMapOvr>
    <a:masterClrMapping/>
  </p:clrMapOvr>
  <p:transition spd="slow">
    <p:fade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485039"/>
      </p:ext>
    </p:extLst>
  </p:cSld>
  <p:clrMapOvr>
    <a:masterClrMapping/>
  </p:clrMapOvr>
  <p:transition spd="slow">
    <p:fade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988109"/>
      </p:ext>
    </p:extLst>
  </p:cSld>
  <p:clrMapOvr>
    <a:masterClrMapping/>
  </p:clrMapOvr>
  <p:transition spd="slow">
    <p:fade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331647"/>
      </p:ext>
    </p:extLst>
  </p:cSld>
  <p:clrMapOvr>
    <a:masterClrMapping/>
  </p:clrMapOvr>
  <p:transition spd="slow">
    <p:fade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779250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2/5/24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272729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em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emf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emf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emf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image" Target="../media/image3.jpeg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7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theme" Target="../theme/theme13.xml"/><Relationship Id="rId5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7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50.xml"/><Relationship Id="rId4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E2B1F-3BA7-43D8-54B8-9DA63BB590F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CD4F25-35BD-D59F-8D88-D390634E6B3E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66792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1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  <p:pic>
        <p:nvPicPr>
          <p:cNvPr id="11" name="Picture 10" descr="Shape, rectangle&#10;&#10;Description automatically generated">
            <a:extLst>
              <a:ext uri="{FF2B5EF4-FFF2-40B4-BE49-F238E27FC236}">
                <a16:creationId xmlns:a16="http://schemas.microsoft.com/office/drawing/2014/main" id="{FB1B3E2C-5634-B283-5DA9-CF2AA0C62510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" r="786" b="90698"/>
          <a:stretch/>
        </p:blipFill>
        <p:spPr>
          <a:xfrm>
            <a:off x="0" y="0"/>
            <a:ext cx="12192000" cy="756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43A73D-BC11-784C-91CA-D338A5444653}"/>
              </a:ext>
            </a:extLst>
          </p:cNvPr>
          <p:cNvSpPr txBox="1"/>
          <p:nvPr userDrawn="1"/>
        </p:nvSpPr>
        <p:spPr>
          <a:xfrm rot="16200000">
            <a:off x="-2391618" y="3266444"/>
            <a:ext cx="5420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</a:rPr>
              <a:t>ICT40120 Certificate IV in Programming</a:t>
            </a:r>
          </a:p>
        </p:txBody>
      </p:sp>
    </p:spTree>
    <p:extLst>
      <p:ext uri="{BB962C8B-B14F-4D97-AF65-F5344CB8AC3E}">
        <p14:creationId xmlns:p14="http://schemas.microsoft.com/office/powerpoint/2010/main" val="3883497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3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5733F300-0A4E-72B7-DE64-0D266581486E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t="-1" b="90593"/>
          <a:stretch/>
        </p:blipFill>
        <p:spPr>
          <a:xfrm>
            <a:off x="0" y="0"/>
            <a:ext cx="12192000" cy="76943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30000"/>
            <a:biLevel thresh="7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4022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C11DD-A15C-4F20-5497-445A07C596A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F5C0C4-2700-5C2E-E243-A32AC6D7823C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5546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E11DD5-AE95-6FD5-F8ED-581EC212662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B93067-C2A8-9188-F67D-1811D395F548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6734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 descr="Shape&#10;&#10;Description automatically generated with low confidence">
            <a:extLst>
              <a:ext uri="{FF2B5EF4-FFF2-40B4-BE49-F238E27FC236}">
                <a16:creationId xmlns:a16="http://schemas.microsoft.com/office/drawing/2014/main" id="{A7CC75FF-9724-8147-A0FC-729B7F64182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/>
          <a:stretch/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63C976-4323-BEC4-D794-29DE4A65855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561454-5231-CD4C-E25B-2A0FBF4C7721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  <a:biLevel thresh="2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95585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C2F6B-FCEF-2A83-9D11-F99C242B3A0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DCD787-14C6-1E61-13ED-101927EA526B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197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D6E24-8DEC-3744-9360-4F74DC4CCB8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3C2C9F-DCB7-A316-B061-B71274F85B8F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0079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F743F-302A-D5A5-923F-4E3553F2D64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BE2B0E-C479-8999-813C-931896F8186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59627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5D370-27CE-1543-DE20-99096E7ED37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7917601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A7F89-7143-E432-6480-FB158F149B8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6784963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5C7F7-5515-9DD4-EE0B-1026F29427E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442744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80" t="15106" r="9315" b="9369"/>
          <a:stretch/>
        </p:blipFill>
        <p:spPr>
          <a:xfrm>
            <a:off x="-57876" y="0"/>
            <a:ext cx="12249875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4ABB8-7D50-6384-C614-FB8D78343DD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686878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329E7-8084-71E1-C3DE-7E44BA3F9B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536819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rthmetrotafe.wa.edu.au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_NRodG8VcMs&amp;t=2s" TargetMode="Externa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 fontScale="90000"/>
          </a:bodyPr>
          <a:lstStyle/>
          <a:p>
            <a:br>
              <a:rPr lang="en-AU"/>
            </a:br>
            <a:r>
              <a:rPr lang="en-AU"/>
              <a:t>Web Technologies: Introduction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/>
              <a:t>ICT40120 Certificate IV in Information Technology (Programming)</a:t>
            </a:r>
          </a:p>
        </p:txBody>
      </p:sp>
      <p:graphicFrame>
        <p:nvGraphicFramePr>
          <p:cNvPr id="36" name="Table 36">
            <a:extLst>
              <a:ext uri="{FF2B5EF4-FFF2-40B4-BE49-F238E27FC236}">
                <a16:creationId xmlns:a16="http://schemas.microsoft.com/office/drawing/2014/main" id="{740E6E62-3521-150E-78A6-322B5A2C948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76761145"/>
              </p:ext>
            </p:extLst>
          </p:nvPr>
        </p:nvGraphicFramePr>
        <p:xfrm>
          <a:off x="1524000" y="3771900"/>
          <a:ext cx="9144000" cy="111252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1681537">
                  <a:extLst>
                    <a:ext uri="{9D8B030D-6E8A-4147-A177-3AD203B41FA5}">
                      <a16:colId xmlns:a16="http://schemas.microsoft.com/office/drawing/2014/main" val="3907653306"/>
                    </a:ext>
                  </a:extLst>
                </a:gridCol>
                <a:gridCol w="7462463">
                  <a:extLst>
                    <a:ext uri="{9D8B030D-6E8A-4147-A177-3AD203B41FA5}">
                      <a16:colId xmlns:a16="http://schemas.microsoft.com/office/drawing/2014/main" val="3038254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32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Produce basic client-side script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6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ICTWEB452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Create a markup language document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58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43322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br>
              <a:rPr lang="en-AU"/>
            </a:br>
            <a:r>
              <a:rPr lang="en-AU"/>
              <a:t>Web Tech: Sessions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/>
              <a:t>ICT40120 Certificate IV in Information Technology (Programming)</a:t>
            </a:r>
          </a:p>
        </p:txBody>
      </p:sp>
      <p:graphicFrame>
        <p:nvGraphicFramePr>
          <p:cNvPr id="43" name="Table 36">
            <a:extLst>
              <a:ext uri="{FF2B5EF4-FFF2-40B4-BE49-F238E27FC236}">
                <a16:creationId xmlns:a16="http://schemas.microsoft.com/office/drawing/2014/main" id="{F3851BF3-76D2-D5E7-A4A8-9CDBF5AA32DB}"/>
              </a:ext>
            </a:extLst>
          </p:cNvPr>
          <p:cNvGraphicFramePr>
            <a:graphicFrameLocks noGrp="1"/>
          </p:cNvGraphicFramePr>
          <p:nvPr>
            <p:ph type="tbl" sz="quarter" idx="13"/>
          </p:nvPr>
        </p:nvGraphicFramePr>
        <p:xfrm>
          <a:off x="1524000" y="3771900"/>
          <a:ext cx="9144000" cy="111252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1681537">
                  <a:extLst>
                    <a:ext uri="{9D8B030D-6E8A-4147-A177-3AD203B41FA5}">
                      <a16:colId xmlns:a16="http://schemas.microsoft.com/office/drawing/2014/main" val="3907653306"/>
                    </a:ext>
                  </a:extLst>
                </a:gridCol>
                <a:gridCol w="7462463">
                  <a:extLst>
                    <a:ext uri="{9D8B030D-6E8A-4147-A177-3AD203B41FA5}">
                      <a16:colId xmlns:a16="http://schemas.microsoft.com/office/drawing/2014/main" val="3038254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32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Produce basic client-side script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6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ICTWEB452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Create a markup language document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58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4857374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3157-7D4C-4413-9455-A6DCBBD2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FA502-DEA4-4E56-A1A3-DFE5B334A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/>
              <a:t>A session is a component of study</a:t>
            </a:r>
          </a:p>
          <a:p>
            <a:r>
              <a:rPr lang="en-AU"/>
              <a:t>Sessions may include:</a:t>
            </a:r>
            <a:endParaRPr lang="en-AU">
              <a:cs typeface="Calibri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/>
              <a:t> Notes</a:t>
            </a:r>
            <a:endParaRPr lang="en-AU">
              <a:cs typeface="Calibri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/>
              <a:t> Demonstrations</a:t>
            </a:r>
            <a:endParaRPr lang="en-AU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/>
              <a:t> Challenges</a:t>
            </a:r>
            <a:endParaRPr lang="en-AU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/>
              <a:t> Out of class activities</a:t>
            </a:r>
            <a:endParaRPr lang="en-AU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20252422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2: HTML5 Basics &amp; IDEs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2656500209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 – Web Pages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Document(s) containing</a:t>
            </a:r>
          </a:p>
          <a:p>
            <a:pPr lvl="2"/>
            <a:r>
              <a:rPr lang="en-US" dirty="0"/>
              <a:t>Content</a:t>
            </a:r>
          </a:p>
          <a:p>
            <a:pPr lvl="2"/>
            <a:r>
              <a:rPr lang="en-US" dirty="0">
                <a:cs typeface="Calibri" panose="020F0502020204030204"/>
              </a:rPr>
              <a:t>Structure</a:t>
            </a:r>
          </a:p>
          <a:p>
            <a:pPr lvl="2"/>
            <a:r>
              <a:rPr lang="en-US" dirty="0"/>
              <a:t>Presentation</a:t>
            </a:r>
            <a:endParaRPr lang="en-US" dirty="0">
              <a:cs typeface="Calibri" panose="020F0502020204030204"/>
            </a:endParaRPr>
          </a:p>
          <a:p>
            <a:pPr lvl="2"/>
            <a:r>
              <a:rPr lang="en-US" dirty="0" err="1"/>
              <a:t>Behaviour</a:t>
            </a:r>
            <a:endParaRPr lang="en-US" dirty="0">
              <a:cs typeface="Calibri" panose="020F0502020204030204"/>
            </a:endParaRPr>
          </a:p>
          <a:p>
            <a:endParaRPr lang="en-AU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C24A271-25FE-4221-B7FB-D4E0419C234D}"/>
              </a:ext>
            </a:extLst>
          </p:cNvPr>
          <p:cNvGraphicFramePr/>
          <p:nvPr/>
        </p:nvGraphicFramePr>
        <p:xfrm>
          <a:off x="4658627" y="1625117"/>
          <a:ext cx="6695173" cy="4463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818477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 – Web Pages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Written using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/>
              <a:t> Content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/>
              <a:t> HTML</a:t>
            </a:r>
            <a:endParaRPr lang="en-US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/>
              <a:t> CSS</a:t>
            </a:r>
            <a:endParaRPr lang="en-US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/>
              <a:t> JavaScript</a:t>
            </a:r>
            <a:endParaRPr lang="en-US" dirty="0">
              <a:cs typeface="Calibri" panose="020F0502020204030204"/>
            </a:endParaRPr>
          </a:p>
          <a:p>
            <a:endParaRPr lang="en-AU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C24A271-25FE-4221-B7FB-D4E0419C234D}"/>
              </a:ext>
            </a:extLst>
          </p:cNvPr>
          <p:cNvGraphicFramePr/>
          <p:nvPr/>
        </p:nvGraphicFramePr>
        <p:xfrm>
          <a:off x="4600876" y="1675013"/>
          <a:ext cx="6752924" cy="4501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0421035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 – 2 HTML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HTML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B0F0"/>
                </a:solidFill>
              </a:rPr>
              <a:t> H</a:t>
            </a:r>
            <a:r>
              <a:rPr lang="en-US" dirty="0"/>
              <a:t>yper</a:t>
            </a:r>
            <a:r>
              <a:rPr lang="en-US" dirty="0">
                <a:solidFill>
                  <a:srgbClr val="00B0F0"/>
                </a:solidFill>
              </a:rPr>
              <a:t>t</a:t>
            </a:r>
            <a:r>
              <a:rPr lang="en-US" dirty="0"/>
              <a:t>ext </a:t>
            </a:r>
            <a:r>
              <a:rPr lang="en-US" dirty="0">
                <a:solidFill>
                  <a:srgbClr val="00B0F0"/>
                </a:solidFill>
              </a:rPr>
              <a:t>M</a:t>
            </a:r>
            <a:r>
              <a:rPr lang="en-US" dirty="0"/>
              <a:t>arkup </a:t>
            </a:r>
            <a:r>
              <a:rPr lang="en-US" dirty="0">
                <a:solidFill>
                  <a:srgbClr val="00B0F0"/>
                </a:solidFill>
              </a:rPr>
              <a:t>L</a:t>
            </a:r>
            <a:r>
              <a:rPr lang="en-US" dirty="0"/>
              <a:t>anguage</a:t>
            </a:r>
            <a:endParaRPr lang="en-US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/>
              <a:t> Standard markup language for Web pages</a:t>
            </a:r>
            <a:endParaRPr lang="en-AU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/>
              <a:t> Describes page structure</a:t>
            </a:r>
            <a:endParaRPr lang="en-AU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/>
              <a:t> Structure described using elements</a:t>
            </a:r>
            <a:endParaRPr lang="en-AU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71913439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 – 2 HTML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HTML Elements &amp; Tags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AU" dirty="0"/>
              <a:t> Elements contain tags</a:t>
            </a:r>
            <a:endParaRPr lang="en-AU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/>
              <a:t> Elements instruct browser how to display content</a:t>
            </a:r>
            <a:endParaRPr lang="en-AU" dirty="0">
              <a:cs typeface="Calibri" panose="020F0502020204030204"/>
            </a:endParaRPr>
          </a:p>
          <a:p>
            <a:pPr lvl="2">
              <a:buSzPct val="90000"/>
              <a:buFont typeface="Courier New" panose="020B0604020202020204" pitchFamily="34" charset="0"/>
              <a:buChar char="o"/>
            </a:pPr>
            <a:r>
              <a:rPr lang="en-AU" dirty="0"/>
              <a:t> Elements may add meaning (semantics) to content</a:t>
            </a:r>
            <a:endParaRPr lang="en-AU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99352509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 – Elements &amp; Tags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Element v Tag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/>
              <a:t> Tag is the HTML instruction to the browser</a:t>
            </a:r>
            <a:endParaRPr lang="en-US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/>
              <a:t> Element may be “complete tag”</a:t>
            </a:r>
            <a:endParaRPr lang="en-US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/>
              <a:t> &lt;tag attributes&gt; content &lt;/tag&gt;</a:t>
            </a:r>
            <a:endParaRPr lang="en-US" dirty="0">
              <a:cs typeface="Calibri" panose="020F0502020204030204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Or an “empty” tag</a:t>
            </a:r>
            <a:endParaRPr lang="en-US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/>
              <a:t> &lt;tag attributes /&gt;</a:t>
            </a:r>
            <a:endParaRPr lang="en-US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/>
              <a:t> All tags LOWER CASE</a:t>
            </a:r>
            <a:endParaRPr lang="en-US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/>
              <a:t> Attributes may vary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727462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 – Page Structure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5 Components for Well Structured HTML Page: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doctype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html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head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title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body</a:t>
            </a:r>
            <a:endParaRPr lang="en-AU" dirty="0">
              <a:solidFill>
                <a:srgbClr val="FFC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206691967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 – doctype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AU" dirty="0"/>
              <a:t>Declare the version of HTML being used</a:t>
            </a:r>
          </a:p>
          <a:p>
            <a:r>
              <a:rPr lang="en-AU" dirty="0"/>
              <a:t>Ensures proper rendering by web browsers</a:t>
            </a:r>
          </a:p>
          <a:p>
            <a:r>
              <a:rPr lang="en-AU" dirty="0"/>
              <a:t>First line in a valid HTML web document</a:t>
            </a:r>
          </a:p>
          <a:p>
            <a:r>
              <a:rPr lang="en-AU" dirty="0"/>
              <a:t>May include language for the page content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Examples: </a:t>
            </a:r>
            <a:endParaRPr lang="en-AU" dirty="0">
              <a:cs typeface="Calibri" panose="020F0502020204030204"/>
            </a:endParaRPr>
          </a:p>
          <a:p>
            <a:pPr lvl="1"/>
            <a:r>
              <a:rPr lang="en-AU" dirty="0"/>
              <a:t>This is the doctype declaration for HTML 5</a:t>
            </a:r>
          </a:p>
          <a:p>
            <a:pPr marL="914400" lvl="2" indent="0">
              <a:buNone/>
            </a:pPr>
            <a:r>
              <a:rPr lang="en-AU" dirty="0">
                <a:solidFill>
                  <a:srgbClr val="FFC000"/>
                </a:solidFill>
                <a:latin typeface="Consolas" panose="020B0609020204030204" pitchFamily="49" charset="0"/>
              </a:rPr>
              <a:t>&lt;!DOCTYPE html&gt;</a:t>
            </a:r>
            <a:r>
              <a:rPr lang="en-AU" dirty="0">
                <a:solidFill>
                  <a:srgbClr val="FFC000"/>
                </a:solidFill>
              </a:rPr>
              <a:t> </a:t>
            </a:r>
            <a:endParaRPr lang="en-AU" dirty="0">
              <a:solidFill>
                <a:srgbClr val="FFC000"/>
              </a:solidFill>
              <a:cs typeface="Calibri" panose="020F0502020204030204"/>
            </a:endParaRPr>
          </a:p>
          <a:p>
            <a:pPr lvl="1"/>
            <a:r>
              <a:rPr lang="en-AU" dirty="0"/>
              <a:t>This is the doctype declaration for HTML 5 and French content</a:t>
            </a:r>
          </a:p>
          <a:p>
            <a:pPr marL="914400" lvl="2" indent="0">
              <a:buNone/>
            </a:pPr>
            <a:r>
              <a:rPr lang="en-AU" dirty="0">
                <a:solidFill>
                  <a:srgbClr val="FFC000"/>
                </a:solidFill>
                <a:latin typeface="Consolas"/>
              </a:rPr>
              <a:t>&lt;!DOCTYPE html lang=“</a:t>
            </a:r>
            <a:r>
              <a:rPr lang="en-AU" dirty="0" err="1">
                <a:solidFill>
                  <a:srgbClr val="FFC000"/>
                </a:solidFill>
                <a:latin typeface="Consolas"/>
              </a:rPr>
              <a:t>fr</a:t>
            </a:r>
            <a:r>
              <a:rPr lang="en-AU" dirty="0">
                <a:solidFill>
                  <a:srgbClr val="FFC000"/>
                </a:solidFill>
                <a:latin typeface="Consolas"/>
              </a:rPr>
              <a:t>”&gt;</a:t>
            </a:r>
            <a:r>
              <a:rPr lang="en-AU" dirty="0">
                <a:solidFill>
                  <a:srgbClr val="FFC000"/>
                </a:solidFill>
              </a:rPr>
              <a:t> </a:t>
            </a:r>
            <a:endParaRPr lang="en-AU" dirty="0">
              <a:solidFill>
                <a:srgbClr val="FFC000"/>
              </a:solidFill>
              <a:cs typeface="Calibri" panose="020F0502020204030204"/>
            </a:endParaRPr>
          </a:p>
          <a:p>
            <a:pPr marL="457200" lvl="1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01165534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 – html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AU" dirty="0"/>
              <a:t>Encapsulates the entire HTML document</a:t>
            </a:r>
          </a:p>
          <a:p>
            <a:r>
              <a:rPr lang="en-AU" dirty="0"/>
              <a:t>Contains </a:t>
            </a:r>
            <a:r>
              <a:rPr lang="en-AU" dirty="0">
                <a:solidFill>
                  <a:srgbClr val="92D050"/>
                </a:solidFill>
                <a:latin typeface="Consolas" panose="020B0609020204030204" pitchFamily="49" charset="0"/>
              </a:rPr>
              <a:t>head</a:t>
            </a:r>
            <a:r>
              <a:rPr lang="en-AU" dirty="0"/>
              <a:t> and </a:t>
            </a:r>
            <a:r>
              <a:rPr lang="en-AU" dirty="0">
                <a:solidFill>
                  <a:srgbClr val="92D050"/>
                </a:solidFill>
                <a:latin typeface="Consolas" panose="020B0609020204030204" pitchFamily="49" charset="0"/>
              </a:rPr>
              <a:t>body</a:t>
            </a:r>
            <a:r>
              <a:rPr lang="en-AU" dirty="0"/>
              <a:t> sections</a:t>
            </a:r>
          </a:p>
          <a:p>
            <a:r>
              <a:rPr lang="en-AU" dirty="0"/>
              <a:t>Example:</a:t>
            </a:r>
          </a:p>
          <a:p>
            <a:pPr marL="914400" lvl="2" indent="0">
              <a:buNone/>
            </a:pPr>
            <a:r>
              <a:rPr lang="en-AU" dirty="0">
                <a:solidFill>
                  <a:schemeClr val="accent3"/>
                </a:solidFill>
                <a:latin typeface="Consolas"/>
              </a:rPr>
              <a:t> &lt;!doctype html lang=“</a:t>
            </a:r>
            <a:r>
              <a:rPr lang="en-AU" dirty="0" err="1">
                <a:solidFill>
                  <a:schemeClr val="accent3"/>
                </a:solidFill>
                <a:latin typeface="Consolas"/>
              </a:rPr>
              <a:t>en</a:t>
            </a:r>
            <a:r>
              <a:rPr lang="en-AU" dirty="0">
                <a:solidFill>
                  <a:schemeClr val="accent3"/>
                </a:solidFill>
                <a:latin typeface="Consolas"/>
              </a:rPr>
              <a:t>-au”&gt;</a:t>
            </a:r>
          </a:p>
          <a:p>
            <a:pPr marL="914400" lvl="2" indent="0">
              <a:buNone/>
            </a:pPr>
            <a:r>
              <a:rPr lang="en-AU" dirty="0">
                <a:solidFill>
                  <a:srgbClr val="FFC000"/>
                </a:solidFill>
                <a:latin typeface="Consolas"/>
              </a:rPr>
              <a:t> &lt;html&gt;</a:t>
            </a:r>
          </a:p>
          <a:p>
            <a:pPr marL="914400" lvl="2" indent="0">
              <a:buNone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onsolas"/>
              </a:rPr>
              <a:t>  &lt;head&gt;…&lt;/head&gt;</a:t>
            </a:r>
          </a:p>
          <a:p>
            <a:pPr marL="914400" lvl="2" indent="0">
              <a:buNone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onsolas"/>
              </a:rPr>
              <a:t>  &lt;body&gt;…&lt;/body&gt;</a:t>
            </a:r>
          </a:p>
          <a:p>
            <a:pPr marL="914400" lvl="2" indent="0">
              <a:buNone/>
            </a:pPr>
            <a:r>
              <a:rPr lang="en-AU" dirty="0">
                <a:solidFill>
                  <a:srgbClr val="FFC000"/>
                </a:solidFill>
                <a:latin typeface="Consolas"/>
              </a:rPr>
              <a:t> &lt;/html&gt;</a:t>
            </a:r>
          </a:p>
        </p:txBody>
      </p:sp>
    </p:spTree>
    <p:extLst>
      <p:ext uri="{BB962C8B-B14F-4D97-AF65-F5344CB8AC3E}">
        <p14:creationId xmlns:p14="http://schemas.microsoft.com/office/powerpoint/2010/main" val="2852023019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 – head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AU" dirty="0"/>
              <a:t>First section within an HTML document</a:t>
            </a:r>
            <a:endParaRPr lang="en-AU" dirty="0">
              <a:cs typeface="Calibri"/>
            </a:endParaRPr>
          </a:p>
          <a:p>
            <a:r>
              <a:rPr lang="en-AU" dirty="0"/>
              <a:t>Contains metadata such as character encoding</a:t>
            </a:r>
          </a:p>
          <a:p>
            <a:r>
              <a:rPr lang="en-AU" dirty="0"/>
              <a:t>Contains the web page title</a:t>
            </a:r>
          </a:p>
          <a:p>
            <a:r>
              <a:rPr lang="en-AU" dirty="0"/>
              <a:t>May also contain linked stylesheets, and scripts.</a:t>
            </a:r>
          </a:p>
          <a:p>
            <a:r>
              <a:rPr lang="en-AU" dirty="0"/>
              <a:t>Example: </a:t>
            </a:r>
          </a:p>
          <a:p>
            <a:pPr marL="914400" lvl="2" indent="0">
              <a:buNone/>
            </a:pPr>
            <a:r>
              <a:rPr lang="en-AU" dirty="0">
                <a:solidFill>
                  <a:schemeClr val="accent3"/>
                </a:solidFill>
                <a:latin typeface="Consolas"/>
              </a:rPr>
              <a:t> &lt;head&gt; </a:t>
            </a:r>
            <a:endParaRPr lang="en-AU">
              <a:solidFill>
                <a:schemeClr val="accent3"/>
              </a:solidFill>
              <a:latin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en-AU" dirty="0">
                <a:solidFill>
                  <a:schemeClr val="accent3"/>
                </a:solidFill>
                <a:latin typeface="Consolas"/>
              </a:rPr>
              <a:t>   &lt;meta charset="UTF-8"&gt;</a:t>
            </a:r>
          </a:p>
          <a:p>
            <a:pPr marL="914400" lvl="2" indent="0">
              <a:buNone/>
            </a:pPr>
            <a:r>
              <a:rPr lang="en-AU" dirty="0">
                <a:solidFill>
                  <a:schemeClr val="accent3"/>
                </a:solidFill>
                <a:latin typeface="Consolas"/>
              </a:rPr>
              <a:t>   &lt;title&gt;My Webpage&lt;/title&gt;</a:t>
            </a:r>
          </a:p>
          <a:p>
            <a:pPr marL="914400" lvl="2" indent="0">
              <a:buNone/>
            </a:pPr>
            <a:r>
              <a:rPr lang="en-AU" dirty="0">
                <a:solidFill>
                  <a:schemeClr val="accent3"/>
                </a:solidFill>
                <a:latin typeface="Consolas"/>
              </a:rPr>
              <a:t> &lt;/head&gt;</a:t>
            </a:r>
          </a:p>
        </p:txBody>
      </p:sp>
    </p:spTree>
    <p:extLst>
      <p:ext uri="{BB962C8B-B14F-4D97-AF65-F5344CB8AC3E}">
        <p14:creationId xmlns:p14="http://schemas.microsoft.com/office/powerpoint/2010/main" val="3633241108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 – title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dirty="0"/>
              <a:t>Element specifies the title of a web page</a:t>
            </a:r>
          </a:p>
          <a:p>
            <a:r>
              <a:rPr lang="en-AU" dirty="0"/>
              <a:t>Title is displayed in browser's title bar or tab</a:t>
            </a:r>
          </a:p>
          <a:p>
            <a:r>
              <a:rPr lang="en-AU" dirty="0"/>
              <a:t>Example: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>
                <a:solidFill>
                  <a:srgbClr val="F2F2F2"/>
                </a:solidFill>
              </a:rPr>
              <a:t> Define the title as “My First Web Page”</a:t>
            </a:r>
            <a:endParaRPr lang="en-AU" sz="3000" dirty="0">
              <a:solidFill>
                <a:srgbClr val="9BBB59"/>
              </a:solidFill>
            </a:endParaRPr>
          </a:p>
          <a:p>
            <a:pPr marL="1371600" lvl="3" indent="0">
              <a:buNone/>
            </a:pPr>
            <a:r>
              <a:rPr lang="en-AU" sz="2600" dirty="0">
                <a:solidFill>
                  <a:schemeClr val="accent3"/>
                </a:solidFill>
                <a:latin typeface="Consolas"/>
              </a:rPr>
              <a:t>&lt;title&gt;My First Web Page&lt;/title&gt;</a:t>
            </a:r>
            <a:endParaRPr lang="en-AU" sz="2600" dirty="0">
              <a:solidFill>
                <a:schemeClr val="accent3"/>
              </a:solidFill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26718268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 – body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AU" dirty="0"/>
              <a:t>Main content area of an HTML document</a:t>
            </a:r>
          </a:p>
          <a:p>
            <a:r>
              <a:rPr lang="en-AU" dirty="0"/>
              <a:t>Contains the visible elements of a web page</a:t>
            </a:r>
          </a:p>
          <a:p>
            <a:r>
              <a:rPr lang="en-AU" dirty="0"/>
              <a:t>Visible elements include: 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/>
              <a:t> text, </a:t>
            </a:r>
            <a:endParaRPr lang="en-AU" dirty="0">
              <a:cs typeface="Calibri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/>
              <a:t> images, </a:t>
            </a:r>
            <a:endParaRPr lang="en-AU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/>
              <a:t> links</a:t>
            </a:r>
            <a:endParaRPr lang="en-AU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/>
              <a:t> interactive elements</a:t>
            </a:r>
            <a:endParaRPr lang="en-AU" dirty="0">
              <a:cs typeface="Calibri" panose="020F0502020204030204"/>
            </a:endParaRPr>
          </a:p>
          <a:p>
            <a:pPr marL="0" indent="0">
              <a:buNone/>
            </a:pPr>
            <a:endParaRPr lang="en-AU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36053019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 – Basic Page Example 1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&lt;!doctype html&gt;</a:t>
            </a:r>
            <a:endParaRPr lang="en-US">
              <a:solidFill>
                <a:schemeClr val="accent3"/>
              </a:solidFill>
              <a:latin typeface="Consolas"/>
              <a:cs typeface="Calibri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&lt;html lang=“</a:t>
            </a:r>
            <a:r>
              <a:rPr lang="en-US" dirty="0" err="1">
                <a:solidFill>
                  <a:schemeClr val="accent3"/>
                </a:solidFill>
                <a:latin typeface="Consolas"/>
              </a:rPr>
              <a:t>en</a:t>
            </a:r>
            <a:r>
              <a:rPr lang="en-US" dirty="0">
                <a:solidFill>
                  <a:schemeClr val="accent3"/>
                </a:solidFill>
                <a:latin typeface="Consolas"/>
              </a:rPr>
              <a:t>-au”&gt;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 &lt;head&gt;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   &lt;title&gt;Untitled Document&lt;/title&gt;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 &lt;/head&gt;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 &lt;body&gt;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   &lt;!-- content --&gt;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 &lt;/body&gt;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&lt;/html&gt;</a:t>
            </a:r>
            <a:endParaRPr lang="en-AU" dirty="0">
              <a:solidFill>
                <a:schemeClr val="accent3"/>
              </a:solidFill>
              <a:latin typeface="Consola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F90B03-598A-4043-99A8-B3D4B767EFFD}"/>
              </a:ext>
            </a:extLst>
          </p:cNvPr>
          <p:cNvSpPr txBox="1"/>
          <p:nvPr/>
        </p:nvSpPr>
        <p:spPr>
          <a:xfrm>
            <a:off x="7543800" y="3948749"/>
            <a:ext cx="3810000" cy="2009589"/>
          </a:xfrm>
          <a:prstGeom prst="rect">
            <a:avLst/>
          </a:prstGeom>
          <a:solidFill>
            <a:srgbClr val="4C000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2400" b="1" dirty="0"/>
              <a:t>WARNING: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dirty="0"/>
              <a:t>HTML does not like 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“</a:t>
            </a:r>
            <a:r>
              <a:rPr lang="en-US" dirty="0"/>
              <a:t>smart quotes.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”</a:t>
            </a:r>
            <a:r>
              <a:rPr lang="en-US" dirty="0"/>
              <a:t> 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dirty="0"/>
              <a:t>Make sure 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“</a:t>
            </a:r>
            <a:r>
              <a:rPr lang="en-US" dirty="0"/>
              <a:t>smart quotes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”</a:t>
            </a:r>
            <a:r>
              <a:rPr lang="en-US" dirty="0"/>
              <a:t> and 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‘</a:t>
            </a:r>
            <a:r>
              <a:rPr lang="en-US" dirty="0"/>
              <a:t>apostrophes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’</a:t>
            </a:r>
            <a:r>
              <a:rPr lang="en-US" dirty="0"/>
              <a:t> are converted to their 'straight' versions (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'</a:t>
            </a:r>
            <a:r>
              <a:rPr lang="en-US" dirty="0"/>
              <a:t>…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'</a:t>
            </a:r>
            <a:r>
              <a:rPr lang="en-US" dirty="0"/>
              <a:t> and 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en-US" dirty="0"/>
              <a:t>…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en-US" dirty="0"/>
              <a:t>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93457117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2: HTML 5 Basics – Basic Page Example 2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&lt;!doctype html&gt;</a:t>
            </a:r>
            <a:endParaRPr lang="en-US">
              <a:solidFill>
                <a:schemeClr val="accent3"/>
              </a:solidFill>
              <a:latin typeface="Consolas"/>
              <a:cs typeface="Calibri"/>
            </a:endParaRP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&lt;html lang=“</a:t>
            </a:r>
            <a:r>
              <a:rPr lang="en-US" err="1">
                <a:solidFill>
                  <a:schemeClr val="accent3"/>
                </a:solidFill>
                <a:latin typeface="Consolas"/>
              </a:rPr>
              <a:t>en</a:t>
            </a:r>
            <a:r>
              <a:rPr lang="en-US">
                <a:solidFill>
                  <a:schemeClr val="accent3"/>
                </a:solidFill>
                <a:latin typeface="Consolas"/>
              </a:rPr>
              <a:t>-au”&gt;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 &lt;head&gt;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    &lt;title&gt;Untitled Document&lt;/title&gt;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 &lt;/head&gt;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 &lt;body&gt;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   &lt;!-- content --&gt;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   &lt;h1&gt;This is a web page&lt;/h1&gt;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   &lt;p&gt;An example of a basic page with no extra structure&lt;/p&gt;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   &lt;p&gt;The &amp;</a:t>
            </a:r>
            <a:r>
              <a:rPr lang="en-US" err="1">
                <a:solidFill>
                  <a:schemeClr val="accent3"/>
                </a:solidFill>
                <a:latin typeface="Consolas"/>
              </a:rPr>
              <a:t>lt</a:t>
            </a:r>
            <a:r>
              <a:rPr lang="en-US">
                <a:solidFill>
                  <a:schemeClr val="accent3"/>
                </a:solidFill>
                <a:latin typeface="Consolas"/>
              </a:rPr>
              <a:t>;!-- content --&amp;</a:t>
            </a:r>
            <a:r>
              <a:rPr lang="en-US" err="1">
                <a:solidFill>
                  <a:schemeClr val="accent3"/>
                </a:solidFill>
                <a:latin typeface="Consolas"/>
              </a:rPr>
              <a:t>gt</a:t>
            </a:r>
            <a:r>
              <a:rPr lang="en-US">
                <a:solidFill>
                  <a:schemeClr val="accent3"/>
                </a:solidFill>
                <a:latin typeface="Consolas"/>
              </a:rPr>
              <a:t>; is a comment.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  &lt;/body&gt;</a:t>
            </a:r>
          </a:p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Consolas"/>
              </a:rPr>
              <a:t>&lt;/html&gt;</a:t>
            </a:r>
            <a:endParaRPr lang="en-AU">
              <a:solidFill>
                <a:schemeClr val="accent3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665652300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/>
              <a:t>2: HTML 5 Basics – Site Structure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5027E7-FD76-4516-8147-6C1AA096C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 Common issue is badly </a:t>
            </a:r>
            <a:r>
              <a:rPr lang="en-US" dirty="0" err="1"/>
              <a:t>organised</a:t>
            </a:r>
            <a:r>
              <a:rPr lang="en-US" dirty="0"/>
              <a:t> sites</a:t>
            </a:r>
          </a:p>
          <a:p>
            <a:r>
              <a:rPr lang="en-US" dirty="0"/>
              <a:t> It is important to use meaningful:</a:t>
            </a:r>
          </a:p>
          <a:p>
            <a:pPr lvl="1"/>
            <a:r>
              <a:rPr lang="en-US" dirty="0"/>
              <a:t>Folder names</a:t>
            </a:r>
          </a:p>
          <a:p>
            <a:pPr lvl="1"/>
            <a:r>
              <a:rPr lang="en-US" dirty="0"/>
              <a:t>Filenames</a:t>
            </a:r>
            <a:endParaRPr lang="en-US" dirty="0">
              <a:cs typeface="Calibri"/>
            </a:endParaRPr>
          </a:p>
          <a:p>
            <a:r>
              <a:rPr lang="en-US" dirty="0"/>
              <a:t> We should define a site structure to adhere to</a:t>
            </a:r>
            <a:endParaRPr lang="en-US" dirty="0">
              <a:cs typeface="Calibri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86612596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/>
              <a:t>2: HTML 5 Basics – Site Structure Terms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5027E7-FD76-4516-8147-6C1AA096C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Before we show the required folder structure…</a:t>
            </a:r>
          </a:p>
          <a:p>
            <a:r>
              <a:rPr lang="en-US" dirty="0"/>
              <a:t>Let’s define some terms: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/>
              <a:t> Site Root</a:t>
            </a:r>
            <a:endParaRPr lang="en-US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/>
              <a:t> Absolute Reference</a:t>
            </a:r>
            <a:endParaRPr lang="en-US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/>
              <a:t> Relative Reference</a:t>
            </a:r>
            <a:endParaRPr lang="en-US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/>
              <a:t> Assets</a:t>
            </a:r>
            <a:endParaRPr lang="en-US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/>
              <a:t> Default Page</a:t>
            </a:r>
            <a:endParaRPr lang="en-US" dirty="0">
              <a:cs typeface="Calibri" panose="020F0502020204030204"/>
            </a:endParaRPr>
          </a:p>
          <a:p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67502499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/>
              <a:t>2: HTML 5 Basics – Site Structure Terms</a:t>
            </a:r>
            <a:endParaRPr lang="en-AU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1921D408-DB5A-48E1-9AB3-3B7A6DEA58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4"/>
          <a:ext cx="10515600" cy="4262943"/>
        </p:xfrm>
        <a:graphic>
          <a:graphicData uri="http://schemas.openxmlformats.org/drawingml/2006/table">
            <a:tbl>
              <a:tblPr firstRow="1" firstCol="1" bandRow="1">
                <a:tableStyleId>{37CE84F3-28C3-443E-9E96-99CF82512B78}</a:tableStyleId>
              </a:tblPr>
              <a:tblGrid>
                <a:gridCol w="2097024">
                  <a:extLst>
                    <a:ext uri="{9D8B030D-6E8A-4147-A177-3AD203B41FA5}">
                      <a16:colId xmlns:a16="http://schemas.microsoft.com/office/drawing/2014/main" val="1978890291"/>
                    </a:ext>
                  </a:extLst>
                </a:gridCol>
                <a:gridCol w="8418576">
                  <a:extLst>
                    <a:ext uri="{9D8B030D-6E8A-4147-A177-3AD203B41FA5}">
                      <a16:colId xmlns:a16="http://schemas.microsoft.com/office/drawing/2014/main" val="951280662"/>
                    </a:ext>
                  </a:extLst>
                </a:gridCol>
              </a:tblGrid>
              <a:tr h="431164">
                <a:tc>
                  <a:txBody>
                    <a:bodyPr/>
                    <a:lstStyle/>
                    <a:p>
                      <a:r>
                        <a:rPr lang="en-US" sz="2000" dirty="0"/>
                        <a:t>Term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Definition</a:t>
                      </a:r>
                      <a:endParaRPr lang="en-A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030888"/>
                  </a:ext>
                </a:extLst>
              </a:tr>
              <a:tr h="2654369">
                <a:tc>
                  <a:txBody>
                    <a:bodyPr/>
                    <a:lstStyle/>
                    <a:p>
                      <a:pPr lvl="0"/>
                      <a:r>
                        <a:rPr lang="en-US" sz="2000" dirty="0"/>
                        <a:t>Site root</a:t>
                      </a:r>
                    </a:p>
                    <a:p>
                      <a:endParaRPr lang="en-AU" sz="2000" dirty="0"/>
                    </a:p>
                  </a:txBody>
                  <a:tcPr>
                    <a:solidFill>
                      <a:srgbClr val="2A000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The folder the website starts in.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Common names for the remote hosting folder include </a:t>
                      </a:r>
                      <a:r>
                        <a:rPr lang="en-US" sz="20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public_html</a:t>
                      </a:r>
                      <a:r>
                        <a:rPr lang="en-US" sz="2000" dirty="0"/>
                        <a:t> and </a:t>
                      </a:r>
                      <a:r>
                        <a:rPr lang="en-US" sz="20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www</a:t>
                      </a:r>
                      <a:r>
                        <a:rPr lang="en-US" sz="2000" dirty="0"/>
                        <a:t>.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Default locations for these folders vary based on operating system and web server.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For example: </a:t>
                      </a:r>
                      <a:r>
                        <a:rPr lang="en-US" sz="20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/var/www </a:t>
                      </a:r>
                      <a:r>
                        <a:rPr lang="en-US" sz="2000" dirty="0"/>
                        <a:t>(Linux, Apache/NginX), </a:t>
                      </a:r>
                      <a:r>
                        <a:rPr lang="en-AU" sz="20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c:\inetpub\wwwroot </a:t>
                      </a:r>
                      <a:r>
                        <a:rPr lang="en-AU" sz="2000" dirty="0"/>
                        <a:t>(Windows IIS), </a:t>
                      </a:r>
                      <a:r>
                        <a:rPr lang="en-AU" sz="20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c:\Laragon\www </a:t>
                      </a:r>
                      <a:r>
                        <a:rPr lang="en-AU" sz="2000" dirty="0"/>
                        <a:t>(Windows Laragon Apache/NginX). </a:t>
                      </a:r>
                    </a:p>
                  </a:txBody>
                  <a:tcPr>
                    <a:solidFill>
                      <a:srgbClr val="2A00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708738"/>
                  </a:ext>
                </a:extLst>
              </a:tr>
              <a:tr h="1177410">
                <a:tc>
                  <a:txBody>
                    <a:bodyPr/>
                    <a:lstStyle/>
                    <a:p>
                      <a:pPr lvl="0"/>
                      <a:r>
                        <a:rPr lang="en-US" sz="2000" dirty="0"/>
                        <a:t>Assets folder</a:t>
                      </a:r>
                    </a:p>
                    <a:p>
                      <a:endParaRPr lang="en-AU" sz="2000" dirty="0"/>
                    </a:p>
                  </a:txBody>
                  <a:tcPr>
                    <a:solidFill>
                      <a:srgbClr val="4C000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This folder contains “assets” that are not HTML pages.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It is usually divided into folders such as </a:t>
                      </a:r>
                      <a:r>
                        <a:rPr lang="en-US" sz="2000" kern="120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css</a:t>
                      </a:r>
                      <a:r>
                        <a:rPr lang="en-US" sz="2000" dirty="0"/>
                        <a:t>, </a:t>
                      </a:r>
                      <a:r>
                        <a:rPr lang="en-US" sz="20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images</a:t>
                      </a:r>
                      <a:r>
                        <a:rPr lang="en-US" sz="2000" dirty="0"/>
                        <a:t>, </a:t>
                      </a:r>
                      <a:r>
                        <a:rPr lang="en-US" sz="2000" kern="120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js</a:t>
                      </a:r>
                      <a:r>
                        <a:rPr lang="en-US" sz="2000" dirty="0"/>
                        <a:t>, </a:t>
                      </a:r>
                      <a:r>
                        <a:rPr lang="en-US" sz="20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downloads</a:t>
                      </a:r>
                      <a:r>
                        <a:rPr lang="en-US" sz="2000" dirty="0"/>
                        <a:t>, </a:t>
                      </a:r>
                      <a:r>
                        <a:rPr lang="en-US" sz="20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media</a:t>
                      </a:r>
                      <a:r>
                        <a:rPr lang="en-US" sz="2000" dirty="0"/>
                        <a:t> and so on.</a:t>
                      </a:r>
                    </a:p>
                  </a:txBody>
                  <a:tcPr>
                    <a:solidFill>
                      <a:srgbClr val="4C00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41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449815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/>
              <a:t>2: HTML 5 Basics – Site Structure Terms</a:t>
            </a:r>
            <a:endParaRPr lang="en-AU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1921D408-DB5A-48E1-9AB3-3B7A6DEA58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092954"/>
              </p:ext>
            </p:extLst>
          </p:nvPr>
        </p:nvGraphicFramePr>
        <p:xfrm>
          <a:off x="838200" y="1825624"/>
          <a:ext cx="10515600" cy="4262941"/>
        </p:xfrm>
        <a:graphic>
          <a:graphicData uri="http://schemas.openxmlformats.org/drawingml/2006/table">
            <a:tbl>
              <a:tblPr firstRow="1" firstCol="1" bandRow="1">
                <a:tableStyleId>{37CE84F3-28C3-443E-9E96-99CF82512B78}</a:tableStyleId>
              </a:tblPr>
              <a:tblGrid>
                <a:gridCol w="2097024">
                  <a:extLst>
                    <a:ext uri="{9D8B030D-6E8A-4147-A177-3AD203B41FA5}">
                      <a16:colId xmlns:a16="http://schemas.microsoft.com/office/drawing/2014/main" val="1978890291"/>
                    </a:ext>
                  </a:extLst>
                </a:gridCol>
                <a:gridCol w="8418576">
                  <a:extLst>
                    <a:ext uri="{9D8B030D-6E8A-4147-A177-3AD203B41FA5}">
                      <a16:colId xmlns:a16="http://schemas.microsoft.com/office/drawing/2014/main" val="951280662"/>
                    </a:ext>
                  </a:extLst>
                </a:gridCol>
              </a:tblGrid>
              <a:tr h="495533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Definition</a:t>
                      </a:r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030888"/>
                  </a:ext>
                </a:extLst>
              </a:tr>
              <a:tr h="3767408">
                <a:tc>
                  <a:txBody>
                    <a:bodyPr/>
                    <a:lstStyle/>
                    <a:p>
                      <a:pPr lvl="0"/>
                      <a:r>
                        <a:rPr lang="en-US" sz="2400" dirty="0"/>
                        <a:t>Default page</a:t>
                      </a:r>
                    </a:p>
                    <a:p>
                      <a:endParaRPr lang="en-AU" sz="2400" dirty="0"/>
                    </a:p>
                  </a:txBody>
                  <a:tcPr>
                    <a:solidFill>
                      <a:srgbClr val="2A000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400" dirty="0"/>
                        <a:t>Web servers have default pages that are looked for in each folder.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400" dirty="0"/>
                        <a:t>If they cannot find the file, then they should report a </a:t>
                      </a:r>
                      <a:r>
                        <a:rPr lang="en-US" sz="2400" b="1" dirty="0"/>
                        <a:t>404 Not Found </a:t>
                      </a:r>
                      <a:r>
                        <a:rPr lang="en-US" sz="2400" dirty="0"/>
                        <a:t>error.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400" dirty="0"/>
                        <a:t>These files include: </a:t>
                      </a:r>
                    </a:p>
                    <a:p>
                      <a:pPr marL="285750" lvl="0" indent="-285750">
                        <a:spcAft>
                          <a:spcPts val="600"/>
                        </a:spcAft>
                        <a:buFont typeface="Arial"/>
                        <a:buChar char="•"/>
                      </a:pPr>
                      <a:r>
                        <a:rPr lang="en-US" sz="2400" kern="1200" dirty="0" err="1">
                          <a:solidFill>
                            <a:srgbClr val="92D050"/>
                          </a:solidFill>
                          <a:latin typeface="Consolas"/>
                          <a:ea typeface="+mn-ea"/>
                          <a:cs typeface="+mn-cs"/>
                        </a:rPr>
                        <a:t>index.php</a:t>
                      </a:r>
                      <a:r>
                        <a:rPr lang="en-US" sz="2400" dirty="0"/>
                        <a:t>, </a:t>
                      </a:r>
                    </a:p>
                    <a:p>
                      <a:pPr marL="285750" lvl="0" indent="-285750">
                        <a:spcAft>
                          <a:spcPts val="600"/>
                        </a:spcAft>
                        <a:buFont typeface="Arial"/>
                        <a:buChar char="•"/>
                      </a:pPr>
                      <a:r>
                        <a:rPr lang="en-US" sz="2400" kern="1200" dirty="0">
                          <a:solidFill>
                            <a:srgbClr val="92D050"/>
                          </a:solidFill>
                          <a:latin typeface="Consolas"/>
                          <a:ea typeface="+mn-ea"/>
                          <a:cs typeface="+mn-cs"/>
                        </a:rPr>
                        <a:t>index.html</a:t>
                      </a:r>
                      <a:r>
                        <a:rPr lang="en-US" sz="2400" dirty="0"/>
                        <a:t>, </a:t>
                      </a:r>
                    </a:p>
                    <a:p>
                      <a:pPr marL="285750" lvl="0" indent="-285750">
                        <a:spcAft>
                          <a:spcPts val="600"/>
                        </a:spcAft>
                        <a:buFont typeface="Arial"/>
                        <a:buChar char="•"/>
                      </a:pPr>
                      <a:r>
                        <a:rPr lang="en-US" sz="2400" kern="1200" dirty="0">
                          <a:solidFill>
                            <a:srgbClr val="92D050"/>
                          </a:solidFill>
                          <a:latin typeface="Consolas"/>
                          <a:ea typeface="+mn-ea"/>
                          <a:cs typeface="+mn-cs"/>
                        </a:rPr>
                        <a:t>default.html &amp; others. 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400" dirty="0"/>
                        <a:t>These defaults are configured by the server management team.</a:t>
                      </a:r>
                    </a:p>
                  </a:txBody>
                  <a:tcPr>
                    <a:solidFill>
                      <a:srgbClr val="2A00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577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4457009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/>
              <a:t>2: HTML 5 Basics – Site Structure Terms</a:t>
            </a:r>
            <a:endParaRPr lang="en-AU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1921D408-DB5A-48E1-9AB3-3B7A6DEA58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4"/>
          <a:ext cx="10515600" cy="4262941"/>
        </p:xfrm>
        <a:graphic>
          <a:graphicData uri="http://schemas.openxmlformats.org/drawingml/2006/table">
            <a:tbl>
              <a:tblPr firstRow="1" firstCol="1" bandRow="1">
                <a:tableStyleId>{37CE84F3-28C3-443E-9E96-99CF82512B78}</a:tableStyleId>
              </a:tblPr>
              <a:tblGrid>
                <a:gridCol w="2097024">
                  <a:extLst>
                    <a:ext uri="{9D8B030D-6E8A-4147-A177-3AD203B41FA5}">
                      <a16:colId xmlns:a16="http://schemas.microsoft.com/office/drawing/2014/main" val="1978890291"/>
                    </a:ext>
                  </a:extLst>
                </a:gridCol>
                <a:gridCol w="8418576">
                  <a:extLst>
                    <a:ext uri="{9D8B030D-6E8A-4147-A177-3AD203B41FA5}">
                      <a16:colId xmlns:a16="http://schemas.microsoft.com/office/drawing/2014/main" val="951280662"/>
                    </a:ext>
                  </a:extLst>
                </a:gridCol>
              </a:tblGrid>
              <a:tr h="379506">
                <a:tc>
                  <a:txBody>
                    <a:bodyPr/>
                    <a:lstStyle/>
                    <a:p>
                      <a:r>
                        <a:rPr lang="en-US" dirty="0"/>
                        <a:t>Term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030888"/>
                  </a:ext>
                </a:extLst>
              </a:tr>
              <a:tr h="3883435">
                <a:tc>
                  <a:txBody>
                    <a:bodyPr/>
                    <a:lstStyle/>
                    <a:p>
                      <a:pPr lvl="0"/>
                      <a:r>
                        <a:rPr lang="en-US" dirty="0"/>
                        <a:t>Relative reference</a:t>
                      </a:r>
                    </a:p>
                    <a:p>
                      <a:endParaRPr lang="en-AU" dirty="0"/>
                    </a:p>
                  </a:txBody>
                  <a:tcPr>
                    <a:solidFill>
                      <a:srgbClr val="2A000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A relative reference refers to how we navigate to folders in the site.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This method uses the parent folder identifier, dot-dot </a:t>
                      </a:r>
                      <a:r>
                        <a:rPr lang="en-US" sz="180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..</a:t>
                      </a:r>
                      <a:r>
                        <a:rPr lang="en-US" sz="180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),</a:t>
                      </a:r>
                      <a:r>
                        <a:rPr lang="en-US" dirty="0"/>
                        <a:t> slashes (</a:t>
                      </a:r>
                      <a:r>
                        <a:rPr lang="en-US" sz="18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</a:t>
                      </a:r>
                      <a:r>
                        <a:rPr lang="en-US" dirty="0"/>
                        <a:t>) and folder names.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You may concatenate multiple parent folders by </a:t>
                      </a:r>
                      <a:r>
                        <a:rPr lang="en-US" sz="180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putting</a:t>
                      </a:r>
                      <a:r>
                        <a:rPr lang="en-US" dirty="0"/>
                        <a:t> a slash between each one.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For example, if we were in the folder </a:t>
                      </a:r>
                    </a:p>
                    <a:p>
                      <a:pPr lvl="1">
                        <a:spcAft>
                          <a:spcPts val="600"/>
                        </a:spcAft>
                      </a:pPr>
                      <a:r>
                        <a:rPr lang="en-US" sz="18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/demos/calculator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and needed to access the </a:t>
                      </a:r>
                    </a:p>
                    <a:p>
                      <a:pPr lvl="1">
                        <a:spcAft>
                          <a:spcPts val="600"/>
                        </a:spcAft>
                      </a:pPr>
                      <a:r>
                        <a:rPr lang="en-US" sz="18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calculator.js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file in the</a:t>
                      </a:r>
                    </a:p>
                    <a:p>
                      <a:pPr lvl="1">
                        <a:spcAft>
                          <a:spcPts val="600"/>
                        </a:spcAft>
                      </a:pPr>
                      <a:r>
                        <a:rPr lang="en-US" dirty="0"/>
                        <a:t> </a:t>
                      </a:r>
                      <a:r>
                        <a:rPr lang="en-US" sz="18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assets/</a:t>
                      </a:r>
                      <a:r>
                        <a:rPr lang="en-US" sz="1800" kern="120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js</a:t>
                      </a:r>
                      <a:r>
                        <a:rPr lang="en-US" sz="18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vl="1">
                        <a:spcAft>
                          <a:spcPts val="600"/>
                        </a:spcAft>
                      </a:pPr>
                      <a:r>
                        <a:rPr lang="en-US" dirty="0"/>
                        <a:t>folder then a possible relative reference could be: </a:t>
                      </a:r>
                      <a:r>
                        <a:rPr lang="en-US" sz="18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../../assets/</a:t>
                      </a:r>
                      <a:r>
                        <a:rPr lang="en-US" sz="1800" kern="120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js</a:t>
                      </a:r>
                      <a:r>
                        <a:rPr lang="en-US" sz="18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/calculator.js</a:t>
                      </a:r>
                    </a:p>
                  </a:txBody>
                  <a:tcPr>
                    <a:solidFill>
                      <a:srgbClr val="2A00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94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129153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/>
              <a:t>2: HTML 5 Basics – Site Structure Terms</a:t>
            </a:r>
            <a:endParaRPr lang="en-AU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1921D408-DB5A-48E1-9AB3-3B7A6DEA58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4"/>
          <a:ext cx="10515600" cy="4262941"/>
        </p:xfrm>
        <a:graphic>
          <a:graphicData uri="http://schemas.openxmlformats.org/drawingml/2006/table">
            <a:tbl>
              <a:tblPr firstRow="1" firstCol="1" bandRow="1">
                <a:tableStyleId>{37CE84F3-28C3-443E-9E96-99CF82512B78}</a:tableStyleId>
              </a:tblPr>
              <a:tblGrid>
                <a:gridCol w="2097024">
                  <a:extLst>
                    <a:ext uri="{9D8B030D-6E8A-4147-A177-3AD203B41FA5}">
                      <a16:colId xmlns:a16="http://schemas.microsoft.com/office/drawing/2014/main" val="1978890291"/>
                    </a:ext>
                  </a:extLst>
                </a:gridCol>
                <a:gridCol w="8418576">
                  <a:extLst>
                    <a:ext uri="{9D8B030D-6E8A-4147-A177-3AD203B41FA5}">
                      <a16:colId xmlns:a16="http://schemas.microsoft.com/office/drawing/2014/main" val="951280662"/>
                    </a:ext>
                  </a:extLst>
                </a:gridCol>
              </a:tblGrid>
              <a:tr h="426294">
                <a:tc>
                  <a:txBody>
                    <a:bodyPr/>
                    <a:lstStyle/>
                    <a:p>
                      <a:r>
                        <a:rPr lang="en-US" dirty="0"/>
                        <a:t>Term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030888"/>
                  </a:ext>
                </a:extLst>
              </a:tr>
              <a:tr h="3836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Absolute reference</a:t>
                      </a:r>
                    </a:p>
                    <a:p>
                      <a:endParaRPr lang="en-AU" dirty="0"/>
                    </a:p>
                  </a:txBody>
                  <a:tcPr>
                    <a:solidFill>
                      <a:srgbClr val="2A000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Absolute references refer to using the root folder as the start of the reference to the location.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We use the slash (</a:t>
                      </a:r>
                      <a:r>
                        <a:rPr lang="en-US" sz="18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</a:t>
                      </a:r>
                      <a:r>
                        <a:rPr lang="en-US" dirty="0"/>
                        <a:t>) to start and identify the site root, then add folder names and slashes as needed.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For example, if we were in any folder in the website and needed to access the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reset.css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file in the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assets/</a:t>
                      </a:r>
                      <a:r>
                        <a:rPr lang="en-US" sz="1800" kern="120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css</a:t>
                      </a:r>
                      <a:r>
                        <a:rPr lang="en-US" sz="18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folder then a possible absolute reference could be: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/assets/</a:t>
                      </a:r>
                      <a:r>
                        <a:rPr lang="en-US" sz="1800" kern="120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css</a:t>
                      </a:r>
                      <a:r>
                        <a:rPr lang="en-US" sz="1800" kern="12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/reset.css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92D05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2A00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603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5128562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 – Site Structure</a:t>
            </a:r>
            <a:endParaRPr lang="en-AU" dirty="0"/>
          </a:p>
        </p:txBody>
      </p:sp>
      <p:pic>
        <p:nvPicPr>
          <p:cNvPr id="61" name="Content Placeholder 60">
            <a:extLst>
              <a:ext uri="{FF2B5EF4-FFF2-40B4-BE49-F238E27FC236}">
                <a16:creationId xmlns:a16="http://schemas.microsoft.com/office/drawing/2014/main" id="{7A25DBAD-B9E4-430E-A290-7C8828488D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3863" y="1603876"/>
            <a:ext cx="4526681" cy="4526681"/>
          </a:xfrm>
        </p:spPr>
      </p:pic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0DF85E8D-675F-4DF8-9483-F3C46F645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Site Root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This is usually a WebStorm project folder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E0242B94-CB29-41CB-9BD5-4A6C1010F7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7802" y="3271256"/>
            <a:ext cx="3302114" cy="285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033849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 – Site Structure</a:t>
            </a:r>
            <a:endParaRPr lang="en-AU" dirty="0"/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0DF85E8D-675F-4DF8-9483-F3C46F645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Open WebStorm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Create your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Open the WebStorm Terminal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Create an MS-DOS terminal</a:t>
            </a:r>
            <a:br>
              <a:rPr lang="en-US" sz="3200" dirty="0"/>
            </a:br>
            <a:r>
              <a:rPr lang="en-US" sz="2400" dirty="0"/>
              <a:t>(click v and select Command Prompt)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3200" dirty="0"/>
              <a:t>Enter following command:</a:t>
            </a:r>
          </a:p>
          <a:p>
            <a:pPr marL="457200" lvl="1" indent="0">
              <a:buNone/>
            </a:pPr>
            <a:r>
              <a:rPr lang="en-AU" sz="2400" dirty="0" err="1">
                <a:solidFill>
                  <a:srgbClr val="FFC000"/>
                </a:solidFill>
                <a:latin typeface="Consolas"/>
              </a:rPr>
              <a:t>mkdir</a:t>
            </a:r>
            <a:r>
              <a:rPr lang="en-AU" sz="2400" dirty="0">
                <a:solidFill>
                  <a:srgbClr val="FFC000"/>
                </a:solidFill>
                <a:latin typeface="Consolas"/>
              </a:rPr>
              <a:t> assets\</a:t>
            </a:r>
            <a:r>
              <a:rPr lang="en-AU" sz="2400" dirty="0" err="1">
                <a:solidFill>
                  <a:srgbClr val="FFC000"/>
                </a:solidFill>
                <a:latin typeface="Consolas"/>
              </a:rPr>
              <a:t>css</a:t>
            </a:r>
            <a:r>
              <a:rPr lang="en-AU" sz="2400" dirty="0">
                <a:solidFill>
                  <a:srgbClr val="FFC000"/>
                </a:solidFill>
                <a:latin typeface="Consolas"/>
              </a:rPr>
              <a:t> </a:t>
            </a:r>
            <a:r>
              <a:rPr lang="en-AU" sz="2400" dirty="0"/>
              <a:t>then repeat for the following folders:</a:t>
            </a:r>
          </a:p>
          <a:p>
            <a:pPr marL="457200" lvl="1" indent="0">
              <a:buNone/>
            </a:pPr>
            <a:r>
              <a:rPr lang="en-AU" sz="2400" dirty="0">
                <a:solidFill>
                  <a:srgbClr val="FFC000"/>
                </a:solidFill>
                <a:latin typeface="Consolas"/>
              </a:rPr>
              <a:t>assets\</a:t>
            </a:r>
            <a:r>
              <a:rPr lang="en-AU" sz="2400" dirty="0" err="1">
                <a:solidFill>
                  <a:srgbClr val="FFC000"/>
                </a:solidFill>
                <a:latin typeface="Consolas"/>
              </a:rPr>
              <a:t>js</a:t>
            </a:r>
            <a:r>
              <a:rPr lang="en-AU" sz="2400" dirty="0">
                <a:solidFill>
                  <a:srgbClr val="FFC000"/>
                </a:solidFill>
                <a:latin typeface="Consolas"/>
              </a:rPr>
              <a:t> assets\images assets\</a:t>
            </a:r>
            <a:r>
              <a:rPr lang="en-AU" sz="2400" dirty="0" err="1">
                <a:solidFill>
                  <a:srgbClr val="FFC000"/>
                </a:solidFill>
                <a:latin typeface="Consolas"/>
              </a:rPr>
              <a:t>webfonts</a:t>
            </a:r>
            <a:endParaRPr lang="en-AU" sz="4400" dirty="0">
              <a:solidFill>
                <a:srgbClr val="FFC000"/>
              </a:solidFill>
              <a:latin typeface="Consola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C6B213-EF05-4F47-83E5-FE018E554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795" y="1822659"/>
            <a:ext cx="3439005" cy="8573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33F1F7-8DEB-4A41-8AE8-383BE31F7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372" y="3055159"/>
            <a:ext cx="4677428" cy="304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B8007C-E555-4FC3-9E32-F2C740E06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2271" y="3549112"/>
            <a:ext cx="2181529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807330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FE6DD3-AC61-D3F0-19C1-12C8C3E9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Basic HTML Page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3410BE-B4FF-B314-09E9-33487625B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 well structured basic HTML 5 page…</a:t>
            </a:r>
          </a:p>
        </p:txBody>
      </p:sp>
    </p:spTree>
    <p:extLst>
      <p:ext uri="{BB962C8B-B14F-4D97-AF65-F5344CB8AC3E}">
        <p14:creationId xmlns:p14="http://schemas.microsoft.com/office/powerpoint/2010/main" val="2839291310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8798-173F-4E6B-A9FA-6C8924A6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A946-A633-4DF6-9542-C85B63335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Standard Structural (Semantic) Elements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header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nav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main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footer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article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aside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section</a:t>
            </a:r>
            <a:endParaRPr lang="en-AU" dirty="0">
              <a:solidFill>
                <a:srgbClr val="FFC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030049086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 – Basic Page v1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&lt;!doctype html&gt;</a:t>
            </a:r>
            <a:endParaRPr lang="en-US">
              <a:solidFill>
                <a:schemeClr val="accent3"/>
              </a:solidFill>
              <a:latin typeface="Consolas"/>
              <a:cs typeface="Calibri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&lt;html lang=“</a:t>
            </a:r>
            <a:r>
              <a:rPr lang="en-US" err="1">
                <a:solidFill>
                  <a:schemeClr val="accent3"/>
                </a:solidFill>
                <a:latin typeface="Consolas"/>
              </a:rPr>
              <a:t>en</a:t>
            </a:r>
            <a:r>
              <a:rPr lang="en-US" dirty="0">
                <a:solidFill>
                  <a:schemeClr val="accent3"/>
                </a:solidFill>
                <a:latin typeface="Consolas"/>
              </a:rPr>
              <a:t>-au”&gt;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&lt;head&gt;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   &lt;title&gt;Untitled Document&lt;/title&gt;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&lt;/head&gt;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&lt;body&gt;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   &lt;header&gt;…&lt;/header&gt;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   &lt;nav&gt;…&lt;/nav&gt;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   &lt;main&gt;…&lt;/main&gt;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   &lt;footer&gt;…&lt;/footer&gt;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&lt;/body&gt;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&lt;/html&gt;</a:t>
            </a:r>
            <a:endParaRPr lang="en-AU" dirty="0">
              <a:solidFill>
                <a:schemeClr val="accent3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898464925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HTML 5 Basics – Basic Page v2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&lt;!doctype html&gt;</a:t>
            </a:r>
            <a:endParaRPr lang="en-US">
              <a:solidFill>
                <a:schemeClr val="accent3"/>
              </a:solidFill>
              <a:latin typeface="Consolas"/>
              <a:cs typeface="Calibri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&lt;html lang=“</a:t>
            </a:r>
            <a:r>
              <a:rPr lang="en-US" err="1">
                <a:solidFill>
                  <a:schemeClr val="accent3"/>
                </a:solidFill>
                <a:latin typeface="Consolas"/>
              </a:rPr>
              <a:t>en</a:t>
            </a:r>
            <a:r>
              <a:rPr lang="en-US" dirty="0">
                <a:solidFill>
                  <a:schemeClr val="accent3"/>
                </a:solidFill>
                <a:latin typeface="Consolas"/>
              </a:rPr>
              <a:t>-au”&gt;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&lt;head&gt;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   &lt;title&gt;Untitled Document&lt;/title&gt;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&lt;/head&gt;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&lt;body&gt;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   &lt;header&gt;…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       &lt;nav&gt;…&lt;/nav&gt;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   &lt;/header&gt;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   &lt;main&gt;…&lt;/main&gt;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    &lt;footer&gt;…&lt;/footer&gt;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&lt;/body&gt;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nsolas"/>
              </a:rPr>
              <a:t>&lt;/html&gt;</a:t>
            </a:r>
            <a:endParaRPr lang="en-AU" dirty="0">
              <a:solidFill>
                <a:schemeClr val="accent3"/>
              </a:solidFill>
              <a:latin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AE4E5A-6175-4242-AE86-7554085AA18F}"/>
              </a:ext>
            </a:extLst>
          </p:cNvPr>
          <p:cNvSpPr txBox="1"/>
          <p:nvPr/>
        </p:nvSpPr>
        <p:spPr>
          <a:xfrm>
            <a:off x="7842504" y="4102188"/>
            <a:ext cx="3511296" cy="1986378"/>
          </a:xfrm>
          <a:prstGeom prst="rect">
            <a:avLst/>
          </a:prstGeom>
          <a:solidFill>
            <a:srgbClr val="4C000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10000"/>
              </a:lnSpc>
              <a:spcAft>
                <a:spcPts val="1200"/>
              </a:spcAft>
              <a:defRPr sz="3200" b="1"/>
            </a:lvl1pPr>
          </a:lstStyle>
          <a:p>
            <a:r>
              <a:rPr lang="en-US" dirty="0"/>
              <a:t>Note:</a:t>
            </a:r>
          </a:p>
          <a:p>
            <a:r>
              <a:rPr lang="en-US" sz="2400" b="0" dirty="0"/>
              <a:t>More on these two basic pages as we  continue… including a demonstration.</a:t>
            </a:r>
            <a:endParaRPr lang="en-AU" sz="2400" b="0" dirty="0"/>
          </a:p>
        </p:txBody>
      </p:sp>
    </p:spTree>
    <p:extLst>
      <p:ext uri="{BB962C8B-B14F-4D97-AF65-F5344CB8AC3E}">
        <p14:creationId xmlns:p14="http://schemas.microsoft.com/office/powerpoint/2010/main" val="1486543447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North Metropolitan TAFE site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57224-6FAB-4DEC-A9DB-C4E62FE92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solidFill>
                <a:schemeClr val="accent3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Consolas"/>
              </a:rPr>
              <a:t>Let’s have a look at the college website structure in the browser inspector…</a:t>
            </a:r>
          </a:p>
          <a:p>
            <a:pPr marL="0" indent="0">
              <a:buNone/>
            </a:pPr>
            <a:endParaRPr lang="en-US" sz="3200" dirty="0">
              <a:solidFill>
                <a:schemeClr val="tx1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3200" dirty="0">
                <a:solidFill>
                  <a:schemeClr val="accent3"/>
                </a:solidFill>
                <a:latin typeface="Consolas"/>
                <a:hlinkClick r:id="rId3"/>
              </a:rPr>
              <a:t>https://www.northmetrotafe.wa.edu.au</a:t>
            </a:r>
            <a:endParaRPr lang="en-AU" sz="3200" dirty="0">
              <a:solidFill>
                <a:schemeClr val="accent3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089241197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Session 2 Challenge 1 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2076348728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5 Challenge 1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12C242-5861-4E3C-86F4-6291F1BD2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142038"/>
          </a:xfrm>
        </p:spPr>
        <p:txBody>
          <a:bodyPr vert="horz" lIns="91440" tIns="45720" rIns="91440" bIns="45720" numCol="2" rtlCol="0" anchor="t">
            <a:normAutofit lnSpcReduction="10000"/>
          </a:bodyPr>
          <a:lstStyle/>
          <a:p>
            <a:r>
              <a:rPr lang="en-AU" dirty="0">
                <a:solidFill>
                  <a:srgbClr val="FFC000"/>
                </a:solidFill>
              </a:rPr>
              <a:t>a</a:t>
            </a:r>
          </a:p>
          <a:p>
            <a:r>
              <a:rPr lang="en-AU" dirty="0">
                <a:solidFill>
                  <a:srgbClr val="FFC000"/>
                </a:solidFill>
              </a:rPr>
              <a:t>article</a:t>
            </a:r>
          </a:p>
          <a:p>
            <a:r>
              <a:rPr lang="en-AU" dirty="0">
                <a:solidFill>
                  <a:srgbClr val="FFC000"/>
                </a:solidFill>
              </a:rPr>
              <a:t>aside</a:t>
            </a:r>
          </a:p>
          <a:p>
            <a:r>
              <a:rPr lang="en-AU" dirty="0">
                <a:solidFill>
                  <a:srgbClr val="FFC000"/>
                </a:solidFill>
              </a:rPr>
              <a:t>b</a:t>
            </a:r>
          </a:p>
          <a:p>
            <a:r>
              <a:rPr lang="en-AU" dirty="0">
                <a:solidFill>
                  <a:srgbClr val="FFC000"/>
                </a:solidFill>
              </a:rPr>
              <a:t>dd</a:t>
            </a:r>
          </a:p>
          <a:p>
            <a:r>
              <a:rPr lang="en-AU" dirty="0">
                <a:solidFill>
                  <a:srgbClr val="FFC000"/>
                </a:solidFill>
              </a:rPr>
              <a:t>dl</a:t>
            </a:r>
          </a:p>
          <a:p>
            <a:r>
              <a:rPr lang="en-AU" dirty="0">
                <a:solidFill>
                  <a:srgbClr val="FFC000"/>
                </a:solidFill>
              </a:rPr>
              <a:t>dt</a:t>
            </a:r>
          </a:p>
          <a:p>
            <a:r>
              <a:rPr lang="en-AU" dirty="0" err="1">
                <a:solidFill>
                  <a:srgbClr val="FFC000"/>
                </a:solidFill>
              </a:rPr>
              <a:t>em</a:t>
            </a:r>
            <a:endParaRPr lang="en-AU" dirty="0">
              <a:solidFill>
                <a:srgbClr val="FFC000"/>
              </a:solidFill>
            </a:endParaRPr>
          </a:p>
          <a:p>
            <a:r>
              <a:rPr lang="en-AU" dirty="0">
                <a:solidFill>
                  <a:srgbClr val="FFC000"/>
                </a:solidFill>
              </a:rPr>
              <a:t>footer</a:t>
            </a:r>
          </a:p>
          <a:p>
            <a:r>
              <a:rPr lang="en-AU" dirty="0">
                <a:solidFill>
                  <a:srgbClr val="FFC000"/>
                </a:solidFill>
              </a:rPr>
              <a:t>h</a:t>
            </a:r>
          </a:p>
          <a:p>
            <a:r>
              <a:rPr lang="en-AU" dirty="0">
                <a:solidFill>
                  <a:srgbClr val="FFC000"/>
                </a:solidFill>
                <a:cs typeface="Calibri"/>
              </a:rPr>
              <a:t>meta</a:t>
            </a:r>
          </a:p>
          <a:p>
            <a:r>
              <a:rPr lang="en-AU" dirty="0">
                <a:solidFill>
                  <a:srgbClr val="FFC000"/>
                </a:solidFill>
              </a:rPr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64577-BD83-1A54-D532-34F4AFBE4577}"/>
              </a:ext>
            </a:extLst>
          </p:cNvPr>
          <p:cNvSpPr>
            <a:spLocks noGrp="1"/>
          </p:cNvSpPr>
          <p:nvPr/>
        </p:nvSpPr>
        <p:spPr>
          <a:xfrm>
            <a:off x="6172202" y="1690688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40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Find out what each of the elements on the left are and how they are used.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3000" dirty="0"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>
                <a:cs typeface="Calibri" panose="020F0502020204030204"/>
              </a:rPr>
              <a:t>Identify if they are structural, semantic or general purpose.</a:t>
            </a:r>
            <a:endParaRPr lang="en-AU" sz="30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18918952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5 Challenge 1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12C242-5861-4E3C-86F4-6291F1BD2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142038"/>
          </a:xfrm>
        </p:spPr>
        <p:txBody>
          <a:bodyPr vert="horz" lIns="91440" tIns="45720" rIns="91440" bIns="45720" numCol="2" rtlCol="0" anchor="t">
            <a:noAutofit/>
          </a:bodyPr>
          <a:lstStyle/>
          <a:p>
            <a:r>
              <a:rPr lang="en-AU" dirty="0">
                <a:solidFill>
                  <a:srgbClr val="FFC000"/>
                </a:solidFill>
              </a:rPr>
              <a:t>header</a:t>
            </a:r>
          </a:p>
          <a:p>
            <a:r>
              <a:rPr lang="en-AU" dirty="0" err="1">
                <a:solidFill>
                  <a:srgbClr val="FFC000"/>
                </a:solidFill>
              </a:rPr>
              <a:t>i</a:t>
            </a:r>
          </a:p>
          <a:p>
            <a:r>
              <a:rPr lang="en-AU" dirty="0">
                <a:solidFill>
                  <a:srgbClr val="FFC000"/>
                </a:solidFill>
              </a:rPr>
              <a:t>li</a:t>
            </a:r>
          </a:p>
          <a:p>
            <a:r>
              <a:rPr lang="en-AU" dirty="0">
                <a:solidFill>
                  <a:srgbClr val="FFC000"/>
                </a:solidFill>
              </a:rPr>
              <a:t>main</a:t>
            </a:r>
          </a:p>
          <a:p>
            <a:r>
              <a:rPr lang="en-AU" dirty="0" err="1">
                <a:solidFill>
                  <a:srgbClr val="FFC000"/>
                </a:solidFill>
              </a:rPr>
              <a:t>ol</a:t>
            </a:r>
            <a:endParaRPr lang="en-AU" dirty="0">
              <a:solidFill>
                <a:srgbClr val="FFC000"/>
              </a:solidFill>
            </a:endParaRPr>
          </a:p>
          <a:p>
            <a:r>
              <a:rPr lang="en-AU" dirty="0">
                <a:solidFill>
                  <a:srgbClr val="FFC000"/>
                </a:solidFill>
              </a:rPr>
              <a:t>p</a:t>
            </a:r>
          </a:p>
          <a:p>
            <a:r>
              <a:rPr lang="en-AU" dirty="0">
                <a:solidFill>
                  <a:srgbClr val="FFC000"/>
                </a:solidFill>
              </a:rPr>
              <a:t>section</a:t>
            </a:r>
          </a:p>
          <a:p>
            <a:r>
              <a:rPr lang="en-AU" dirty="0">
                <a:solidFill>
                  <a:srgbClr val="FFC000"/>
                </a:solidFill>
              </a:rPr>
              <a:t>strong</a:t>
            </a:r>
          </a:p>
          <a:p>
            <a:r>
              <a:rPr lang="en-AU" dirty="0" err="1">
                <a:solidFill>
                  <a:srgbClr val="FFC000"/>
                </a:solidFill>
              </a:rPr>
              <a:t>ul</a:t>
            </a:r>
            <a:endParaRPr lang="en-AU" dirty="0">
              <a:solidFill>
                <a:srgbClr val="FFC000"/>
              </a:solidFill>
            </a:endParaRPr>
          </a:p>
          <a:p>
            <a:r>
              <a:rPr lang="en-AU" dirty="0" err="1">
                <a:solidFill>
                  <a:srgbClr val="FFC000"/>
                </a:solidFill>
              </a:rPr>
              <a:t>thead</a:t>
            </a:r>
            <a:endParaRPr lang="en-AU" dirty="0">
              <a:solidFill>
                <a:srgbClr val="FFC000"/>
              </a:solidFill>
            </a:endParaRPr>
          </a:p>
          <a:p>
            <a:r>
              <a:rPr lang="en-AU" dirty="0" err="1">
                <a:solidFill>
                  <a:srgbClr val="FFC000"/>
                </a:solidFill>
              </a:rPr>
              <a:t>tbody</a:t>
            </a:r>
            <a:endParaRPr lang="en-AU" dirty="0">
              <a:solidFill>
                <a:srgbClr val="FFC000"/>
              </a:solidFill>
            </a:endParaRPr>
          </a:p>
          <a:p>
            <a:r>
              <a:rPr lang="en-AU" dirty="0" err="1">
                <a:solidFill>
                  <a:srgbClr val="FFC000"/>
                </a:solidFill>
              </a:rPr>
              <a:t>tfoot</a:t>
            </a:r>
            <a:endParaRPr lang="en-AU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64577-BD83-1A54-D532-34F4AFBE4577}"/>
              </a:ext>
            </a:extLst>
          </p:cNvPr>
          <p:cNvSpPr>
            <a:spLocks noGrp="1"/>
          </p:cNvSpPr>
          <p:nvPr/>
        </p:nvSpPr>
        <p:spPr>
          <a:xfrm>
            <a:off x="6172202" y="1690688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40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Find out what each of the elements on the left are and how they are used.</a:t>
            </a:r>
          </a:p>
          <a:p>
            <a:pPr marL="0" indent="0">
              <a:lnSpc>
                <a:spcPct val="120000"/>
              </a:lnSpc>
              <a:buNone/>
            </a:pPr>
            <a:endParaRPr lang="en-AU" sz="3000" dirty="0"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>
                <a:cs typeface="Calibri" panose="020F0502020204030204"/>
              </a:rPr>
              <a:t>Identify if they are structural, semantic or general purpose.</a:t>
            </a:r>
            <a:endParaRPr lang="en-AU" sz="30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89973976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5 Challenge 1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12C242-5861-4E3C-86F4-6291F1BD2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262941"/>
          </a:xfrm>
        </p:spPr>
        <p:txBody>
          <a:bodyPr vert="horz" lIns="91440" tIns="45720" rIns="91440" bIns="45720" numCol="2" rtlCol="0" anchor="t">
            <a:normAutofit/>
          </a:bodyPr>
          <a:lstStyle/>
          <a:p>
            <a:r>
              <a:rPr lang="en-AU" dirty="0" err="1">
                <a:solidFill>
                  <a:srgbClr val="FFC000"/>
                </a:solidFill>
              </a:rPr>
              <a:t>img</a:t>
            </a:r>
            <a:endParaRPr lang="en-AU" dirty="0">
              <a:solidFill>
                <a:srgbClr val="FFC000"/>
              </a:solidFill>
              <a:cs typeface="Calibri" panose="020F0502020204030204"/>
            </a:endParaRPr>
          </a:p>
          <a:p>
            <a:r>
              <a:rPr lang="en-AU" dirty="0" err="1">
                <a:solidFill>
                  <a:srgbClr val="FFC000"/>
                </a:solidFill>
              </a:rPr>
              <a:t>br</a:t>
            </a:r>
            <a:endParaRPr lang="en-AU" dirty="0">
              <a:solidFill>
                <a:srgbClr val="FFC000"/>
              </a:solidFill>
              <a:cs typeface="Calibri"/>
            </a:endParaRPr>
          </a:p>
          <a:p>
            <a:r>
              <a:rPr lang="en-AU" dirty="0">
                <a:solidFill>
                  <a:srgbClr val="FFC000"/>
                </a:solidFill>
                <a:cs typeface="Calibri"/>
              </a:rPr>
              <a:t>hr</a:t>
            </a:r>
          </a:p>
          <a:p>
            <a:r>
              <a:rPr lang="en-AU" dirty="0">
                <a:solidFill>
                  <a:srgbClr val="FFC000"/>
                </a:solidFill>
                <a:cs typeface="Calibri"/>
              </a:rPr>
              <a:t>area</a:t>
            </a:r>
          </a:p>
          <a:p>
            <a:r>
              <a:rPr lang="en-AU" dirty="0">
                <a:solidFill>
                  <a:srgbClr val="FFC000"/>
                </a:solidFill>
                <a:cs typeface="Calibri"/>
              </a:rPr>
              <a:t>embed</a:t>
            </a:r>
          </a:p>
          <a:p>
            <a:r>
              <a:rPr lang="en-AU" dirty="0">
                <a:solidFill>
                  <a:srgbClr val="FFC000"/>
                </a:solidFill>
                <a:cs typeface="Calibri"/>
              </a:rPr>
              <a:t>input</a:t>
            </a:r>
          </a:p>
          <a:p>
            <a:r>
              <a:rPr lang="en-AU" dirty="0">
                <a:solidFill>
                  <a:srgbClr val="FFC000"/>
                </a:solidFill>
                <a:cs typeface="Calibri"/>
              </a:rPr>
              <a:t>source</a:t>
            </a:r>
          </a:p>
          <a:p>
            <a:r>
              <a:rPr lang="en-AU" dirty="0">
                <a:solidFill>
                  <a:srgbClr val="FFC000"/>
                </a:solidFill>
                <a:cs typeface="Calibri"/>
              </a:rPr>
              <a:t>div</a:t>
            </a:r>
          </a:p>
          <a:p>
            <a:r>
              <a:rPr lang="en-AU" dirty="0">
                <a:solidFill>
                  <a:srgbClr val="FFC000"/>
                </a:solidFill>
                <a:cs typeface="Calibri"/>
              </a:rPr>
              <a:t>table</a:t>
            </a:r>
          </a:p>
          <a:p>
            <a:r>
              <a:rPr lang="en-AU" dirty="0">
                <a:solidFill>
                  <a:srgbClr val="FFC000"/>
                </a:solidFill>
                <a:cs typeface="Calibri"/>
              </a:rPr>
              <a:t>td</a:t>
            </a:r>
          </a:p>
          <a:p>
            <a:r>
              <a:rPr lang="en-AU" dirty="0">
                <a:solidFill>
                  <a:srgbClr val="FFC000"/>
                </a:solidFill>
                <a:cs typeface="Calibri"/>
              </a:rPr>
              <a:t>tr</a:t>
            </a:r>
          </a:p>
          <a:p>
            <a:r>
              <a:rPr lang="en-AU" dirty="0" err="1">
                <a:solidFill>
                  <a:srgbClr val="FFC000"/>
                </a:solidFill>
                <a:cs typeface="Calibri"/>
              </a:rPr>
              <a:t>th</a:t>
            </a:r>
            <a:endParaRPr lang="en-AU" sz="7200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8431B-8C57-4D06-A7C3-5A4309550A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Find out what each of the elements on the left are and how they are used.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3000" dirty="0"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>
                <a:cs typeface="Calibri" panose="020F0502020204030204"/>
              </a:rPr>
              <a:t>Identify if they are structural, semantic or general purpose.</a:t>
            </a:r>
            <a:endParaRPr lang="en-AU" sz="30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09003421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Session 2 Challenge 2 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615423264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1581A8-F9F9-C855-553B-DB5880061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Session 2 – Challenge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64A0A1-44E5-87EE-2AC2-0CF1257DB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AU" dirty="0"/>
              <a:t>Create a new HTML5 Boilerplate project in WebStorm.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>
                <a:hlinkClick r:id="rId2"/>
              </a:rPr>
              <a:t>https://www.youtube.com/watch?v=_NRodG8VcMs&amp;t=2s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62923117"/>
      </p:ext>
    </p:extLst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5229"/>
            <a:ext cx="10515600" cy="921254"/>
          </a:xfrm>
        </p:spPr>
        <p:txBody>
          <a:bodyPr/>
          <a:lstStyle/>
          <a:p>
            <a:r>
              <a:rPr lang="en-US" dirty="0"/>
              <a:t>HTML 5 Challenge 2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8431B-8C57-4D06-A7C3-5A430955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40648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AU" sz="2800" dirty="0"/>
              <a:t>Reorganise the folder structure to match the structure below.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endParaRPr lang="en-AU" sz="3000" dirty="0">
              <a:cs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0317A4-6F0C-173D-B73A-859CBFF84F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15" y="1267577"/>
            <a:ext cx="11370277" cy="559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116239"/>
      </p:ext>
    </p:extLst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8FF-724B-4D08-A628-7FB6ADD2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5 Challenge 2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8431B-8C57-4D06-A7C3-5A430955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41692" y="2303296"/>
            <a:ext cx="3612108" cy="38736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AU" dirty="0"/>
              <a:t>Change the index.html page to look like this.</a:t>
            </a:r>
            <a:endParaRPr lang="en-AU" dirty="0"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endParaRPr lang="en-AU" sz="3000" dirty="0">
              <a:cs typeface="Calibri" panose="020F0502020204030204"/>
            </a:endParaRPr>
          </a:p>
        </p:txBody>
      </p:sp>
      <p:pic>
        <p:nvPicPr>
          <p:cNvPr id="4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9D49AFC-227D-3F82-8D06-E576B3968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37" y="1769241"/>
            <a:ext cx="6803408" cy="434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639338"/>
      </p:ext>
    </p:extLst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59B867-F86C-9F53-2C09-210C6FDE683C}"/>
              </a:ext>
            </a:extLst>
          </p:cNvPr>
          <p:cNvSpPr txBox="1"/>
          <p:nvPr/>
        </p:nvSpPr>
        <p:spPr>
          <a:xfrm>
            <a:off x="1" y="1272618"/>
            <a:ext cx="1219199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5600" dirty="0"/>
              <a:t>🦆</a:t>
            </a:r>
          </a:p>
        </p:txBody>
      </p:sp>
    </p:spTree>
    <p:extLst>
      <p:ext uri="{BB962C8B-B14F-4D97-AF65-F5344CB8AC3E}">
        <p14:creationId xmlns:p14="http://schemas.microsoft.com/office/powerpoint/2010/main" val="141566846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C92A6A38-762D-4D1E-84F6-35B86993516B}"/>
    </a:ext>
  </a:extLst>
</a:theme>
</file>

<file path=ppt/theme/theme2.xml><?xml version="1.0" encoding="utf-8"?>
<a:theme xmlns:a="http://schemas.openxmlformats.org/drawingml/2006/main" name="8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3.xml><?xml version="1.0" encoding="utf-8"?>
<a:theme xmlns:a="http://schemas.openxmlformats.org/drawingml/2006/main" name="9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4.xml><?xml version="1.0" encoding="utf-8"?>
<a:theme xmlns:a="http://schemas.openxmlformats.org/drawingml/2006/main" name="3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74005428-A334-41FB-9C76-B70EADF29CBB}"/>
    </a:ext>
  </a:extLst>
</a:theme>
</file>

<file path=ppt/theme/theme5.xml><?xml version="1.0" encoding="utf-8"?>
<a:theme xmlns:a="http://schemas.openxmlformats.org/drawingml/2006/main" name="4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B2A232E-75D7-4897-BB1C-74DF42300102}"/>
    </a:ext>
  </a:extLst>
</a:theme>
</file>

<file path=ppt/theme/theme6.xml><?xml version="1.0" encoding="utf-8"?>
<a:theme xmlns:a="http://schemas.openxmlformats.org/drawingml/2006/main" name="5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B197BA3C-52E1-452E-9ECF-A8FC308A75CB}"/>
    </a:ext>
  </a:extLst>
</a:theme>
</file>

<file path=ppt/theme/theme7.xml><?xml version="1.0" encoding="utf-8"?>
<a:theme xmlns:a="http://schemas.openxmlformats.org/drawingml/2006/main" name="TAFE-Dark-BG-animated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091D9253-E664-4300-BB76-B0EA74ABD4E3}"/>
    </a:ext>
  </a:extLst>
</a:theme>
</file>

<file path=ppt/theme/theme8.xml><?xml version="1.0" encoding="utf-8"?>
<a:theme xmlns:a="http://schemas.openxmlformats.org/drawingml/2006/main" name="6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5315164-D39B-4AAC-B304-B1A2B031A95B}"/>
    </a:ext>
  </a:extLst>
</a:theme>
</file>

<file path=ppt/theme/theme9.xml><?xml version="1.0" encoding="utf-8"?>
<a:theme xmlns:a="http://schemas.openxmlformats.org/drawingml/2006/main" name="7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53110149-A4D3-4904-BBE1-036CB5C878D3}"/>
    </a:ext>
  </a:extLst>
</a:theme>
</file>

<file path=ppt/theme/theme10.xml><?xml version="1.0" encoding="utf-8"?>
<a:theme xmlns:a="http://schemas.openxmlformats.org/drawingml/2006/main" name="1_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C" id="{512C2FDB-8C93-844A-9C7C-E16B2F56908F}" vid="{F409DB23-9C1D-2B4A-B99D-0844671217B0}"/>
    </a:ext>
  </a:extLst>
</a:theme>
</file>

<file path=ppt/theme/theme11.xml><?xml version="1.0" encoding="utf-8"?>
<a:theme xmlns:a="http://schemas.openxmlformats.org/drawingml/2006/main" name="10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AFE-White-BG-B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B" id="{2956925C-A3E0-A44D-A1CA-96DE5E326E72}" vid="{BF725D3F-94CF-3B48-BC06-35479312206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Presentation-2023</Template>
  <TotalTime>106</TotalTime>
  <Words>1723</Words>
  <Application>Microsoft Macintosh PowerPoint</Application>
  <PresentationFormat>Widescreen</PresentationFormat>
  <Paragraphs>329</Paragraphs>
  <Slides>39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39</vt:i4>
      </vt:variant>
    </vt:vector>
  </HeadingPairs>
  <TitlesOfParts>
    <vt:vector size="59" baseType="lpstr">
      <vt:lpstr>Arial</vt:lpstr>
      <vt:lpstr>Calibri</vt:lpstr>
      <vt:lpstr>Calibri Light</vt:lpstr>
      <vt:lpstr>Consolas</vt:lpstr>
      <vt:lpstr>Courier New</vt:lpstr>
      <vt:lpstr>Fira Code</vt:lpstr>
      <vt:lpstr>TAFE-White-BG-C</vt:lpstr>
      <vt:lpstr>8_Office Theme</vt:lpstr>
      <vt:lpstr>9_Office Theme</vt:lpstr>
      <vt:lpstr>3_Office Theme</vt:lpstr>
      <vt:lpstr>4_Office Theme</vt:lpstr>
      <vt:lpstr>5_Office Theme</vt:lpstr>
      <vt:lpstr>TAFE-Dark-BG-animated</vt:lpstr>
      <vt:lpstr>6_Office Theme</vt:lpstr>
      <vt:lpstr>7_Office Theme</vt:lpstr>
      <vt:lpstr>1_TAFE-White-BG-C</vt:lpstr>
      <vt:lpstr>10_Office Theme</vt:lpstr>
      <vt:lpstr>11_Office Theme</vt:lpstr>
      <vt:lpstr>12_Office Theme</vt:lpstr>
      <vt:lpstr>TAFE-White-BG-B</vt:lpstr>
      <vt:lpstr> Web Technologies: Introduction</vt:lpstr>
      <vt:lpstr> Web Tech: Sessions</vt:lpstr>
      <vt:lpstr>Sessions</vt:lpstr>
      <vt:lpstr> 2: HTML5 Basics &amp; IDEs</vt:lpstr>
      <vt:lpstr>2: HTML 5 Basics – Web Pages</vt:lpstr>
      <vt:lpstr>2: HTML 5 Basics – Web Pages</vt:lpstr>
      <vt:lpstr>2: HTML 5 Basics – 2 HTML</vt:lpstr>
      <vt:lpstr>2: HTML 5 Basics – 2 HTML</vt:lpstr>
      <vt:lpstr>2: HTML 5 Basics – Elements &amp; Tags</vt:lpstr>
      <vt:lpstr>2: HTML 5 Basics – Page Structure</vt:lpstr>
      <vt:lpstr>2: HTML 5 Basics – doctype</vt:lpstr>
      <vt:lpstr>2: HTML 5 Basics – html</vt:lpstr>
      <vt:lpstr>2: HTML 5 Basics – head</vt:lpstr>
      <vt:lpstr>2: HTML 5 Basics – title</vt:lpstr>
      <vt:lpstr>2: HTML 5 Basics – body</vt:lpstr>
      <vt:lpstr>2: HTML 5 Basics – Basic Page Example 1</vt:lpstr>
      <vt:lpstr>2: HTML 5 Basics – Basic Page Example 2</vt:lpstr>
      <vt:lpstr>2: HTML 5 Basics – Site Structure</vt:lpstr>
      <vt:lpstr>2: HTML 5 Basics – Site Structure Terms</vt:lpstr>
      <vt:lpstr>2: HTML 5 Basics – Site Structure Terms</vt:lpstr>
      <vt:lpstr>2: HTML 5 Basics – Site Structure Terms</vt:lpstr>
      <vt:lpstr>2: HTML 5 Basics – Site Structure Terms</vt:lpstr>
      <vt:lpstr>2: HTML 5 Basics – Site Structure Terms</vt:lpstr>
      <vt:lpstr>2: HTML 5 Basics – Site Structure</vt:lpstr>
      <vt:lpstr>2: HTML 5 Basics – Site Structure</vt:lpstr>
      <vt:lpstr>Basic HTML Page</vt:lpstr>
      <vt:lpstr>2: HTML 5 Basics</vt:lpstr>
      <vt:lpstr>2: HTML 5 Basics – Basic Page v1</vt:lpstr>
      <vt:lpstr>2: HTML 5 Basics – Basic Page v2</vt:lpstr>
      <vt:lpstr>2: North Metropolitan TAFE site</vt:lpstr>
      <vt:lpstr> Session 2 Challenge 1 </vt:lpstr>
      <vt:lpstr>HTML 5 Challenge 1</vt:lpstr>
      <vt:lpstr>HTML 5 Challenge 1</vt:lpstr>
      <vt:lpstr>HTML 5 Challenge 1</vt:lpstr>
      <vt:lpstr> Session 2 Challenge 2 </vt:lpstr>
      <vt:lpstr>Session 2 – Challenge 2</vt:lpstr>
      <vt:lpstr>HTML 5 Challenge 2</vt:lpstr>
      <vt:lpstr>HTML 5 Challenge 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Technologies Introduction</dc:title>
  <dc:creator>Adrian Gould</dc:creator>
  <cp:lastModifiedBy>John Robertson</cp:lastModifiedBy>
  <cp:revision>41</cp:revision>
  <dcterms:created xsi:type="dcterms:W3CDTF">2023-07-07T02:00:43Z</dcterms:created>
  <dcterms:modified xsi:type="dcterms:W3CDTF">2024-02-05T02:54:06Z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ac7e5b-5da2-46c7-8677-8a6b50f7d886_Enabled">
    <vt:lpwstr>true</vt:lpwstr>
  </property>
  <property fmtid="{D5CDD505-2E9C-101B-9397-08002B2CF9AE}" pid="3" name="MSIP_Label_f3ac7e5b-5da2-46c7-8677-8a6b50f7d886_SetDate">
    <vt:lpwstr>2023-07-09T17:39:43Z</vt:lpwstr>
  </property>
  <property fmtid="{D5CDD505-2E9C-101B-9397-08002B2CF9AE}" pid="4" name="MSIP_Label_f3ac7e5b-5da2-46c7-8677-8a6b50f7d886_Method">
    <vt:lpwstr>Standard</vt:lpwstr>
  </property>
  <property fmtid="{D5CDD505-2E9C-101B-9397-08002B2CF9AE}" pid="5" name="MSIP_Label_f3ac7e5b-5da2-46c7-8677-8a6b50f7d886_Name">
    <vt:lpwstr>Official</vt:lpwstr>
  </property>
  <property fmtid="{D5CDD505-2E9C-101B-9397-08002B2CF9AE}" pid="6" name="MSIP_Label_f3ac7e5b-5da2-46c7-8677-8a6b50f7d886_SiteId">
    <vt:lpwstr>218881e8-07ad-4142-87d7-f6b90d17009b</vt:lpwstr>
  </property>
  <property fmtid="{D5CDD505-2E9C-101B-9397-08002B2CF9AE}" pid="7" name="MSIP_Label_f3ac7e5b-5da2-46c7-8677-8a6b50f7d886_ActionId">
    <vt:lpwstr>934bf055-5d58-4591-8f85-6de4d295ed91</vt:lpwstr>
  </property>
  <property fmtid="{D5CDD505-2E9C-101B-9397-08002B2CF9AE}" pid="8" name="MSIP_Label_f3ac7e5b-5da2-46c7-8677-8a6b50f7d886_ContentBits">
    <vt:lpwstr>1</vt:lpwstr>
  </property>
  <property fmtid="{D5CDD505-2E9C-101B-9397-08002B2CF9AE}" pid="9" name="ClassificationContentMarkingHeaderLocations">
    <vt:lpwstr>TAFE-White-BG-C:4\8_Office Theme:4\9_Office Theme:4\3_Office Theme:4\4_Office Theme:4\5_Office Theme:4\TAFE-Dark-BG-animated:4\6_Office Theme:4\7_Office Theme:4\1_TAFE-White-BG-C:7\10_Office Theme:8\11_Office Theme:7\12_Office Theme:7\TAFE-White-BG-B:7</vt:lpwstr>
  </property>
  <property fmtid="{D5CDD505-2E9C-101B-9397-08002B2CF9AE}" pid="10" name="ClassificationContentMarkingHeaderText">
    <vt:lpwstr>OFFICIAL</vt:lpwstr>
  </property>
</Properties>
</file>