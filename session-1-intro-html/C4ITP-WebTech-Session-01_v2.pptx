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notesMasterIdLst>
    <p:notesMasterId r:id="rId50"/>
  </p:notesMasterIdLst>
  <p:sldIdLst>
    <p:sldId id="270" r:id="rId15"/>
    <p:sldId id="256" r:id="rId16"/>
    <p:sldId id="387" r:id="rId17"/>
    <p:sldId id="309" r:id="rId18"/>
    <p:sldId id="389" r:id="rId19"/>
    <p:sldId id="390" r:id="rId20"/>
    <p:sldId id="391" r:id="rId21"/>
    <p:sldId id="393" r:id="rId22"/>
    <p:sldId id="392" r:id="rId23"/>
    <p:sldId id="395" r:id="rId24"/>
    <p:sldId id="399" r:id="rId25"/>
    <p:sldId id="401" r:id="rId26"/>
    <p:sldId id="416" r:id="rId27"/>
    <p:sldId id="590" r:id="rId28"/>
    <p:sldId id="651" r:id="rId29"/>
    <p:sldId id="408" r:id="rId30"/>
    <p:sldId id="402" r:id="rId31"/>
    <p:sldId id="650" r:id="rId32"/>
    <p:sldId id="257" r:id="rId33"/>
    <p:sldId id="258" r:id="rId34"/>
    <p:sldId id="412" r:id="rId35"/>
    <p:sldId id="413" r:id="rId36"/>
    <p:sldId id="652" r:id="rId37"/>
    <p:sldId id="658" r:id="rId38"/>
    <p:sldId id="654" r:id="rId39"/>
    <p:sldId id="592" r:id="rId40"/>
    <p:sldId id="655" r:id="rId41"/>
    <p:sldId id="623" r:id="rId42"/>
    <p:sldId id="659" r:id="rId43"/>
    <p:sldId id="656" r:id="rId44"/>
    <p:sldId id="667" r:id="rId45"/>
    <p:sldId id="410" r:id="rId46"/>
    <p:sldId id="661" r:id="rId47"/>
    <p:sldId id="662" r:id="rId48"/>
    <p:sldId id="39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Sessions" id="{6B305998-727F-4E0D-B590-D2FA76C3FDC2}">
          <p14:sldIdLst>
            <p14:sldId id="256"/>
            <p14:sldId id="387"/>
          </p14:sldIdLst>
        </p14:section>
        <p14:section name="Session 01" id="{7CE3192E-32CF-44E3-B3CA-3653892F3C02}">
          <p14:sldIdLst>
            <p14:sldId id="309"/>
            <p14:sldId id="389"/>
            <p14:sldId id="390"/>
            <p14:sldId id="391"/>
            <p14:sldId id="393"/>
            <p14:sldId id="392"/>
            <p14:sldId id="395"/>
            <p14:sldId id="399"/>
            <p14:sldId id="401"/>
            <p14:sldId id="416"/>
            <p14:sldId id="590"/>
            <p14:sldId id="651"/>
            <p14:sldId id="408"/>
            <p14:sldId id="402"/>
            <p14:sldId id="650"/>
            <p14:sldId id="257"/>
            <p14:sldId id="258"/>
            <p14:sldId id="412"/>
            <p14:sldId id="413"/>
            <p14:sldId id="652"/>
            <p14:sldId id="658"/>
            <p14:sldId id="654"/>
            <p14:sldId id="592"/>
            <p14:sldId id="655"/>
            <p14:sldId id="623"/>
            <p14:sldId id="659"/>
            <p14:sldId id="656"/>
            <p14:sldId id="667"/>
            <p14:sldId id="410"/>
            <p14:sldId id="661"/>
            <p14:sldId id="662"/>
            <p14:sldId id="3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E47B1-A0E6-433F-98F4-CDE6325D7CE3}" v="484" dt="2023-07-18T04:19:58.301"/>
    <p1510:client id="{3680DEAA-FE01-CE12-E1CA-38DE35996143}" v="676" dt="2023-07-18T03:39:39.321"/>
    <p1510:client id="{6541241C-2F99-BA6D-A8E7-FB69CC158D51}" v="28" vWet="29" dt="2023-07-18T04:27:30.043"/>
    <p1510:client id="{6858ABA0-FC70-8D56-670E-532A1396A990}" v="195" dt="2023-07-18T06:18:46.346"/>
    <p1510:client id="{C2A465E4-19BB-4F7E-B36D-70872B226966}" v="1" dt="2023-07-18T09:00:48.389"/>
    <p1510:client id="{D09E2D8D-6DFB-0E31-9C22-593DFB49DF21}" v="250" dt="2023-07-18T06:08:44.634"/>
    <p1510:client id="{F3F89D1A-9238-4DBE-911B-101A4A966D4D}" v="1806" dt="2023-07-18T06:49:35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7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microsoft.com/office/2018/10/relationships/authors" Target="authors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2794A-0B32-4D3C-BD6C-8F12F78F1D3C}" type="datetimeFigureOut">
              <a:rPr lang="en-AU" smtClean="0"/>
              <a:t>5/02/2025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17F67-51EF-4539-AF5D-79DA8A84C3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07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5737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850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5116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929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6681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326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273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54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5/02/2025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5/02/2025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tutsplus.com/http-the-protocol-every-web-developer-must-know-part-1--net-31177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qres.in/api/users?page=2" TargetMode="External"/><Relationship Id="rId2" Type="http://schemas.openxmlformats.org/officeDocument/2006/relationships/hyperlink" Target="https://reqres.in/" TargetMode="Externa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securityboulevard.com/2021/04/common-rest-api-authentication-methods-explained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n-AU"/>
            </a:br>
            <a:r>
              <a:rPr lang="en-AU"/>
              <a:t>Web Technologies: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76761145"/>
              </p:ext>
            </p:extLst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br>
              <a:rPr lang="en-AU"/>
            </a:br>
            <a:r>
              <a:rPr lang="en-AU"/>
              <a:t>Web Tech: Sessions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43" name="Table 36">
            <a:extLst>
              <a:ext uri="{FF2B5EF4-FFF2-40B4-BE49-F238E27FC236}">
                <a16:creationId xmlns:a16="http://schemas.microsoft.com/office/drawing/2014/main" id="{F3851BF3-76D2-D5E7-A4A8-9CDBF5AA32DB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85737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/>
              <a:t>A session is a component of study</a:t>
            </a:r>
          </a:p>
          <a:p>
            <a:r>
              <a:rPr lang="en-AU"/>
              <a:t>Sessions may include:</a:t>
            </a:r>
            <a:endParaRPr lang="en-AU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Notes</a:t>
            </a:r>
            <a:endParaRPr lang="en-AU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Demonstrations</a:t>
            </a:r>
            <a:endParaRPr lang="en-AU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Challenges</a:t>
            </a:r>
            <a:endParaRPr lang="en-AU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Out of class activities</a:t>
            </a:r>
            <a:endParaRPr lang="en-AU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/>
            </a:br>
            <a:r>
              <a:rPr lang="en-AU"/>
              <a:t>1: Background to the Web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119937433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33EE-67C5-E7FD-3FCA-2C551D0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The internet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1D1-67CC-9304-7CFE-472F2F63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000">
              <a:ea typeface="+mn-lt"/>
              <a:cs typeface="+mn-lt"/>
            </a:endParaRP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Network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PAN, LAN, WAN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Intranet, extranet, internet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Tim Berners-Lee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CERN</a:t>
            </a:r>
            <a:endParaRPr lang="en-US" sz="26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7767268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33EE-67C5-E7FD-3FCA-2C551D0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Client/Server Side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1D1-67CC-9304-7CFE-472F2F63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914400" lvl="1" indent="-457200"/>
            <a:r>
              <a:rPr lang="en-US" sz="2600">
                <a:latin typeface="Arial"/>
                <a:cs typeface="Arial"/>
              </a:rPr>
              <a:t>Protocols (TCP/IP) - Transmission Control &amp; Internet</a:t>
            </a:r>
            <a:endParaRPr lang="en-US" sz="2600">
              <a:latin typeface="Calibri" panose="020F0502020204030204"/>
              <a:cs typeface="Calibri" panose="020F0502020204030204"/>
            </a:endParaRP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WWW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URI – Uniform Resource Identifier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HTTP - </a:t>
            </a:r>
            <a:r>
              <a:rPr lang="en-US" sz="2600">
                <a:latin typeface="Arial"/>
                <a:ea typeface="+mn-lt"/>
                <a:cs typeface="Arial"/>
              </a:rPr>
              <a:t>Hypertext Transfer Protocol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Client – content is manipulated at presentation stage</a:t>
            </a: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Server – content is manipulated by the server</a:t>
            </a:r>
            <a:endParaRPr lang="en-US" sz="26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6341113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33EE-67C5-E7FD-3FCA-2C551D0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Open source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1D1-67CC-9304-7CFE-472F2F63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AU" sz="2600">
                <a:latin typeface="Arial"/>
                <a:cs typeface="Arial"/>
              </a:rPr>
              <a:t>Early ideas now across other areas</a:t>
            </a:r>
            <a:endParaRPr lang="en-US" sz="2600">
              <a:latin typeface="Arial"/>
              <a:cs typeface="Arial"/>
            </a:endParaRPr>
          </a:p>
          <a:p>
            <a:pPr lvl="1"/>
            <a:r>
              <a:rPr lang="en-AU" sz="2600">
                <a:latin typeface="Arial"/>
                <a:cs typeface="Arial"/>
              </a:rPr>
              <a:t>Decentralised</a:t>
            </a:r>
            <a:endParaRPr lang="en-US" sz="2600">
              <a:latin typeface="Arial"/>
              <a:cs typeface="Arial"/>
            </a:endParaRPr>
          </a:p>
          <a:p>
            <a:pPr lvl="1"/>
            <a:r>
              <a:rPr lang="en-AU" sz="2600">
                <a:latin typeface="Arial"/>
                <a:cs typeface="Arial"/>
              </a:rPr>
              <a:t>Non-Discrimination</a:t>
            </a:r>
            <a:endParaRPr lang="en-US" sz="2600">
              <a:latin typeface="Arial"/>
              <a:cs typeface="Arial"/>
            </a:endParaRPr>
          </a:p>
          <a:p>
            <a:pPr lvl="1"/>
            <a:r>
              <a:rPr lang="en-AU" sz="2600">
                <a:latin typeface="Arial"/>
                <a:cs typeface="Arial"/>
              </a:rPr>
              <a:t>Bottom Up Design</a:t>
            </a:r>
            <a:endParaRPr lang="en-US" sz="2600">
              <a:latin typeface="Arial"/>
              <a:cs typeface="Arial"/>
            </a:endParaRPr>
          </a:p>
          <a:p>
            <a:pPr lvl="1"/>
            <a:r>
              <a:rPr lang="en-AU" sz="2600">
                <a:latin typeface="Arial"/>
                <a:cs typeface="Arial"/>
              </a:rPr>
              <a:t>Universality</a:t>
            </a:r>
            <a:endParaRPr lang="en-US" sz="2600">
              <a:latin typeface="Arial"/>
              <a:cs typeface="Arial"/>
            </a:endParaRPr>
          </a:p>
          <a:p>
            <a:pPr lvl="1"/>
            <a:r>
              <a:rPr lang="en-AU" sz="2600">
                <a:latin typeface="Arial"/>
                <a:cs typeface="Arial"/>
              </a:rPr>
              <a:t>Consensus</a:t>
            </a:r>
            <a:endParaRPr lang="en-US" sz="26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109237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33EE-67C5-E7FD-3FCA-2C551D05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27" y="1016569"/>
            <a:ext cx="10515600" cy="921254"/>
          </a:xfrm>
        </p:spPr>
        <p:txBody>
          <a:bodyPr/>
          <a:lstStyle/>
          <a:p>
            <a:r>
              <a:rPr lang="en-US">
                <a:cs typeface="Calibri"/>
              </a:rPr>
              <a:t>Trinity of Standards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1D1-67CC-9304-7CFE-472F2F63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227" y="2072760"/>
            <a:ext cx="10515600" cy="16431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AU" sz="2600">
                <a:latin typeface="Arial"/>
                <a:cs typeface="Arial"/>
              </a:rPr>
              <a:t>Behaviour - JavaScript</a:t>
            </a:r>
          </a:p>
          <a:p>
            <a:pPr lvl="1"/>
            <a:r>
              <a:rPr lang="en-AU" sz="2600">
                <a:latin typeface="Arial"/>
                <a:cs typeface="Arial"/>
              </a:rPr>
              <a:t>Presentation - CSS</a:t>
            </a:r>
          </a:p>
          <a:p>
            <a:pPr lvl="1"/>
            <a:r>
              <a:rPr lang="en-AU" sz="2600">
                <a:latin typeface="Arial"/>
                <a:cs typeface="Arial"/>
              </a:rPr>
              <a:t>Content &amp; Structure - HTML</a:t>
            </a:r>
            <a:endParaRPr lang="en-US" sz="2600">
              <a:latin typeface="Arial"/>
              <a:cs typeface="Arial"/>
            </a:endParaRPr>
          </a:p>
          <a:p>
            <a:pPr lvl="1"/>
            <a:endParaRPr lang="en-AU" sz="2600">
              <a:latin typeface="Arial"/>
              <a:cs typeface="Arial"/>
            </a:endParaRPr>
          </a:p>
          <a:p>
            <a:endParaRPr lang="en-AU" sz="1000">
              <a:latin typeface="Arial"/>
              <a:cs typeface="Arial"/>
            </a:endParaRPr>
          </a:p>
          <a:p>
            <a:endParaRPr lang="en-AU" sz="1000">
              <a:latin typeface="Arial"/>
              <a:cs typeface="Arial"/>
            </a:endParaRPr>
          </a:p>
          <a:p>
            <a:pPr lvl="1"/>
            <a:endParaRPr lang="en-AU"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2320794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33EE-67C5-E7FD-3FCA-2C551D05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76" y="1531434"/>
            <a:ext cx="10515600" cy="643227"/>
          </a:xfrm>
        </p:spPr>
        <p:txBody>
          <a:bodyPr>
            <a:normAutofit fontScale="90000"/>
          </a:bodyPr>
          <a:lstStyle/>
          <a:p>
            <a:pPr lvl="1" algn="l" rtl="0">
              <a:spcBef>
                <a:spcPts val="300"/>
              </a:spcBef>
              <a:spcAft>
                <a:spcPts val="300"/>
              </a:spcAft>
            </a:pPr>
            <a:r>
              <a:rPr lang="en-US" sz="4400" kern="1200">
                <a:solidFill>
                  <a:srgbClr val="F2F2F2"/>
                </a:solidFill>
                <a:latin typeface="Calibri"/>
                <a:cs typeface="Calibri"/>
              </a:rPr>
              <a:t>Hyper Text Mark Up Language (HTML)</a:t>
            </a:r>
            <a:br>
              <a:rPr lang="en-US" sz="4400" kern="1200">
                <a:latin typeface="+mj-lt"/>
                <a:ea typeface="+mj-ea"/>
                <a:cs typeface="Calibri"/>
              </a:rPr>
            </a:br>
            <a:endParaRPr lang="en-US" sz="4400" kern="1200">
              <a:solidFill>
                <a:srgbClr val="F2F2F2"/>
              </a:solidFill>
              <a:latin typeface="+mj-lt"/>
              <a:ea typeface="+mj-ea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1D1-67CC-9304-7CFE-472F2F63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768" y="1393140"/>
            <a:ext cx="10515600" cy="1251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AU" sz="3000">
              <a:latin typeface="Arial"/>
              <a:cs typeface="Arial"/>
            </a:endParaRPr>
          </a:p>
          <a:p>
            <a:pPr lvl="1"/>
            <a:r>
              <a:rPr lang="en-AU" sz="2600">
                <a:latin typeface="Arial"/>
                <a:cs typeface="Arial"/>
              </a:rPr>
              <a:t>XHTML, HTML 2- 5</a:t>
            </a:r>
            <a:endParaRPr lang="en-US" sz="2600">
              <a:latin typeface="Arial"/>
              <a:cs typeface="Arial"/>
            </a:endParaRPr>
          </a:p>
          <a:p>
            <a:pPr lvl="1"/>
            <a:endParaRPr lang="en-AU" sz="260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000A2-583E-B315-CAF8-DEAD3F4DEA8C}"/>
              </a:ext>
            </a:extLst>
          </p:cNvPr>
          <p:cNvSpPr txBox="1"/>
          <p:nvPr/>
        </p:nvSpPr>
        <p:spPr>
          <a:xfrm>
            <a:off x="1341738" y="2845143"/>
            <a:ext cx="6820929" cy="16235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2F2F2"/>
                </a:solidFill>
                <a:cs typeface="Calibri"/>
              </a:rPr>
              <a:t>Cascading Style Sheets (CSS)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AU" sz="2600">
                <a:solidFill>
                  <a:srgbClr val="F2F2F2"/>
                </a:solidFill>
                <a:latin typeface="Arial"/>
                <a:cs typeface="Arial"/>
              </a:rPr>
              <a:t>CSS 1- 3</a:t>
            </a:r>
            <a:endParaRPr lang="en-US" sz="2600">
              <a:solidFill>
                <a:srgbClr val="F2F2F2"/>
              </a:solidFill>
              <a:latin typeface="Arial"/>
              <a:cs typeface="Arial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AU" sz="2600">
              <a:solidFill>
                <a:srgbClr val="F2F2F2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31F87-0ABC-4B9C-D894-C5FBF9B058A7}"/>
              </a:ext>
            </a:extLst>
          </p:cNvPr>
          <p:cNvSpPr txBox="1"/>
          <p:nvPr/>
        </p:nvSpPr>
        <p:spPr>
          <a:xfrm>
            <a:off x="1372630" y="4379440"/>
            <a:ext cx="6820929" cy="1685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2F2F2"/>
                </a:solidFill>
                <a:cs typeface="Calibri"/>
              </a:rPr>
              <a:t>JavaScript (JS)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AU" sz="2600">
                <a:solidFill>
                  <a:srgbClr val="F2F2F2"/>
                </a:solidFill>
                <a:latin typeface="Arial"/>
                <a:cs typeface="Arial"/>
              </a:rPr>
              <a:t>ES1- 6 – aka ECMA Script Versions</a:t>
            </a:r>
            <a:endParaRPr lang="en-US" sz="2600">
              <a:solidFill>
                <a:srgbClr val="F2F2F2"/>
              </a:solidFill>
              <a:latin typeface="Arial"/>
              <a:cs typeface="Arial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AU" sz="2600">
              <a:solidFill>
                <a:srgbClr val="F2F2F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718766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2: HTML 5 – Basic Page Structure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&lt;!doctype html&gt;</a:t>
            </a:r>
            <a:endParaRPr lang="en-US">
              <a:solidFill>
                <a:schemeClr val="accent3"/>
              </a:solidFill>
              <a:latin typeface="Consolas"/>
              <a:cs typeface="Calibri"/>
            </a:endParaRP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&lt;html lang=“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en</a:t>
            </a:r>
            <a:r>
              <a:rPr lang="en-US">
                <a:solidFill>
                  <a:schemeClr val="accent3"/>
                </a:solidFill>
                <a:latin typeface="Consolas"/>
              </a:rPr>
              <a:t>-au”&gt;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&lt;head&gt;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  &lt;title&gt;Untitled Document&lt;/title&gt;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&lt;/head&gt;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&lt;body&gt;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&lt;!-- content --&gt;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&lt;h1&gt;This is a web page&lt;/h1&gt;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&lt;p&gt;An example of a basic page with no extra structure&lt;/p&gt;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&lt;p&gt;The &amp;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lt</a:t>
            </a:r>
            <a:r>
              <a:rPr lang="en-US">
                <a:solidFill>
                  <a:schemeClr val="accent3"/>
                </a:solidFill>
                <a:latin typeface="Consolas"/>
              </a:rPr>
              <a:t>;!-- content --&amp;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gt</a:t>
            </a:r>
            <a:r>
              <a:rPr lang="en-US">
                <a:solidFill>
                  <a:schemeClr val="accent3"/>
                </a:solidFill>
                <a:latin typeface="Consolas"/>
              </a:rPr>
              <a:t>; is a comment.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&lt;/body&gt;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&lt;/html&gt;</a:t>
            </a:r>
            <a:endParaRPr lang="en-AU">
              <a:solidFill>
                <a:schemeClr val="accent3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08392968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1 Group Challenge 1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309242050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664411" cy="25333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lvl="1" indent="0">
              <a:buNone/>
            </a:pPr>
            <a:endParaRPr lang="en-US" sz="2600" dirty="0">
              <a:latin typeface="Arial"/>
              <a:ea typeface="Calibri" panose="020F0502020204030204" pitchFamily="34" charset="0"/>
              <a:cs typeface="Arial"/>
            </a:endParaRPr>
          </a:p>
          <a:p>
            <a:pPr marL="914400" lvl="1" indent="-457200"/>
            <a:r>
              <a:rPr lang="en-US" sz="3200" dirty="0">
                <a:latin typeface="Arial"/>
                <a:ea typeface="Calibri" panose="020F0502020204030204" pitchFamily="34" charset="0"/>
                <a:cs typeface="Arial"/>
              </a:rPr>
              <a:t>What is my name?</a:t>
            </a:r>
          </a:p>
          <a:p>
            <a:pPr marL="914400" lvl="1" indent="-457200"/>
            <a:r>
              <a:rPr lang="en-US" sz="3200" dirty="0">
                <a:latin typeface="Arial"/>
                <a:ea typeface="Calibri" panose="020F0502020204030204" pitchFamily="34" charset="0"/>
                <a:cs typeface="Arial"/>
              </a:rPr>
              <a:t>What is my experience?</a:t>
            </a:r>
          </a:p>
          <a:p>
            <a:pPr marL="914400" lvl="1" indent="-457200"/>
            <a:r>
              <a:rPr lang="en-US" sz="3200" dirty="0">
                <a:latin typeface="Arial"/>
                <a:ea typeface="Calibri" panose="020F0502020204030204" pitchFamily="34" charset="0"/>
                <a:cs typeface="Arial"/>
              </a:rPr>
              <a:t>What am I looking to achieve?</a:t>
            </a:r>
          </a:p>
        </p:txBody>
      </p:sp>
    </p:spTree>
    <p:extLst>
      <p:ext uri="{BB962C8B-B14F-4D97-AF65-F5344CB8AC3E}">
        <p14:creationId xmlns:p14="http://schemas.microsoft.com/office/powerpoint/2010/main" val="59978668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1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664411" cy="34142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lvl="1" indent="0">
              <a:buNone/>
            </a:pPr>
            <a:r>
              <a:rPr lang="en-US" sz="2600">
                <a:latin typeface="Arial"/>
                <a:ea typeface="Calibri" panose="020F0502020204030204" pitchFamily="34" charset="0"/>
                <a:cs typeface="Arial"/>
              </a:rPr>
              <a:t>What do the following 5 terms stand for?</a:t>
            </a:r>
            <a:endParaRPr lang="en-US"/>
          </a:p>
          <a:p>
            <a:pPr marL="457200" lvl="1" indent="0">
              <a:buNone/>
            </a:pPr>
            <a:endParaRPr lang="en-US" sz="2600">
              <a:latin typeface="Arial"/>
              <a:ea typeface="Calibri" panose="020F0502020204030204" pitchFamily="34" charset="0"/>
              <a:cs typeface="Arial"/>
            </a:endParaRPr>
          </a:p>
          <a:p>
            <a:pPr marL="914400" lvl="1" indent="-457200"/>
            <a:r>
              <a:rPr lang="en-US" sz="2600">
                <a:latin typeface="Arial"/>
                <a:ea typeface="Calibri" panose="020F0502020204030204" pitchFamily="34" charset="0"/>
                <a:cs typeface="Arial"/>
              </a:rPr>
              <a:t>PAN</a:t>
            </a:r>
          </a:p>
          <a:p>
            <a:pPr marL="914400" lvl="1" indent="-457200"/>
            <a:r>
              <a:rPr lang="en-US" sz="2600">
                <a:latin typeface="Arial"/>
                <a:ea typeface="Calibri" panose="020F0502020204030204" pitchFamily="34" charset="0"/>
                <a:cs typeface="Arial"/>
              </a:rPr>
              <a:t>LAN</a:t>
            </a:r>
          </a:p>
          <a:p>
            <a:pPr marL="914400" lvl="1" indent="-457200"/>
            <a:r>
              <a:rPr lang="en-US" sz="2600">
                <a:latin typeface="Arial"/>
                <a:ea typeface="Calibri" panose="020F0502020204030204" pitchFamily="34" charset="0"/>
                <a:cs typeface="Arial"/>
              </a:rPr>
              <a:t>WAN</a:t>
            </a:r>
            <a:endParaRPr lang="en-US" sz="2600">
              <a:solidFill>
                <a:srgbClr val="F2F2F2"/>
              </a:solidFill>
              <a:effectLst/>
              <a:latin typeface="Arial"/>
              <a:ea typeface="Calibri" panose="020F0502020204030204" pitchFamily="34" charset="0"/>
              <a:cs typeface="Arial"/>
            </a:endParaRPr>
          </a:p>
          <a:p>
            <a:pPr marL="914400" lvl="1" indent="-457200"/>
            <a:r>
              <a:rPr lang="en-US" sz="2600">
                <a:latin typeface="Arial"/>
                <a:ea typeface="Calibri" panose="020F0502020204030204" pitchFamily="34" charset="0"/>
                <a:cs typeface="Arial"/>
              </a:rPr>
              <a:t>Intranet</a:t>
            </a:r>
            <a:endParaRPr lang="en-AU">
              <a:latin typeface="Calibri"/>
              <a:ea typeface="Calibri" panose="020F0502020204030204" pitchFamily="34" charset="0"/>
              <a:cs typeface="Calibri" panose="020F0502020204030204"/>
            </a:endParaRPr>
          </a:p>
          <a:p>
            <a:pPr marL="914400" lvl="1" indent="-457200"/>
            <a:r>
              <a:rPr lang="en-US" sz="2600">
                <a:latin typeface="Arial"/>
                <a:cs typeface="Arial"/>
              </a:rPr>
              <a:t>Extranet</a:t>
            </a:r>
            <a:endParaRPr lang="en-AU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0944299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What is HTTP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301875"/>
            <a:ext cx="10515599" cy="26511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3700" dirty="0"/>
              <a:t>HTTP (Hypertext Transfer Protocol) is the foundation of data communication on the web.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700" dirty="0"/>
              <a:t>HTTP is a stateless protocol, meaning each request is independent.</a:t>
            </a:r>
          </a:p>
        </p:txBody>
      </p:sp>
    </p:spTree>
    <p:extLst>
      <p:ext uri="{BB962C8B-B14F-4D97-AF65-F5344CB8AC3E}">
        <p14:creationId xmlns:p14="http://schemas.microsoft.com/office/powerpoint/2010/main" val="3442700768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HTTP 1 vs 2</a:t>
            </a:r>
            <a:endParaRPr lang="en-AU" dirty="0"/>
          </a:p>
        </p:txBody>
      </p:sp>
      <p:pic>
        <p:nvPicPr>
          <p:cNvPr id="4" name="Content Placeholder 3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D4F3FC46-ED89-CC0D-C841-BD58378033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97111" y="1690688"/>
            <a:ext cx="5397777" cy="38546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AAACDE-9355-C6A5-5AE4-D3C75F098623}"/>
              </a:ext>
            </a:extLst>
          </p:cNvPr>
          <p:cNvSpPr txBox="1"/>
          <p:nvPr/>
        </p:nvSpPr>
        <p:spPr>
          <a:xfrm>
            <a:off x="1038225" y="5888511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https://code.tutsplus.com/http-the-protocol-every-web-developer-must-know-part-1--net-31177t</a:t>
            </a:r>
            <a:endParaRPr lang="en-AU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058550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/>
            </a:br>
            <a:r>
              <a:rPr lang="en-AU"/>
              <a:t>Session 1 Challenge 2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340700352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/>
              <a:t>Challenge 2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/>
            <a:r>
              <a:rPr lang="en-US"/>
              <a:t>Can you name the nine HTTP request methods?</a:t>
            </a:r>
          </a:p>
          <a:p>
            <a:pPr lvl="1"/>
            <a:r>
              <a:rPr lang="en-US"/>
              <a:t>Pick three and describe what these request types do?</a:t>
            </a:r>
          </a:p>
          <a:p>
            <a:pPr lvl="1"/>
            <a:r>
              <a:rPr lang="en-US"/>
              <a:t>Which request only retrieves data from a server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760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URI/URL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AU" sz="3500" dirty="0"/>
              <a:t>Uniform Resource Identifier: A generic term for all types of names and addresses.</a:t>
            </a:r>
          </a:p>
          <a:p>
            <a:r>
              <a:rPr lang="en-AU" sz="3500" dirty="0"/>
              <a:t>Uniform Resource Locator: A specific type of URI that includes location information.</a:t>
            </a:r>
          </a:p>
          <a:p>
            <a:r>
              <a:rPr lang="en-AU" sz="3500" dirty="0"/>
              <a:t>Components of a URL: scheme, host, path, query &amp; fragment.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700" dirty="0"/>
          </a:p>
        </p:txBody>
      </p:sp>
    </p:spTree>
    <p:extLst>
      <p:ext uri="{BB962C8B-B14F-4D97-AF65-F5344CB8AC3E}">
        <p14:creationId xmlns:p14="http://schemas.microsoft.com/office/powerpoint/2010/main" val="116214347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The </a:t>
            </a:r>
            <a:r>
              <a:rPr dirty="0"/>
              <a:t>Domain Name System</a:t>
            </a:r>
            <a:r>
              <a:rPr lang="en-AU" dirty="0"/>
              <a:t> </a:t>
            </a:r>
            <a:r>
              <a:rPr dirty="0"/>
              <a:t>translates human-readable domain names</a:t>
            </a:r>
            <a:r>
              <a:rPr lang="en-AU" dirty="0"/>
              <a:t>:</a:t>
            </a:r>
          </a:p>
          <a:p>
            <a:pPr marL="0" indent="0">
              <a:buNone/>
            </a:pPr>
            <a:endParaRPr lang="en-AU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dirty="0">
                <a:latin typeface="+mj-lt"/>
              </a:rPr>
              <a:t>Example:</a:t>
            </a:r>
          </a:p>
          <a:p>
            <a:pPr lvl="1"/>
            <a:r>
              <a:rPr lang="en-AU" sz="2800" dirty="0">
                <a:latin typeface="Consolas" panose="020B0609020204030204" pitchFamily="49" charset="0"/>
              </a:rPr>
              <a:t>dev.screencraft.net.au</a:t>
            </a:r>
          </a:p>
          <a:p>
            <a:pPr lvl="1"/>
            <a:r>
              <a:rPr sz="2800" dirty="0">
                <a:latin typeface="Consolas" panose="020B0609020204030204" pitchFamily="49" charset="0"/>
              </a:rPr>
              <a:t>IP addresses </a:t>
            </a:r>
            <a:r>
              <a:rPr lang="en-AU" sz="2800" dirty="0">
                <a:latin typeface="Consolas" panose="020B0609020204030204" pitchFamily="49" charset="0"/>
              </a:rPr>
              <a:t>is </a:t>
            </a:r>
            <a:r>
              <a:rPr sz="2800" dirty="0">
                <a:latin typeface="Consolas" panose="020B0609020204030204" pitchFamily="49" charset="0"/>
              </a:rPr>
              <a:t>192.168.1.1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DNS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dirty="0"/>
              <a:t>User enters a domain name in a browser</a:t>
            </a:r>
          </a:p>
          <a:p>
            <a:pPr marL="742950" indent="-742950">
              <a:buFont typeface="+mj-lt"/>
              <a:buAutoNum type="arabicPeriod"/>
            </a:pPr>
            <a:r>
              <a:rPr dirty="0"/>
              <a:t>The request is sent to a DNS resolver</a:t>
            </a:r>
          </a:p>
          <a:p>
            <a:pPr marL="742950" indent="-742950">
              <a:buFont typeface="+mj-lt"/>
              <a:buAutoNum type="arabicPeriod"/>
            </a:pPr>
            <a:r>
              <a:rPr dirty="0"/>
              <a:t>If cached</a:t>
            </a:r>
            <a:r>
              <a:rPr lang="en-AU" dirty="0"/>
              <a:t> </a:t>
            </a:r>
            <a:r>
              <a:rPr dirty="0"/>
              <a:t>the IP</a:t>
            </a:r>
            <a:r>
              <a:rPr lang="en-AU" dirty="0"/>
              <a:t> is returned</a:t>
            </a:r>
            <a:r>
              <a:rPr dirty="0"/>
              <a:t>; otherwise, </a:t>
            </a:r>
            <a:r>
              <a:rPr lang="en-AU" dirty="0"/>
              <a:t>the DNS checks</a:t>
            </a:r>
            <a:r>
              <a:rPr dirty="0"/>
              <a:t>:</a:t>
            </a:r>
          </a:p>
          <a:p>
            <a:pPr lvl="1"/>
            <a:r>
              <a:rPr dirty="0"/>
              <a:t>   - Root DNS servers</a:t>
            </a:r>
          </a:p>
          <a:p>
            <a:pPr lvl="1"/>
            <a:r>
              <a:rPr dirty="0"/>
              <a:t>   - Top-Level Domain servers</a:t>
            </a:r>
          </a:p>
          <a:p>
            <a:pPr lvl="1"/>
            <a:r>
              <a:rPr dirty="0"/>
              <a:t>   - Authoritative name servers</a:t>
            </a:r>
          </a:p>
          <a:p>
            <a:pPr marL="742950" indent="-742950">
              <a:buFont typeface="+mj-lt"/>
              <a:buAutoNum type="arabicPeriod"/>
            </a:pPr>
            <a:r>
              <a:rPr dirty="0"/>
              <a:t>The resolved IP address is used to load the</a:t>
            </a:r>
            <a:r>
              <a:rPr lang="en-AU" dirty="0"/>
              <a:t> code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1 Challenge 3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2658130713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5F854F-51A8-6DFD-E8A2-6C8EC556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Session 1 Challenge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B518C3-D0F5-BDA8-B19C-77C2A5EE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In your groups identify how a cloud platform uses</a:t>
            </a:r>
          </a:p>
          <a:p>
            <a:pPr lvl="1"/>
            <a:r>
              <a:rPr lang="en-AU" dirty="0"/>
              <a:t>IP Addresses</a:t>
            </a:r>
          </a:p>
          <a:p>
            <a:pPr lvl="1"/>
            <a:r>
              <a:rPr lang="en-AU" dirty="0"/>
              <a:t>URI &amp; URL</a:t>
            </a:r>
          </a:p>
          <a:p>
            <a:pPr lvl="1"/>
            <a:r>
              <a:rPr lang="en-AU" dirty="0"/>
              <a:t>DNS</a:t>
            </a:r>
          </a:p>
          <a:p>
            <a:pPr marL="0" indent="0">
              <a:buNone/>
            </a:pPr>
            <a:r>
              <a:rPr lang="en-AU" dirty="0"/>
              <a:t>Are they different to traditional servers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267171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Making a GET HTTP Request to API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077576" cy="3632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3200" dirty="0"/>
              <a:t>Open/Download Postman (or in the browser inspector)</a:t>
            </a:r>
          </a:p>
          <a:p>
            <a:pPr lvl="1"/>
            <a:r>
              <a:rPr lang="en-AU" sz="2800" dirty="0"/>
              <a:t>Go to </a:t>
            </a:r>
            <a:r>
              <a:rPr lang="en-AU" sz="2400" dirty="0">
                <a:solidFill>
                  <a:schemeClr val="accent1"/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https://reqres.in/</a:t>
            </a:r>
            <a:endParaRPr lang="en-AU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AU" sz="3200" dirty="0"/>
              <a:t>Add the following URL </a:t>
            </a:r>
            <a:r>
              <a:rPr lang="en-AU" sz="3200" dirty="0" err="1"/>
              <a:t>pathe</a:t>
            </a:r>
            <a:r>
              <a:rPr lang="en-AU" sz="3200" dirty="0"/>
              <a:t> &amp; parameter</a:t>
            </a:r>
          </a:p>
          <a:p>
            <a:pPr lvl="1"/>
            <a:r>
              <a:rPr lang="fr-FR" sz="2400" dirty="0">
                <a:solidFill>
                  <a:schemeClr val="accent1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https://reqres.in/api/users?page=2</a:t>
            </a:r>
            <a:endParaRPr lang="fr-FR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AU" sz="3200" dirty="0">
                <a:solidFill>
                  <a:schemeClr val="tx1"/>
                </a:solidFill>
              </a:rPr>
              <a:t>Paste the URL into a </a:t>
            </a:r>
            <a:r>
              <a:rPr lang="en-AU" sz="3200" dirty="0">
                <a:solidFill>
                  <a:schemeClr val="accent3"/>
                </a:solidFill>
              </a:rPr>
              <a:t>GET</a:t>
            </a:r>
            <a:r>
              <a:rPr lang="en-AU" sz="3200" dirty="0">
                <a:solidFill>
                  <a:schemeClr val="tx1"/>
                </a:solidFill>
              </a:rPr>
              <a:t> request in Postman/Refresh the browser page</a:t>
            </a:r>
            <a:endParaRPr lang="en-AU" sz="3500" dirty="0"/>
          </a:p>
          <a:p>
            <a:pPr>
              <a:buFont typeface="Arial" panose="020B0604020202020204" pitchFamily="34" charset="0"/>
              <a:buChar char="•"/>
            </a:pPr>
            <a:endParaRPr lang="en-AU" sz="3700" dirty="0"/>
          </a:p>
        </p:txBody>
      </p:sp>
    </p:spTree>
    <p:extLst>
      <p:ext uri="{BB962C8B-B14F-4D97-AF65-F5344CB8AC3E}">
        <p14:creationId xmlns:p14="http://schemas.microsoft.com/office/powerpoint/2010/main" val="2496322783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Constructing the URL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11231881" cy="39846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dirty="0"/>
              <a:t>Notice the following parameters, these build an address for us to make our </a:t>
            </a:r>
            <a:r>
              <a:rPr lang="en-AU" sz="3200" b="1" dirty="0">
                <a:solidFill>
                  <a:srgbClr val="FFC000"/>
                </a:solidFill>
              </a:rPr>
              <a:t>request</a:t>
            </a:r>
            <a:r>
              <a:rPr lang="en-AU" sz="3200" dirty="0"/>
              <a:t> to.</a:t>
            </a:r>
          </a:p>
          <a:p>
            <a:pPr marL="0" indent="0">
              <a:buNone/>
            </a:pPr>
            <a:endParaRPr lang="en-AU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api</a:t>
            </a:r>
            <a:endParaRPr lang="en-AU" sz="26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accent1"/>
                </a:solidFill>
                <a:latin typeface="Consolas" panose="020B0609020204030204" pitchFamily="49" charset="0"/>
              </a:rPr>
              <a:t>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accent1"/>
                </a:solidFill>
                <a:latin typeface="Consolas" panose="020B0609020204030204" pitchFamily="49" charset="0"/>
              </a:rPr>
              <a:t>page=2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Consider the </a:t>
            </a:r>
            <a:r>
              <a:rPr lang="en-AU" sz="3200" b="1" dirty="0"/>
              <a:t>key/value </a:t>
            </a:r>
            <a:r>
              <a:rPr lang="en-AU" sz="3200" dirty="0"/>
              <a:t>pair nature of the data you are receiving in the </a:t>
            </a:r>
            <a:r>
              <a:rPr lang="en-AU" sz="3200" b="1" dirty="0">
                <a:solidFill>
                  <a:srgbClr val="FFC000"/>
                </a:solidFill>
              </a:rPr>
              <a:t>response</a:t>
            </a:r>
            <a:r>
              <a:rPr lang="en-AU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5949120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Headers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AU" sz="3500" dirty="0"/>
              <a:t>Headers provide metadata about the </a:t>
            </a:r>
            <a:r>
              <a:rPr lang="en-AU" sz="3500" dirty="0">
                <a:solidFill>
                  <a:schemeClr val="accent3"/>
                </a:solidFill>
              </a:rPr>
              <a:t>request </a:t>
            </a:r>
            <a:r>
              <a:rPr lang="en-AU" sz="3500" dirty="0"/>
              <a:t>or </a:t>
            </a:r>
            <a:r>
              <a:rPr lang="en-AU" sz="3500" dirty="0">
                <a:solidFill>
                  <a:schemeClr val="accent1"/>
                </a:solidFill>
              </a:rPr>
              <a:t>response.</a:t>
            </a:r>
            <a:endParaRPr lang="en-AU" sz="3500" dirty="0"/>
          </a:p>
          <a:p>
            <a:r>
              <a:rPr lang="en-AU" sz="3500" dirty="0"/>
              <a:t>This can include:</a:t>
            </a:r>
          </a:p>
          <a:p>
            <a:pPr lvl="1"/>
            <a:r>
              <a:rPr lang="en-AU" sz="2800" dirty="0"/>
              <a:t>server settings</a:t>
            </a:r>
          </a:p>
          <a:p>
            <a:pPr lvl="1"/>
            <a:r>
              <a:rPr lang="en-AU" sz="2800" dirty="0"/>
              <a:t>information on usage</a:t>
            </a:r>
          </a:p>
          <a:p>
            <a:pPr lvl="1"/>
            <a:r>
              <a:rPr lang="en-AU" sz="2800" dirty="0"/>
              <a:t>cached/stored data to make content delivery faster</a:t>
            </a:r>
          </a:p>
          <a:p>
            <a:pPr lvl="1"/>
            <a:r>
              <a:rPr lang="en-AU" sz="2800" dirty="0"/>
              <a:t>custom headers to transmit application specific information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700" dirty="0"/>
          </a:p>
        </p:txBody>
      </p:sp>
    </p:spTree>
    <p:extLst>
      <p:ext uri="{BB962C8B-B14F-4D97-AF65-F5344CB8AC3E}">
        <p14:creationId xmlns:p14="http://schemas.microsoft.com/office/powerpoint/2010/main" val="3787101529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Common HTTP Headers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6363"/>
            <a:ext cx="11229975" cy="4351338"/>
          </a:xfrm>
        </p:spPr>
        <p:txBody>
          <a:bodyPr>
            <a:noAutofit/>
          </a:bodyPr>
          <a:lstStyle/>
          <a:p>
            <a:r>
              <a:rPr lang="en-AU" sz="2400" dirty="0"/>
              <a:t>Content-Type : type of the resource or the data being sent to the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Content-Type: application</a:t>
            </a:r>
          </a:p>
          <a:p>
            <a:r>
              <a:rPr lang="en-AU" sz="2400" dirty="0"/>
              <a:t>Authorization: contains the credentials to authenticate a user (e.g. API Key)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Authorization: Bearer &lt;token&gt;</a:t>
            </a:r>
          </a:p>
          <a:p>
            <a:r>
              <a:rPr lang="en-AU" sz="2400" dirty="0"/>
              <a:t>Accept: Lets the server know what types of data the client can process.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Accept: application/</a:t>
            </a:r>
            <a:r>
              <a:rPr lang="en-AU" sz="2400" i="1" dirty="0" err="1">
                <a:solidFill>
                  <a:srgbClr val="FFC000"/>
                </a:solidFill>
              </a:rPr>
              <a:t>json</a:t>
            </a:r>
            <a:endParaRPr lang="en-AU" sz="2400" i="1" dirty="0">
              <a:solidFill>
                <a:srgbClr val="FFC000"/>
              </a:solidFill>
            </a:endParaRPr>
          </a:p>
          <a:p>
            <a:r>
              <a:rPr lang="en-AU" sz="2400" dirty="0"/>
              <a:t>Cache-Control: caching information in requests and response for prompt delivery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Cache-Control: no-cache</a:t>
            </a:r>
          </a:p>
          <a:p>
            <a:r>
              <a:rPr lang="en-AU" sz="2400" dirty="0" err="1"/>
              <a:t>Referer</a:t>
            </a:r>
            <a:r>
              <a:rPr lang="en-AU" sz="2400" dirty="0"/>
              <a:t>: Contains the address of the previous web page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 err="1">
                <a:solidFill>
                  <a:srgbClr val="FFC000"/>
                </a:solidFill>
              </a:rPr>
              <a:t>Referer</a:t>
            </a:r>
            <a:r>
              <a:rPr lang="en-AU" sz="2400" i="1" dirty="0">
                <a:solidFill>
                  <a:srgbClr val="FFC000"/>
                </a:solidFill>
              </a:rPr>
              <a:t>: https://example.com</a:t>
            </a:r>
          </a:p>
        </p:txBody>
      </p:sp>
    </p:spTree>
    <p:extLst>
      <p:ext uri="{BB962C8B-B14F-4D97-AF65-F5344CB8AC3E}">
        <p14:creationId xmlns:p14="http://schemas.microsoft.com/office/powerpoint/2010/main" val="1557466619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0874"/>
            <a:ext cx="6172200" cy="676275"/>
          </a:xfrm>
        </p:spPr>
        <p:txBody>
          <a:bodyPr anchor="b">
            <a:normAutofit fontScale="90000"/>
          </a:bodyPr>
          <a:lstStyle/>
          <a:p>
            <a:r>
              <a:rPr lang="en-AU" sz="4400" dirty="0"/>
              <a:t>Request &amp; Responses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518443"/>
            <a:ext cx="11114596" cy="3811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Let's look at our request in Postman: </a:t>
            </a:r>
            <a:r>
              <a:rPr lang="fr-FR" sz="2800" i="1" dirty="0">
                <a:solidFill>
                  <a:srgbClr val="FFC000"/>
                </a:solidFill>
              </a:rPr>
              <a:t>https://reqres.in/api/users?page=2</a:t>
            </a:r>
            <a:endParaRPr lang="en-AU" sz="2400" i="1" dirty="0"/>
          </a:p>
          <a:p>
            <a:r>
              <a:rPr lang="en-AU" sz="2400" i="1" dirty="0">
                <a:solidFill>
                  <a:schemeClr val="accent1"/>
                </a:solidFill>
              </a:rPr>
              <a:t>Review the headers using Postman</a:t>
            </a:r>
            <a:r>
              <a:rPr lang="en-AU" sz="2400" b="1" i="1" dirty="0">
                <a:solidFill>
                  <a:schemeClr val="tx1"/>
                </a:solidFill>
              </a:rPr>
              <a:t> </a:t>
            </a:r>
            <a:r>
              <a:rPr lang="en-AU" sz="2400" b="1" i="1" dirty="0" err="1">
                <a:solidFill>
                  <a:schemeClr val="tx1"/>
                </a:solidFill>
              </a:rPr>
              <a:t>i</a:t>
            </a:r>
            <a:r>
              <a:rPr lang="en-AU" sz="2400" b="1" i="1" dirty="0">
                <a:solidFill>
                  <a:schemeClr val="tx1"/>
                </a:solidFill>
              </a:rPr>
              <a:t> </a:t>
            </a:r>
            <a:r>
              <a:rPr lang="en-AU" sz="2400" i="1" dirty="0">
                <a:solidFill>
                  <a:schemeClr val="accent1"/>
                </a:solidFill>
              </a:rPr>
              <a:t>icon or in the Browser Inspector Network tab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B04E58A-B29C-8F04-063D-9BF8A0649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06" t="2015"/>
          <a:stretch/>
        </p:blipFill>
        <p:spPr>
          <a:xfrm>
            <a:off x="3110483" y="2648644"/>
            <a:ext cx="5971033" cy="355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30581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5466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Status Codes</a:t>
            </a:r>
            <a:endParaRPr lang="en-AU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791F07E-110F-AF88-4EC2-A483A5105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315816"/>
            <a:ext cx="4638675" cy="24978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Responses provide a:</a:t>
            </a:r>
          </a:p>
          <a:p>
            <a:pPr lvl="1"/>
            <a:r>
              <a:rPr lang="en-AU" sz="2800" dirty="0">
                <a:solidFill>
                  <a:schemeClr val="tx1"/>
                </a:solidFill>
              </a:rPr>
              <a:t>status line with the code</a:t>
            </a:r>
          </a:p>
          <a:p>
            <a:pPr lvl="1"/>
            <a:r>
              <a:rPr lang="en-AU" sz="2800" dirty="0">
                <a:solidFill>
                  <a:schemeClr val="tx1"/>
                </a:solidFill>
              </a:rPr>
              <a:t>headers as we discussed</a:t>
            </a:r>
          </a:p>
          <a:p>
            <a:pPr lvl="1"/>
            <a:r>
              <a:rPr lang="en-AU" sz="2800" dirty="0">
                <a:solidFill>
                  <a:schemeClr val="tx1"/>
                </a:solidFill>
              </a:rPr>
              <a:t>body containing your data/message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1066370-E451-3497-D28A-5BC1EBD19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2129414"/>
            <a:ext cx="6192449" cy="28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65604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Status Codes Ranges</a:t>
            </a:r>
            <a:endParaRPr lang="en-AU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791F07E-110F-AF88-4EC2-A483A5105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90688"/>
            <a:ext cx="9582150" cy="30236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200" dirty="0">
                <a:solidFill>
                  <a:schemeClr val="tx1"/>
                </a:solidFill>
              </a:rPr>
              <a:t>Status codes indicate the result of the request.</a:t>
            </a:r>
          </a:p>
          <a:p>
            <a:pPr marL="0" indent="0">
              <a:buNone/>
            </a:pPr>
            <a:endParaRPr lang="en-AU" sz="3200" dirty="0">
              <a:solidFill>
                <a:schemeClr val="tx1"/>
              </a:solidFill>
            </a:endParaRP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1xx</a:t>
            </a:r>
            <a:r>
              <a:rPr lang="en-AU" sz="2800" dirty="0">
                <a:solidFill>
                  <a:schemeClr val="tx1"/>
                </a:solidFill>
              </a:rPr>
              <a:t> - Informational only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2xx </a:t>
            </a:r>
            <a:r>
              <a:rPr lang="en-AU" sz="2800" dirty="0">
                <a:solidFill>
                  <a:schemeClr val="tx1"/>
                </a:solidFill>
              </a:rPr>
              <a:t>- Successful response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3xx</a:t>
            </a:r>
            <a:r>
              <a:rPr lang="en-AU" sz="2800" dirty="0">
                <a:solidFill>
                  <a:schemeClr val="tx1"/>
                </a:solidFill>
              </a:rPr>
              <a:t> - Redirection to another URI/URL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4xx</a:t>
            </a:r>
            <a:r>
              <a:rPr lang="en-AU" sz="2800" dirty="0">
                <a:solidFill>
                  <a:schemeClr val="tx1"/>
                </a:solidFill>
              </a:rPr>
              <a:t> - Client Errors - front end errors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5xx</a:t>
            </a:r>
            <a:r>
              <a:rPr lang="en-AU" sz="2800" dirty="0">
                <a:solidFill>
                  <a:schemeClr val="tx1"/>
                </a:solidFill>
              </a:rPr>
              <a:t> - Server Errors - backend errors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B726C-19F0-10B6-EB8A-8D375FEEF1CD}"/>
              </a:ext>
            </a:extLst>
          </p:cNvPr>
          <p:cNvSpPr txBox="1"/>
          <p:nvPr/>
        </p:nvSpPr>
        <p:spPr>
          <a:xfrm>
            <a:off x="838200" y="5565346"/>
            <a:ext cx="9934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chemeClr val="accent1"/>
                </a:solidFill>
              </a:rPr>
              <a:t>https://developer.mozilla.org/en-US/docs/Web/HTTP/Status</a:t>
            </a:r>
          </a:p>
        </p:txBody>
      </p:sp>
    </p:spTree>
    <p:extLst>
      <p:ext uri="{BB962C8B-B14F-4D97-AF65-F5344CB8AC3E}">
        <p14:creationId xmlns:p14="http://schemas.microsoft.com/office/powerpoint/2010/main" val="1253211923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Request &amp;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76363"/>
            <a:ext cx="7077074" cy="4805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There are several different methods however the most common relate to CRUD activities</a:t>
            </a:r>
          </a:p>
          <a:p>
            <a:pPr marL="0" indent="0">
              <a:buNone/>
            </a:pPr>
            <a:endParaRPr lang="en-AU" sz="2800" i="1" dirty="0">
              <a:solidFill>
                <a:srgbClr val="FFC000"/>
              </a:solidFill>
            </a:endParaRPr>
          </a:p>
          <a:p>
            <a:r>
              <a:rPr lang="en-AU" sz="2600" b="1" i="1" dirty="0">
                <a:solidFill>
                  <a:schemeClr val="accent3"/>
                </a:solidFill>
                <a:latin typeface="Consolas" panose="020B0609020204030204" pitchFamily="49" charset="0"/>
              </a:rPr>
              <a:t>GET</a:t>
            </a:r>
            <a:r>
              <a:rPr lang="en-AU" sz="2600" i="1" dirty="0">
                <a:solidFill>
                  <a:schemeClr val="accent1"/>
                </a:solidFill>
                <a:latin typeface="Consolas" panose="020B0609020204030204" pitchFamily="49" charset="0"/>
              </a:rPr>
              <a:t>: Retrieve data.</a:t>
            </a:r>
          </a:p>
          <a:p>
            <a:r>
              <a:rPr lang="en-AU" sz="2600" b="1" i="1" dirty="0">
                <a:solidFill>
                  <a:schemeClr val="accent3"/>
                </a:solidFill>
                <a:latin typeface="Consolas" panose="020B0609020204030204" pitchFamily="49" charset="0"/>
              </a:rPr>
              <a:t>POST</a:t>
            </a:r>
            <a:r>
              <a:rPr lang="en-AU" sz="2600" i="1" dirty="0">
                <a:solidFill>
                  <a:schemeClr val="accent1"/>
                </a:solidFill>
                <a:latin typeface="Consolas" panose="020B0609020204030204" pitchFamily="49" charset="0"/>
              </a:rPr>
              <a:t>: Send data to the server.</a:t>
            </a:r>
          </a:p>
          <a:p>
            <a:r>
              <a:rPr lang="en-AU" sz="2600" b="1" i="1" dirty="0">
                <a:solidFill>
                  <a:schemeClr val="accent3"/>
                </a:solidFill>
                <a:latin typeface="Consolas" panose="020B0609020204030204" pitchFamily="49" charset="0"/>
              </a:rPr>
              <a:t>PUT</a:t>
            </a:r>
            <a:r>
              <a:rPr lang="en-AU" sz="2600" i="1" dirty="0">
                <a:solidFill>
                  <a:schemeClr val="accent1"/>
                </a:solidFill>
                <a:latin typeface="Consolas" panose="020B0609020204030204" pitchFamily="49" charset="0"/>
              </a:rPr>
              <a:t>: Update existing data.</a:t>
            </a:r>
          </a:p>
          <a:p>
            <a:r>
              <a:rPr lang="en-AU" sz="2600" b="1" i="1" dirty="0">
                <a:solidFill>
                  <a:schemeClr val="accent3"/>
                </a:solidFill>
                <a:latin typeface="Consolas" panose="020B0609020204030204" pitchFamily="49" charset="0"/>
              </a:rPr>
              <a:t>DELETE</a:t>
            </a:r>
            <a:r>
              <a:rPr lang="en-AU" sz="2600" i="1" dirty="0">
                <a:solidFill>
                  <a:schemeClr val="accent1"/>
                </a:solidFill>
                <a:latin typeface="Consolas" panose="020B0609020204030204" pitchFamily="49" charset="0"/>
              </a:rPr>
              <a:t>: Remove data.</a:t>
            </a:r>
          </a:p>
          <a:p>
            <a:endParaRPr lang="en-AU" sz="2800" i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This how we manipulate data in databases.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5E2C8DE-68F6-F577-66EF-D05663CF3297}"/>
              </a:ext>
            </a:extLst>
          </p:cNvPr>
          <p:cNvSpPr txBox="1">
            <a:spLocks/>
          </p:cNvSpPr>
          <p:nvPr/>
        </p:nvSpPr>
        <p:spPr>
          <a:xfrm>
            <a:off x="8153401" y="1644055"/>
            <a:ext cx="3476624" cy="356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C</a:t>
            </a:r>
            <a:r>
              <a:rPr lang="en-AU" sz="5400" dirty="0">
                <a:solidFill>
                  <a:schemeClr val="tx1"/>
                </a:solidFill>
              </a:rPr>
              <a:t>REATE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R</a:t>
            </a:r>
            <a:r>
              <a:rPr lang="en-AU" sz="5400" dirty="0">
                <a:solidFill>
                  <a:schemeClr val="tx1"/>
                </a:solidFill>
              </a:rPr>
              <a:t>EAD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U</a:t>
            </a:r>
            <a:r>
              <a:rPr lang="en-AU" sz="5400" dirty="0">
                <a:solidFill>
                  <a:schemeClr val="tx1"/>
                </a:solidFill>
              </a:rPr>
              <a:t>PDATE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D</a:t>
            </a:r>
            <a:r>
              <a:rPr lang="en-AU" sz="5400" dirty="0">
                <a:solidFill>
                  <a:schemeClr val="tx1"/>
                </a:solidFill>
              </a:rPr>
              <a:t>ELETE</a:t>
            </a:r>
          </a:p>
        </p:txBody>
      </p:sp>
    </p:spTree>
    <p:extLst>
      <p:ext uri="{BB962C8B-B14F-4D97-AF65-F5344CB8AC3E}">
        <p14:creationId xmlns:p14="http://schemas.microsoft.com/office/powerpoint/2010/main" val="1849001126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88" y="791013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Client vs Server-Side Actions</a:t>
            </a:r>
            <a:endParaRPr lang="en-AU" dirty="0"/>
          </a:p>
        </p:txBody>
      </p:sp>
      <p:pic>
        <p:nvPicPr>
          <p:cNvPr id="6" name="Content Placeholder 5" descr="A diagram of a software flow&#10;&#10;Description automatically generated">
            <a:extLst>
              <a:ext uri="{FF2B5EF4-FFF2-40B4-BE49-F238E27FC236}">
                <a16:creationId xmlns:a16="http://schemas.microsoft.com/office/drawing/2014/main" id="{E926ACA1-E9BC-F5A0-4205-CAC4C91207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3050" y="2649553"/>
            <a:ext cx="4097862" cy="244457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EFFE4-7178-D95F-18EF-9646E0343A36}"/>
              </a:ext>
            </a:extLst>
          </p:cNvPr>
          <p:cNvSpPr txBox="1"/>
          <p:nvPr/>
        </p:nvSpPr>
        <p:spPr>
          <a:xfrm>
            <a:off x="266564" y="5524719"/>
            <a:ext cx="55639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https://securityboulevard.com/2021/04/common-rest-api-authentication-methods-explained/</a:t>
            </a:r>
            <a:endParaRPr lang="en-AU" sz="11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AA4F8-84D8-E02B-2EC7-0DFE777BA66D}"/>
              </a:ext>
            </a:extLst>
          </p:cNvPr>
          <p:cNvSpPr txBox="1"/>
          <p:nvPr/>
        </p:nvSpPr>
        <p:spPr>
          <a:xfrm>
            <a:off x="2223293" y="1989439"/>
            <a:ext cx="148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O-Auth 2.0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EC520B7-59D2-2786-4A49-55A7A68AC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0514" y="2360037"/>
            <a:ext cx="6239566" cy="30166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chemeClr val="tx1"/>
                </a:solidFill>
              </a:rPr>
              <a:t>Status codes indicate the result of the request.</a:t>
            </a:r>
          </a:p>
          <a:p>
            <a:pPr lvl="1"/>
            <a:r>
              <a:rPr lang="en-AU" sz="2000" dirty="0">
                <a:solidFill>
                  <a:schemeClr val="accent3"/>
                </a:solidFill>
              </a:rPr>
              <a:t>Client</a:t>
            </a:r>
            <a:r>
              <a:rPr lang="en-AU" sz="2000" dirty="0">
                <a:solidFill>
                  <a:schemeClr val="tx1"/>
                </a:solidFill>
              </a:rPr>
              <a:t> – user completes the form</a:t>
            </a:r>
          </a:p>
          <a:p>
            <a:pPr lvl="1"/>
            <a:r>
              <a:rPr lang="en-AU" sz="2000" dirty="0">
                <a:solidFill>
                  <a:schemeClr val="accent3"/>
                </a:solidFill>
              </a:rPr>
              <a:t>Client </a:t>
            </a:r>
            <a:r>
              <a:rPr lang="en-AU" sz="2000" dirty="0">
                <a:solidFill>
                  <a:schemeClr val="tx1"/>
                </a:solidFill>
              </a:rPr>
              <a:t>– user submits the form</a:t>
            </a:r>
          </a:p>
          <a:p>
            <a:pPr lvl="1"/>
            <a:r>
              <a:rPr lang="en-AU" sz="2000" dirty="0">
                <a:solidFill>
                  <a:schemeClr val="accent3"/>
                </a:solidFill>
              </a:rPr>
              <a:t>1</a:t>
            </a:r>
            <a:r>
              <a:rPr lang="en-AU" sz="2000" baseline="30000" dirty="0">
                <a:solidFill>
                  <a:schemeClr val="accent3"/>
                </a:solidFill>
              </a:rPr>
              <a:t>st</a:t>
            </a:r>
            <a:r>
              <a:rPr lang="en-AU" sz="2000" dirty="0">
                <a:solidFill>
                  <a:schemeClr val="accent3"/>
                </a:solidFill>
              </a:rPr>
              <a:t> Server</a:t>
            </a:r>
            <a:r>
              <a:rPr lang="en-AU" sz="2000" dirty="0">
                <a:solidFill>
                  <a:schemeClr val="tx1"/>
                </a:solidFill>
              </a:rPr>
              <a:t>- request headers &amp; content are checked</a:t>
            </a:r>
          </a:p>
          <a:p>
            <a:pPr lvl="1"/>
            <a:r>
              <a:rPr lang="en-AU" sz="2000" dirty="0">
                <a:solidFill>
                  <a:schemeClr val="accent3"/>
                </a:solidFill>
              </a:rPr>
              <a:t>1</a:t>
            </a:r>
            <a:r>
              <a:rPr lang="en-AU" sz="2000" baseline="30000" dirty="0">
                <a:solidFill>
                  <a:schemeClr val="accent3"/>
                </a:solidFill>
              </a:rPr>
              <a:t>st</a:t>
            </a:r>
            <a:r>
              <a:rPr lang="en-AU" sz="2000" dirty="0">
                <a:solidFill>
                  <a:schemeClr val="accent3"/>
                </a:solidFill>
              </a:rPr>
              <a:t> Server</a:t>
            </a:r>
            <a:r>
              <a:rPr lang="en-AU" sz="2000" dirty="0">
                <a:solidFill>
                  <a:schemeClr val="tx1"/>
                </a:solidFill>
              </a:rPr>
              <a:t> - if successful access is granted</a:t>
            </a:r>
          </a:p>
          <a:p>
            <a:pPr lvl="1"/>
            <a:r>
              <a:rPr lang="en-AU" sz="2000" dirty="0">
                <a:solidFill>
                  <a:schemeClr val="accent3"/>
                </a:solidFill>
              </a:rPr>
              <a:t>Client</a:t>
            </a:r>
            <a:r>
              <a:rPr lang="en-AU" sz="2000" dirty="0">
                <a:solidFill>
                  <a:schemeClr val="tx1"/>
                </a:solidFill>
              </a:rPr>
              <a:t> – sends new token to the 2nd server</a:t>
            </a:r>
          </a:p>
          <a:p>
            <a:pPr lvl="1"/>
            <a:r>
              <a:rPr lang="en-AU" sz="2000" dirty="0">
                <a:solidFill>
                  <a:schemeClr val="accent3"/>
                </a:solidFill>
              </a:rPr>
              <a:t>2</a:t>
            </a:r>
            <a:r>
              <a:rPr lang="en-AU" sz="2000" baseline="30000" dirty="0">
                <a:solidFill>
                  <a:schemeClr val="accent3"/>
                </a:solidFill>
              </a:rPr>
              <a:t>nd</a:t>
            </a:r>
            <a:r>
              <a:rPr lang="en-AU" sz="2000" dirty="0">
                <a:solidFill>
                  <a:schemeClr val="accent3"/>
                </a:solidFill>
              </a:rPr>
              <a:t> Server</a:t>
            </a:r>
            <a:r>
              <a:rPr lang="en-AU" sz="2000" dirty="0">
                <a:solidFill>
                  <a:schemeClr val="tx1"/>
                </a:solidFill>
              </a:rPr>
              <a:t> - if successful access is granted</a:t>
            </a:r>
          </a:p>
          <a:p>
            <a:pPr lvl="1"/>
            <a:endParaRPr lang="en-AU" sz="2800" dirty="0">
              <a:solidFill>
                <a:schemeClr val="tx1"/>
              </a:solidFill>
            </a:endParaRPr>
          </a:p>
          <a:p>
            <a:pPr lvl="1"/>
            <a:endParaRPr lang="en-AU" sz="2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A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56439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/>
            </a:br>
            <a:r>
              <a:rPr lang="en-AU"/>
              <a:t>Session 1 Challenge 4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3285350851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10515600" cy="921254"/>
          </a:xfrm>
        </p:spPr>
        <p:txBody>
          <a:bodyPr anchor="ctr">
            <a:normAutofit fontScale="90000"/>
          </a:bodyPr>
          <a:lstStyle/>
          <a:p>
            <a:r>
              <a:rPr lang="en-AU" dirty="0"/>
              <a:t>Session 1 Challenge 3 - Testing HTTP Status Codes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0714" y="1644055"/>
            <a:ext cx="10489311" cy="39329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Using our API &amp; the documentation go to: </a:t>
            </a:r>
          </a:p>
          <a:p>
            <a:pPr marL="0" indent="0">
              <a:buNone/>
            </a:pPr>
            <a:r>
              <a:rPr lang="en-AU" sz="2400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https://reqres.in/api/users/</a:t>
            </a:r>
          </a:p>
          <a:p>
            <a:pPr marL="0" indent="0">
              <a:buNone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Change the parameter when searching users with the API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an incorrect 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Make a call to a route that doesn’t exist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an incorrectly formed JSON to POST or PUT requests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Remove some/all headers from a request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5E2C8DE-68F6-F577-66EF-D05663CF3297}"/>
              </a:ext>
            </a:extLst>
          </p:cNvPr>
          <p:cNvSpPr txBox="1">
            <a:spLocks/>
          </p:cNvSpPr>
          <p:nvPr/>
        </p:nvSpPr>
        <p:spPr>
          <a:xfrm>
            <a:off x="8153401" y="1644055"/>
            <a:ext cx="3476624" cy="356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000237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HTTP in Web Applications</a:t>
            </a:r>
            <a:endParaRPr lang="en-AU" dirty="0"/>
          </a:p>
        </p:txBody>
      </p:sp>
      <p:pic>
        <p:nvPicPr>
          <p:cNvPr id="11" name="Content Placeholder 10" descr="A diagram of a server&#10;&#10;Description automatically generated">
            <a:extLst>
              <a:ext uri="{FF2B5EF4-FFF2-40B4-BE49-F238E27FC236}">
                <a16:creationId xmlns:a16="http://schemas.microsoft.com/office/drawing/2014/main" id="{DA71FD04-D9EE-BC20-4059-AF9B89A46A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81074" y="2020150"/>
            <a:ext cx="5181600" cy="4104548"/>
          </a:xfr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4859CE-551C-7BBE-2FB4-D9799CA2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4" y="2030755"/>
            <a:ext cx="5724526" cy="38217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Our font end code will need to:</a:t>
            </a:r>
          </a:p>
          <a:p>
            <a:r>
              <a:rPr lang="en-AU" sz="2600" dirty="0"/>
              <a:t>authenticate using HTTP</a:t>
            </a:r>
          </a:p>
          <a:p>
            <a:r>
              <a:rPr lang="en-AU" sz="2600" dirty="0"/>
              <a:t>handle errors using HTTP codes/response bodies</a:t>
            </a:r>
          </a:p>
          <a:p>
            <a:r>
              <a:rPr lang="en-AU" sz="2600" dirty="0"/>
              <a:t>handle all status codes gracefully</a:t>
            </a:r>
          </a:p>
          <a:p>
            <a:r>
              <a:rPr lang="en-AU" sz="2600" dirty="0"/>
              <a:t>be able to deal with changing complex objects</a:t>
            </a:r>
          </a:p>
          <a:p>
            <a:r>
              <a:rPr lang="en-AU" sz="2600" dirty="0"/>
              <a:t>effectively cache(save) information to provide better user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C2D210-65DA-F2D1-C13D-ED3C57DA1DE5}"/>
              </a:ext>
            </a:extLst>
          </p:cNvPr>
          <p:cNvSpPr txBox="1"/>
          <p:nvPr/>
        </p:nvSpPr>
        <p:spPr>
          <a:xfrm>
            <a:off x="981074" y="6192550"/>
            <a:ext cx="50482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>
                <a:solidFill>
                  <a:schemeClr val="accent1"/>
                </a:solidFill>
              </a:rPr>
              <a:t>https://www.dotnettricks.com/images/course/mean-stack-project-architecture.png</a:t>
            </a:r>
          </a:p>
        </p:txBody>
      </p:sp>
    </p:spTree>
    <p:extLst>
      <p:ext uri="{BB962C8B-B14F-4D97-AF65-F5344CB8AC3E}">
        <p14:creationId xmlns:p14="http://schemas.microsoft.com/office/powerpoint/2010/main" val="1882069939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272</TotalTime>
  <Words>1240</Words>
  <Application>Microsoft Office PowerPoint</Application>
  <PresentationFormat>Widescreen</PresentationFormat>
  <Paragraphs>225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35</vt:i4>
      </vt:variant>
    </vt:vector>
  </HeadingPairs>
  <TitlesOfParts>
    <vt:vector size="57" baseType="lpstr">
      <vt:lpstr>Aptos</vt:lpstr>
      <vt:lpstr>Arial</vt:lpstr>
      <vt:lpstr>Calibri</vt:lpstr>
      <vt:lpstr>Calibri Light</vt:lpstr>
      <vt:lpstr>Consolas</vt:lpstr>
      <vt:lpstr>Courier New</vt:lpstr>
      <vt:lpstr>Fira Code</vt:lpstr>
      <vt:lpstr>Wingdings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Web Technologies: Introduction</vt:lpstr>
      <vt:lpstr> Web Tech: Sessions</vt:lpstr>
      <vt:lpstr>Sessions</vt:lpstr>
      <vt:lpstr> 1: Background to the Web</vt:lpstr>
      <vt:lpstr>The internet</vt:lpstr>
      <vt:lpstr>Client/Server Side</vt:lpstr>
      <vt:lpstr>Open source</vt:lpstr>
      <vt:lpstr>Trinity of Standards</vt:lpstr>
      <vt:lpstr>Hyper Text Mark Up Language (HTML) </vt:lpstr>
      <vt:lpstr>2: HTML 5 – Basic Page Structure</vt:lpstr>
      <vt:lpstr> Session 1 Group Challenge 1</vt:lpstr>
      <vt:lpstr>Introduction</vt:lpstr>
      <vt:lpstr>Challenge 1</vt:lpstr>
      <vt:lpstr>What is HTTP</vt:lpstr>
      <vt:lpstr>HTTP 1 vs 2</vt:lpstr>
      <vt:lpstr> Session 1 Challenge 2</vt:lpstr>
      <vt:lpstr>Challenge 2</vt:lpstr>
      <vt:lpstr>URI/URL</vt:lpstr>
      <vt:lpstr>What is DNS?</vt:lpstr>
      <vt:lpstr>How DNS Works</vt:lpstr>
      <vt:lpstr> Session 1 Challenge 3</vt:lpstr>
      <vt:lpstr>Session 1 Challenge 3</vt:lpstr>
      <vt:lpstr>Making a GET HTTP Request to API</vt:lpstr>
      <vt:lpstr>Constructing the URL</vt:lpstr>
      <vt:lpstr>Headers</vt:lpstr>
      <vt:lpstr>Common HTTP Headers</vt:lpstr>
      <vt:lpstr>Request &amp; Responses</vt:lpstr>
      <vt:lpstr>Status Codes</vt:lpstr>
      <vt:lpstr>Status Codes Ranges</vt:lpstr>
      <vt:lpstr>Request &amp; Methods</vt:lpstr>
      <vt:lpstr>Client vs Server-Side Actions</vt:lpstr>
      <vt:lpstr> Session 1 Challenge 4</vt:lpstr>
      <vt:lpstr>Session 1 Challenge 3 - Testing HTTP Status Codes</vt:lpstr>
      <vt:lpstr>HTTP in Web Applications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7</cp:revision>
  <dcterms:created xsi:type="dcterms:W3CDTF">2023-07-07T02:00:43Z</dcterms:created>
  <dcterms:modified xsi:type="dcterms:W3CDTF">2025-02-05T04:46:17Z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