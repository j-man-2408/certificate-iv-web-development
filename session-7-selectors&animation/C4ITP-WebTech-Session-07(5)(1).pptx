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1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2.xml" ContentType="application/vnd.openxmlformats-officedocument.theme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13.xml" ContentType="application/vnd.openxmlformats-officedocument.theme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  <p:sldMasterId id="2147483686" r:id="rId2"/>
    <p:sldMasterId id="2147483698" r:id="rId3"/>
    <p:sldMasterId id="2147483710" r:id="rId4"/>
    <p:sldMasterId id="2147483722" r:id="rId5"/>
    <p:sldMasterId id="2147483734" r:id="rId6"/>
    <p:sldMasterId id="2147483746" r:id="rId7"/>
    <p:sldMasterId id="2147483758" r:id="rId8"/>
    <p:sldMasterId id="2147483770" r:id="rId9"/>
    <p:sldMasterId id="2147483806" r:id="rId10"/>
    <p:sldMasterId id="2147483818" r:id="rId11"/>
    <p:sldMasterId id="2147483829" r:id="rId12"/>
    <p:sldMasterId id="2147483840" r:id="rId13"/>
    <p:sldMasterId id="2147483851" r:id="rId14"/>
  </p:sldMasterIdLst>
  <p:notesMasterIdLst>
    <p:notesMasterId r:id="rId51"/>
  </p:notesMasterIdLst>
  <p:sldIdLst>
    <p:sldId id="270" r:id="rId15"/>
    <p:sldId id="387" r:id="rId16"/>
    <p:sldId id="389" r:id="rId17"/>
    <p:sldId id="393" r:id="rId18"/>
    <p:sldId id="399" r:id="rId19"/>
    <p:sldId id="394" r:id="rId20"/>
    <p:sldId id="395" r:id="rId21"/>
    <p:sldId id="396" r:id="rId22"/>
    <p:sldId id="397" r:id="rId23"/>
    <p:sldId id="398" r:id="rId24"/>
    <p:sldId id="391" r:id="rId25"/>
    <p:sldId id="390" r:id="rId26"/>
    <p:sldId id="400" r:id="rId27"/>
    <p:sldId id="401" r:id="rId28"/>
    <p:sldId id="402" r:id="rId29"/>
    <p:sldId id="403" r:id="rId30"/>
    <p:sldId id="404" r:id="rId31"/>
    <p:sldId id="405" r:id="rId32"/>
    <p:sldId id="406" r:id="rId33"/>
    <p:sldId id="407" r:id="rId34"/>
    <p:sldId id="408" r:id="rId35"/>
    <p:sldId id="409" r:id="rId36"/>
    <p:sldId id="410" r:id="rId37"/>
    <p:sldId id="412" r:id="rId38"/>
    <p:sldId id="413" r:id="rId39"/>
    <p:sldId id="414" r:id="rId40"/>
    <p:sldId id="415" r:id="rId41"/>
    <p:sldId id="417" r:id="rId42"/>
    <p:sldId id="416" r:id="rId43"/>
    <p:sldId id="418" r:id="rId44"/>
    <p:sldId id="420" r:id="rId45"/>
    <p:sldId id="421" r:id="rId46"/>
    <p:sldId id="422" r:id="rId47"/>
    <p:sldId id="423" r:id="rId48"/>
    <p:sldId id="392" r:id="rId49"/>
    <p:sldId id="388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2673E5C-48F0-4880-9E5D-C1B753F526B3}">
          <p14:sldIdLst>
            <p14:sldId id="270"/>
          </p14:sldIdLst>
        </p14:section>
        <p14:section name="Overview" id="{6B305998-727F-4E0D-B590-D2FA76C3FDC2}">
          <p14:sldIdLst>
            <p14:sldId id="387"/>
          </p14:sldIdLst>
        </p14:section>
        <p14:section name="Session 07" id="{9A26274C-C592-4A45-B89F-914848F7415D}">
          <p14:sldIdLst>
            <p14:sldId id="389"/>
            <p14:sldId id="393"/>
            <p14:sldId id="399"/>
            <p14:sldId id="394"/>
            <p14:sldId id="395"/>
            <p14:sldId id="396"/>
            <p14:sldId id="397"/>
            <p14:sldId id="398"/>
            <p14:sldId id="391"/>
            <p14:sldId id="390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2"/>
            <p14:sldId id="413"/>
            <p14:sldId id="414"/>
            <p14:sldId id="415"/>
            <p14:sldId id="417"/>
            <p14:sldId id="416"/>
            <p14:sldId id="418"/>
            <p14:sldId id="420"/>
            <p14:sldId id="421"/>
            <p14:sldId id="422"/>
            <p14:sldId id="423"/>
            <p14:sldId id="392"/>
          </p14:sldIdLst>
        </p14:section>
        <p14:section name="End" id="{3072ED9E-465E-4038-83F4-1DE8123ED601}">
          <p14:sldIdLst>
            <p14:sldId id="3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DB720D-CB23-00BD-4BF4-8F254009EC64}" name="Adrian Gould" initials="AG" userId="S::Adrian.Gould@nmtafe.wa.edu.au::0a44525a-5416-41c1-827b-f073cee28c70" providerId="AD"/>
  <p188:author id="{CF9B4C55-2547-8E87-20F7-0B62AB1B37EA}" name="John Robertson" initials="JR" userId="S::john.robertson@nmtafe.wa.edu.au::27eef65d-0d9b-46bb-85ea-fba5d9d913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0001"/>
    <a:srgbClr val="4C0001"/>
    <a:srgbClr val="3C3F41"/>
    <a:srgbClr val="0B0000"/>
    <a:srgbClr val="000000"/>
    <a:srgbClr val="3A0001"/>
    <a:srgbClr val="3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51AE91-3FE9-4109-941B-3204CFEBFEE5}" v="1" dt="2023-07-20T07:54:55.042"/>
    <p1510:client id="{B8C8ED3D-9CB9-6DB4-8735-8A0E702AC57A}" v="45" dt="2023-08-29T23:57:09"/>
    <p1510:client id="{CACB6076-1DF0-4073-917F-0D903E6089A9}" v="4" dt="2023-07-20T07:57:49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7030" autoAdjust="0"/>
  </p:normalViewPr>
  <p:slideViewPr>
    <p:cSldViewPr snapToGrid="0">
      <p:cViewPr varScale="1">
        <p:scale>
          <a:sx n="76" d="100"/>
          <a:sy n="76" d="100"/>
        </p:scale>
        <p:origin x="1092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slide" Target="slides/slide25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openxmlformats.org/officeDocument/2006/relationships/slide" Target="slides/slide28.xml"/><Relationship Id="rId47" Type="http://schemas.openxmlformats.org/officeDocument/2006/relationships/slide" Target="slides/slide33.xml"/><Relationship Id="rId50" Type="http://schemas.openxmlformats.org/officeDocument/2006/relationships/slide" Target="slides/slide36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9" Type="http://schemas.openxmlformats.org/officeDocument/2006/relationships/slide" Target="slides/slide15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40" Type="http://schemas.openxmlformats.org/officeDocument/2006/relationships/slide" Target="slides/slide26.xml"/><Relationship Id="rId45" Type="http://schemas.openxmlformats.org/officeDocument/2006/relationships/slide" Target="slides/slide31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slide" Target="slides/slide29.xml"/><Relationship Id="rId48" Type="http://schemas.openxmlformats.org/officeDocument/2006/relationships/slide" Target="slides/slide34.xml"/><Relationship Id="rId56" Type="http://schemas.microsoft.com/office/2015/10/relationships/revisionInfo" Target="revisionInfo.xml"/><Relationship Id="rId8" Type="http://schemas.openxmlformats.org/officeDocument/2006/relationships/slideMaster" Target="slideMasters/slideMaster8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slide" Target="slides/slide32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openxmlformats.org/officeDocument/2006/relationships/slide" Target="slides/slide35.xml"/><Relationship Id="rId57" Type="http://schemas.microsoft.com/office/2018/10/relationships/authors" Target="author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7.xml"/><Relationship Id="rId44" Type="http://schemas.openxmlformats.org/officeDocument/2006/relationships/slide" Target="slides/slide30.xml"/><Relationship Id="rId5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20F03E-BDE8-4437-9343-3C8A9836EEBE}" type="datetimeFigureOut">
              <a:rPr lang="en-AU" smtClean="0"/>
              <a:t>20/03/2025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3C3398-D943-4F63-8045-957E2AB3FB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787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en-AU" b="1" i="1" dirty="0">
                <a:solidFill>
                  <a:srgbClr val="0D0D0D"/>
                </a:solidFill>
                <a:effectLst/>
                <a:latin typeface="Söhne"/>
              </a:rPr>
              <a:t>@media</a:t>
            </a:r>
            <a:r>
              <a:rPr lang="en-AU" b="0" i="0" dirty="0">
                <a:solidFill>
                  <a:srgbClr val="0D0D0D"/>
                </a:solidFill>
                <a:effectLst/>
                <a:latin typeface="Söhne"/>
              </a:rPr>
              <a:t>: This at-rule is used in CSS to apply styles only when certain conditions are met, such as the size of the viewport or the device's characteristics.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1" i="1" dirty="0">
                <a:solidFill>
                  <a:srgbClr val="0D0D0D"/>
                </a:solidFill>
                <a:effectLst/>
                <a:latin typeface="Söhne"/>
              </a:rPr>
              <a:t>not screen: </a:t>
            </a:r>
            <a:r>
              <a:rPr lang="en-AU" b="0" i="0" dirty="0">
                <a:solidFill>
                  <a:srgbClr val="0D0D0D"/>
                </a:solidFill>
                <a:effectLst/>
                <a:latin typeface="Söhne"/>
              </a:rPr>
              <a:t>This part of the media query specifies a condition under which the styles should apply. In this case, it specifies that the styles should not apply when the device is a screen, meaning they would apply to devices that are not screens, such as printers or speech synthesisers.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AU" b="1" i="1" dirty="0">
                <a:solidFill>
                  <a:srgbClr val="0D0D0D"/>
                </a:solidFill>
                <a:effectLst/>
                <a:latin typeface="Söhne"/>
              </a:rPr>
              <a:t>and (</a:t>
            </a:r>
            <a:r>
              <a:rPr lang="en-AU" b="1" i="1" dirty="0" err="1">
                <a:solidFill>
                  <a:srgbClr val="0D0D0D"/>
                </a:solidFill>
                <a:effectLst/>
                <a:latin typeface="Söhne"/>
              </a:rPr>
              <a:t>color</a:t>
            </a:r>
            <a:r>
              <a:rPr lang="en-AU" b="1" i="1" dirty="0">
                <a:solidFill>
                  <a:srgbClr val="0D0D0D"/>
                </a:solidFill>
                <a:effectLst/>
                <a:latin typeface="Söhne"/>
              </a:rPr>
              <a:t>): </a:t>
            </a:r>
            <a:r>
              <a:rPr lang="en-AU" b="0" i="0" dirty="0">
                <a:solidFill>
                  <a:srgbClr val="0D0D0D"/>
                </a:solidFill>
                <a:effectLst/>
                <a:latin typeface="Söhne"/>
              </a:rPr>
              <a:t>This is a feature query within the media query. It checks if the device supports colour rendering. If the device supports colour, the styles within this media query will be applied.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C3398-D943-4F63-8045-957E2AB3FB8A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8994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C3398-D943-4F63-8045-957E2AB3FB8A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C3398-D943-4F63-8045-957E2AB3FB8A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540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97172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22132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08213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77524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0742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49472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65863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86759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5211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912073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45813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7852940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58343247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235436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5075545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416204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446637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6902548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8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951281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910913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01532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20/03/2025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914329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639090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26711071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454972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091054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094653"/>
      </p:ext>
    </p:extLst>
  </p:cSld>
  <p:clrMapOvr>
    <a:masterClrMapping/>
  </p:clrMapOvr>
  <p:transition spd="slow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3124391"/>
      </p:ext>
    </p:extLst>
  </p:cSld>
  <p:clrMapOvr>
    <a:masterClrMapping/>
  </p:clrMapOvr>
  <p:transition spd="slow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677842"/>
      </p:ext>
    </p:extLst>
  </p:cSld>
  <p:clrMapOvr>
    <a:masterClrMapping/>
  </p:clrMapOvr>
  <p:transition spd="slow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439502"/>
      </p:ext>
    </p:extLst>
  </p:cSld>
  <p:clrMapOvr>
    <a:masterClrMapping/>
  </p:clrMapOvr>
  <p:transition spd="slow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7761409"/>
      </p:ext>
    </p:extLst>
  </p:cSld>
  <p:clrMapOvr>
    <a:masterClrMapping/>
  </p:clrMapOvr>
  <p:transition spd="slow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551233"/>
      </p:ext>
    </p:extLst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20/03/2025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7872616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7325809"/>
      </p:ext>
    </p:extLst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009829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5945563"/>
      </p:ext>
    </p:extLst>
  </p:cSld>
  <p:clrMapOvr>
    <a:masterClrMapping/>
  </p:clrMapOvr>
  <p:transition spd="slow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44494"/>
      </p:ext>
    </p:extLst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350594"/>
      </p:ext>
    </p:extLst>
  </p:cSld>
  <p:clrMapOvr>
    <a:masterClrMapping/>
  </p:clrMapOvr>
  <p:transition spd="slow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9059109"/>
      </p:ext>
    </p:extLst>
  </p:cSld>
  <p:clrMapOvr>
    <a:masterClrMapping/>
  </p:clrMapOvr>
  <p:transition spd="slow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440938"/>
      </p:ext>
    </p:extLst>
  </p:cSld>
  <p:clrMapOvr>
    <a:masterClrMapping/>
  </p:clrMapOvr>
  <p:transition spd="slow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4279959"/>
      </p:ext>
    </p:extLst>
  </p:cSld>
  <p:clrMapOvr>
    <a:masterClrMapping/>
  </p:clrMapOvr>
  <p:transition spd="slow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590441"/>
      </p:ext>
    </p:extLst>
  </p:cSld>
  <p:clrMapOvr>
    <a:masterClrMapping/>
  </p:clrMapOvr>
  <p:transition spd="slow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9257663"/>
      </p:ext>
    </p:extLst>
  </p:cSld>
  <p:clrMapOvr>
    <a:masterClrMapping/>
  </p:clrMapOvr>
  <p:transition spd="slow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646541"/>
      </p:ext>
    </p:extLst>
  </p:cSld>
  <p:clrMapOvr>
    <a:masterClrMapping/>
  </p:clrMapOvr>
  <p:transition spd="slow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842572"/>
      </p:ext>
    </p:extLst>
  </p:cSld>
  <p:clrMapOvr>
    <a:masterClrMapping/>
  </p:clrMapOvr>
  <p:transition spd="slow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037543"/>
      </p:ext>
    </p:extLst>
  </p:cSld>
  <p:clrMapOvr>
    <a:masterClrMapping/>
  </p:clrMapOvr>
  <p:transition spd="slow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5812088"/>
      </p:ext>
    </p:extLst>
  </p:cSld>
  <p:clrMapOvr>
    <a:masterClrMapping/>
  </p:clrMapOvr>
  <p:transition spd="slow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0765084"/>
      </p:ext>
    </p:extLst>
  </p:cSld>
  <p:clrMapOvr>
    <a:masterClrMapping/>
  </p:clrMapOvr>
  <p:transition spd="slow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664379"/>
      </p:ext>
    </p:extLst>
  </p:cSld>
  <p:clrMapOvr>
    <a:masterClrMapping/>
  </p:clrMapOvr>
  <p:transition spd="slow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9627324"/>
      </p:ext>
    </p:extLst>
  </p:cSld>
  <p:clrMapOvr>
    <a:masterClrMapping/>
  </p:clrMapOvr>
  <p:transition spd="slow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146778"/>
      </p:ext>
    </p:extLst>
  </p:cSld>
  <p:clrMapOvr>
    <a:masterClrMapping/>
  </p:clrMapOvr>
  <p:transition spd="slow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866695"/>
      </p:ext>
    </p:extLst>
  </p:cSld>
  <p:clrMapOvr>
    <a:masterClrMapping/>
  </p:clrMapOvr>
  <p:transition spd="slow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941442"/>
      </p:ext>
    </p:extLst>
  </p:cSld>
  <p:clrMapOvr>
    <a:masterClrMapping/>
  </p:clrMapOvr>
  <p:transition spd="slow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579322"/>
      </p:ext>
    </p:extLst>
  </p:cSld>
  <p:clrMapOvr>
    <a:masterClrMapping/>
  </p:clrMapOvr>
  <p:transition spd="slow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2395453"/>
      </p:ext>
    </p:extLst>
  </p:cSld>
  <p:clrMapOvr>
    <a:masterClrMapping/>
  </p:clrMapOvr>
  <p:transition spd="slow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220297"/>
      </p:ext>
    </p:extLst>
  </p:cSld>
  <p:clrMapOvr>
    <a:masterClrMapping/>
  </p:clrMapOvr>
  <p:transition spd="slow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710051"/>
      </p:ext>
    </p:extLst>
  </p:cSld>
  <p:clrMapOvr>
    <a:masterClrMapping/>
  </p:clrMapOvr>
  <p:transition spd="slow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7095686"/>
      </p:ext>
    </p:extLst>
  </p:cSld>
  <p:clrMapOvr>
    <a:masterClrMapping/>
  </p:clrMapOvr>
  <p:transition spd="slow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82501"/>
      </p:ext>
    </p:extLst>
  </p:cSld>
  <p:clrMapOvr>
    <a:masterClrMapping/>
  </p:clrMapOvr>
  <p:transition spd="slow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6643192"/>
      </p:ext>
    </p:extLst>
  </p:cSld>
  <p:clrMapOvr>
    <a:masterClrMapping/>
  </p:clrMapOvr>
  <p:transition spd="slow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5730182"/>
      </p:ext>
    </p:extLst>
  </p:cSld>
  <p:clrMapOvr>
    <a:masterClrMapping/>
  </p:clrMapOvr>
  <p:transition spd="slow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84613"/>
      </p:ext>
    </p:extLst>
  </p:cSld>
  <p:clrMapOvr>
    <a:masterClrMapping/>
  </p:clrMapOvr>
  <p:transition spd="slow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113288"/>
      </p:ext>
    </p:extLst>
  </p:cSld>
  <p:clrMapOvr>
    <a:masterClrMapping/>
  </p:clrMapOvr>
  <p:transition spd="slow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045618"/>
      </p:ext>
    </p:extLst>
  </p:cSld>
  <p:clrMapOvr>
    <a:masterClrMapping/>
  </p:clrMapOvr>
  <p:transition spd="slow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9998777"/>
      </p:ext>
    </p:extLst>
  </p:cSld>
  <p:clrMapOvr>
    <a:masterClrMapping/>
  </p:clrMapOvr>
  <p:transition spd="slow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052585"/>
      </p:ext>
    </p:extLst>
  </p:cSld>
  <p:clrMapOvr>
    <a:masterClrMapping/>
  </p:clrMapOvr>
  <p:transition spd="slow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4099411"/>
      </p:ext>
    </p:extLst>
  </p:cSld>
  <p:clrMapOvr>
    <a:masterClrMapping/>
  </p:clrMapOvr>
  <p:transition spd="slow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144768"/>
      </p:ext>
    </p:extLst>
  </p:cSld>
  <p:clrMapOvr>
    <a:masterClrMapping/>
  </p:clrMapOvr>
  <p:transition spd="slow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7102047"/>
      </p:ext>
    </p:extLst>
  </p:cSld>
  <p:clrMapOvr>
    <a:masterClrMapping/>
  </p:clrMapOvr>
  <p:transition spd="slow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389621"/>
      </p:ext>
    </p:extLst>
  </p:cSld>
  <p:clrMapOvr>
    <a:masterClrMapping/>
  </p:clrMapOvr>
  <p:transition spd="slow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9817362"/>
      </p:ext>
    </p:extLst>
  </p:cSld>
  <p:clrMapOvr>
    <a:masterClrMapping/>
  </p:clrMapOvr>
  <p:transition spd="slow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3219357"/>
      </p:ext>
    </p:extLst>
  </p:cSld>
  <p:clrMapOvr>
    <a:masterClrMapping/>
  </p:clrMapOvr>
  <p:transition spd="slow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639140"/>
      </p:ext>
    </p:extLst>
  </p:cSld>
  <p:clrMapOvr>
    <a:masterClrMapping/>
  </p:clrMapOvr>
  <p:transition spd="slow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8202440"/>
      </p:ext>
    </p:extLst>
  </p:cSld>
  <p:clrMapOvr>
    <a:masterClrMapping/>
  </p:clrMapOvr>
  <p:transition spd="slow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118706"/>
      </p:ext>
    </p:extLst>
  </p:cSld>
  <p:clrMapOvr>
    <a:masterClrMapping/>
  </p:clrMapOvr>
  <p:transition spd="slow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297514"/>
      </p:ext>
    </p:extLst>
  </p:cSld>
  <p:clrMapOvr>
    <a:masterClrMapping/>
  </p:clrMapOvr>
  <p:transition spd="slow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6331379"/>
      </p:ext>
    </p:extLst>
  </p:cSld>
  <p:clrMapOvr>
    <a:masterClrMapping/>
  </p:clrMapOvr>
  <p:transition spd="slow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500825"/>
      </p:ext>
    </p:extLst>
  </p:cSld>
  <p:clrMapOvr>
    <a:masterClrMapping/>
  </p:clrMapOvr>
  <p:transition spd="slow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379820"/>
      </p:ext>
    </p:extLst>
  </p:cSld>
  <p:clrMapOvr>
    <a:masterClrMapping/>
  </p:clrMapOvr>
  <p:transition spd="slow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786074"/>
      </p:ext>
    </p:extLst>
  </p:cSld>
  <p:clrMapOvr>
    <a:masterClrMapping/>
  </p:clrMapOvr>
  <p:transition spd="slow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273943"/>
      </p:ext>
    </p:extLst>
  </p:cSld>
  <p:clrMapOvr>
    <a:masterClrMapping/>
  </p:clrMapOvr>
  <p:transition spd="slow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435440"/>
      </p:ext>
    </p:extLst>
  </p:cSld>
  <p:clrMapOvr>
    <a:masterClrMapping/>
  </p:clrMapOvr>
  <p:transition spd="slow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95935"/>
      </p:ext>
    </p:extLst>
  </p:cSld>
  <p:clrMapOvr>
    <a:masterClrMapping/>
  </p:clrMapOvr>
  <p:transition spd="slow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185332"/>
      </p:ext>
    </p:extLst>
  </p:cSld>
  <p:clrMapOvr>
    <a:masterClrMapping/>
  </p:clrMapOvr>
  <p:transition spd="slow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765892"/>
      </p:ext>
    </p:extLst>
  </p:cSld>
  <p:clrMapOvr>
    <a:masterClrMapping/>
  </p:clrMapOvr>
  <p:transition spd="slow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031487"/>
      </p:ext>
    </p:extLst>
  </p:cSld>
  <p:clrMapOvr>
    <a:masterClrMapping/>
  </p:clrMapOvr>
  <p:transition spd="slow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082134"/>
      </p:ext>
    </p:extLst>
  </p:cSld>
  <p:clrMapOvr>
    <a:masterClrMapping/>
  </p:clrMapOvr>
  <p:transition spd="slow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5485142"/>
      </p:ext>
    </p:extLst>
  </p:cSld>
  <p:clrMapOvr>
    <a:masterClrMapping/>
  </p:clrMapOvr>
  <p:transition spd="slow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1969938"/>
      </p:ext>
    </p:extLst>
  </p:cSld>
  <p:clrMapOvr>
    <a:masterClrMapping/>
  </p:clrMapOvr>
  <p:transition spd="slow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283881"/>
      </p:ext>
    </p:extLst>
  </p:cSld>
  <p:clrMapOvr>
    <a:masterClrMapping/>
  </p:clrMapOvr>
  <p:transition spd="slow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006424"/>
      </p:ext>
    </p:extLst>
  </p:cSld>
  <p:clrMapOvr>
    <a:masterClrMapping/>
  </p:clrMapOvr>
  <p:transition spd="slow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959658"/>
      </p:ext>
    </p:extLst>
  </p:cSld>
  <p:clrMapOvr>
    <a:masterClrMapping/>
  </p:clrMapOvr>
  <p:transition spd="slow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5316661"/>
      </p:ext>
    </p:extLst>
  </p:cSld>
  <p:clrMapOvr>
    <a:masterClrMapping/>
  </p:clrMapOvr>
  <p:transition spd="slow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2312828"/>
      </p:ext>
    </p:extLst>
  </p:cSld>
  <p:clrMapOvr>
    <a:masterClrMapping/>
  </p:clrMapOvr>
  <p:transition spd="slow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389694"/>
      </p:ext>
    </p:extLst>
  </p:cSld>
  <p:clrMapOvr>
    <a:masterClrMapping/>
  </p:clrMapOvr>
  <p:transition spd="slow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7756321"/>
      </p:ext>
    </p:extLst>
  </p:cSld>
  <p:clrMapOvr>
    <a:masterClrMapping/>
  </p:clrMapOvr>
  <p:transition spd="slow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377667"/>
      </p:ext>
    </p:extLst>
  </p:cSld>
  <p:clrMapOvr>
    <a:masterClrMapping/>
  </p:clrMapOvr>
  <p:transition spd="slow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518369"/>
      </p:ext>
    </p:extLst>
  </p:cSld>
  <p:clrMapOvr>
    <a:masterClrMapping/>
  </p:clrMapOvr>
  <p:transition spd="slow"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1450234"/>
      </p:ext>
    </p:extLst>
  </p:cSld>
  <p:clrMapOvr>
    <a:masterClrMapping/>
  </p:clrMapOvr>
  <p:transition spd="slow"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679199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8800938"/>
      </p:ext>
    </p:extLst>
  </p:cSld>
  <p:clrMapOvr>
    <a:masterClrMapping/>
  </p:clrMapOvr>
  <p:transition spd="slow"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578032"/>
      </p:ext>
    </p:extLst>
  </p:cSld>
  <p:clrMapOvr>
    <a:masterClrMapping/>
  </p:clrMapOvr>
  <p:transition spd="slow">
    <p:fad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599382"/>
      </p:ext>
    </p:extLst>
  </p:cSld>
  <p:clrMapOvr>
    <a:masterClrMapping/>
  </p:clrMapOvr>
  <p:transition spd="slow">
    <p:fade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3226191"/>
      </p:ext>
    </p:extLst>
  </p:cSld>
  <p:clrMapOvr>
    <a:masterClrMapping/>
  </p:clrMapOvr>
  <p:transition spd="slow"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065649"/>
      </p:ext>
    </p:extLst>
  </p:cSld>
  <p:clrMapOvr>
    <a:masterClrMapping/>
  </p:clrMapOvr>
  <p:transition spd="slow">
    <p:fad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1847952"/>
      </p:ext>
    </p:extLst>
  </p:cSld>
  <p:clrMapOvr>
    <a:masterClrMapping/>
  </p:clrMapOvr>
  <p:transition spd="slow">
    <p:fad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742388"/>
      </p:ext>
    </p:extLst>
  </p:cSld>
  <p:clrMapOvr>
    <a:masterClrMapping/>
  </p:clrMapOvr>
  <p:transition spd="slow"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28909"/>
      </p:ext>
    </p:extLst>
  </p:cSld>
  <p:clrMapOvr>
    <a:masterClrMapping/>
  </p:clrMapOvr>
  <p:transition spd="slow"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949875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913130"/>
      </p:ext>
    </p:extLst>
  </p:cSld>
  <p:clrMapOvr>
    <a:masterClrMapping/>
  </p:clrMapOvr>
  <p:hf hd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56127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92264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03298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245966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61617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336091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58231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422970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240910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881950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30407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263826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14777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94600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483741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79424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03280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737626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08466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8367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025110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38333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72933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603705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521436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45080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77024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43125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22243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936901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401920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7754979"/>
      </p:ext>
    </p:extLst>
  </p:cSld>
  <p:clrMapOvr>
    <a:masterClrMapping/>
  </p:clrMapOvr>
  <p:transition spd="slow">
    <p:fade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360377"/>
      </p:ext>
    </p:extLst>
  </p:cSld>
  <p:clrMapOvr>
    <a:masterClrMapping/>
  </p:clrMapOvr>
  <p:transition spd="slow">
    <p:fade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064148"/>
      </p:ext>
    </p:extLst>
  </p:cSld>
  <p:clrMapOvr>
    <a:masterClrMapping/>
  </p:clrMapOvr>
  <p:transition spd="slow">
    <p:fade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2742752"/>
      </p:ext>
    </p:extLst>
  </p:cSld>
  <p:clrMapOvr>
    <a:masterClrMapping/>
  </p:clrMapOvr>
  <p:transition spd="slow">
    <p:fade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2929718"/>
      </p:ext>
    </p:extLst>
  </p:cSld>
  <p:clrMapOvr>
    <a:masterClrMapping/>
  </p:clrMapOvr>
  <p:transition spd="slow">
    <p:fade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485039"/>
      </p:ext>
    </p:extLst>
  </p:cSld>
  <p:clrMapOvr>
    <a:masterClrMapping/>
  </p:clrMapOvr>
  <p:transition spd="slow"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988109"/>
      </p:ext>
    </p:extLst>
  </p:cSld>
  <p:clrMapOvr>
    <a:masterClrMapping/>
  </p:clrMapOvr>
  <p:transition spd="slow">
    <p:fade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331647"/>
      </p:ext>
    </p:extLst>
  </p:cSld>
  <p:clrMapOvr>
    <a:masterClrMapping/>
  </p:clrMapOvr>
  <p:transition spd="slow">
    <p:fade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79250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272729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e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emf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em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emf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theme" Target="../theme/theme13.xml"/><Relationship Id="rId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7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50.xml"/><Relationship Id="rId4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E2B1F-3BA7-43D8-54B8-9DA63BB590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CD4F25-35BD-D59F-8D88-D390634E6B3E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66792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1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  <p:pic>
        <p:nvPicPr>
          <p:cNvPr id="11" name="Picture 10" descr="Shape, rectangle&#10;&#10;Description automatically generated">
            <a:extLst>
              <a:ext uri="{FF2B5EF4-FFF2-40B4-BE49-F238E27FC236}">
                <a16:creationId xmlns:a16="http://schemas.microsoft.com/office/drawing/2014/main" id="{FB1B3E2C-5634-B283-5DA9-CF2AA0C62510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" r="786" b="90698"/>
          <a:stretch/>
        </p:blipFill>
        <p:spPr>
          <a:xfrm>
            <a:off x="0" y="0"/>
            <a:ext cx="12192000" cy="756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43A73D-BC11-784C-91CA-D338A5444653}"/>
              </a:ext>
            </a:extLst>
          </p:cNvPr>
          <p:cNvSpPr txBox="1"/>
          <p:nvPr userDrawn="1"/>
        </p:nvSpPr>
        <p:spPr>
          <a:xfrm rot="16200000">
            <a:off x="-2391618" y="3266444"/>
            <a:ext cx="5420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</a:rPr>
              <a:t>ICT40120 Certificate IV in Programming</a:t>
            </a:r>
          </a:p>
        </p:txBody>
      </p:sp>
    </p:spTree>
    <p:extLst>
      <p:ext uri="{BB962C8B-B14F-4D97-AF65-F5344CB8AC3E}">
        <p14:creationId xmlns:p14="http://schemas.microsoft.com/office/powerpoint/2010/main" val="3883497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3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5733F300-0A4E-72B7-DE64-0D266581486E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t="-1" b="90593"/>
          <a:stretch/>
        </p:blipFill>
        <p:spPr>
          <a:xfrm>
            <a:off x="0" y="0"/>
            <a:ext cx="12192000" cy="76943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30000"/>
            <a:biLevel thresh="7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4022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C11DD-A15C-4F20-5497-445A07C596A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F5C0C4-2700-5C2E-E243-A32AC6D7823C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5546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11DD5-AE95-6FD5-F8ED-581EC212662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B93067-C2A8-9188-F67D-1811D395F548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6734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A7CC75FF-9724-8147-A0FC-729B7F64182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/>
          <a:stretch/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3C976-4323-BEC4-D794-29DE4A65855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561454-5231-CD4C-E25B-2A0FBF4C7721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  <a:biLevel thresh="2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95585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C2F6B-FCEF-2A83-9D11-F99C242B3A0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CD787-14C6-1E61-13ED-101927EA526B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197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D6E24-8DEC-3744-9360-4F74DC4CCB8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3C2C9F-DCB7-A316-B061-B71274F85B8F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0079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F743F-302A-D5A5-923F-4E3553F2D64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BE2B0E-C479-8999-813C-931896F8186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59627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5D370-27CE-1543-DE20-99096E7ED37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7917601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A7F89-7143-E432-6480-FB158F149B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6784963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5C7F7-5515-9DD4-EE0B-1026F29427E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442744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80" t="15106" r="9315" b="9369"/>
          <a:stretch/>
        </p:blipFill>
        <p:spPr>
          <a:xfrm>
            <a:off x="-57876" y="0"/>
            <a:ext cx="12249875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4ABB8-7D50-6384-C614-FB8D78343DD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686878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329E7-8084-71E1-C3DE-7E44BA3F9B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536819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N5OC1mZlfY&amp;list=PL0Zuz27SZ-6Mx9fd9elt80G1bPcySmWit&amp;t=4s" TargetMode="Externa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 fontScale="90000"/>
          </a:bodyPr>
          <a:lstStyle/>
          <a:p>
            <a:br>
              <a:rPr lang="en-AU"/>
            </a:br>
            <a:r>
              <a:rPr lang="en-AU"/>
              <a:t>Web Technologies: Introduction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/>
              <a:t>ICT40120 Certificate IV in Information Technology (Programming)</a:t>
            </a:r>
          </a:p>
        </p:txBody>
      </p:sp>
      <p:graphicFrame>
        <p:nvGraphicFramePr>
          <p:cNvPr id="36" name="Table 36">
            <a:extLst>
              <a:ext uri="{FF2B5EF4-FFF2-40B4-BE49-F238E27FC236}">
                <a16:creationId xmlns:a16="http://schemas.microsoft.com/office/drawing/2014/main" id="{740E6E62-3521-150E-78A6-322B5A2C948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76761145"/>
              </p:ext>
            </p:extLst>
          </p:nvPr>
        </p:nvGraphicFramePr>
        <p:xfrm>
          <a:off x="1524000" y="3771900"/>
          <a:ext cx="9144000" cy="111252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1681537">
                  <a:extLst>
                    <a:ext uri="{9D8B030D-6E8A-4147-A177-3AD203B41FA5}">
                      <a16:colId xmlns:a16="http://schemas.microsoft.com/office/drawing/2014/main" val="3907653306"/>
                    </a:ext>
                  </a:extLst>
                </a:gridCol>
                <a:gridCol w="7462463">
                  <a:extLst>
                    <a:ext uri="{9D8B030D-6E8A-4147-A177-3AD203B41FA5}">
                      <a16:colId xmlns:a16="http://schemas.microsoft.com/office/drawing/2014/main" val="3038254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32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Produce basic client-side script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6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ICTWEB452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Create a markup language document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58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43322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3157-7D4C-4413-9455-A6DCBBD2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FA502-DEA4-4E56-A1A3-DFE5B334A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dirty="0"/>
              <a:t>This session includes:</a:t>
            </a:r>
            <a:endParaRPr lang="en-AU" dirty="0">
              <a:cs typeface="Calibri"/>
            </a:endParaRPr>
          </a:p>
          <a:p>
            <a:pPr lvl="2"/>
            <a:r>
              <a:rPr lang="en-AU" dirty="0">
                <a:cs typeface="Calibri"/>
              </a:rPr>
              <a:t>Media Queries</a:t>
            </a:r>
          </a:p>
          <a:p>
            <a:pPr lvl="2"/>
            <a:r>
              <a:rPr lang="en-AU" dirty="0">
                <a:cs typeface="Calibri"/>
              </a:rPr>
              <a:t>Pseudo Selectors &amp; Elements</a:t>
            </a:r>
          </a:p>
          <a:p>
            <a:pPr lvl="2"/>
            <a:r>
              <a:rPr lang="en-AU" dirty="0">
                <a:cs typeface="Calibri"/>
              </a:rPr>
              <a:t>Fonts &amp; Typography</a:t>
            </a:r>
          </a:p>
          <a:p>
            <a:pPr lvl="2"/>
            <a:r>
              <a:rPr lang="en-AU" dirty="0">
                <a:cs typeface="Calibri"/>
              </a:rPr>
              <a:t>Challenge Exercises</a:t>
            </a:r>
          </a:p>
          <a:p>
            <a:pPr lvl="2"/>
            <a:r>
              <a:rPr lang="en-AU" dirty="0">
                <a:cs typeface="Calibri"/>
              </a:rPr>
              <a:t>Transitions &amp; Animations</a:t>
            </a:r>
          </a:p>
          <a:p>
            <a:pPr lvl="2"/>
            <a:r>
              <a:rPr lang="en-AU" dirty="0">
                <a:cs typeface="Calibri"/>
              </a:rPr>
              <a:t>Work </a:t>
            </a:r>
            <a:r>
              <a:rPr lang="en-AU">
                <a:cs typeface="Calibri"/>
              </a:rPr>
              <a:t>on Phase 1 &amp; 2</a:t>
            </a:r>
            <a:endParaRPr lang="en-AU" dirty="0">
              <a:cs typeface="Calibri"/>
            </a:endParaRPr>
          </a:p>
          <a:p>
            <a:pPr lvl="2">
              <a:buFont typeface="Courier New" panose="020B0604020202020204" pitchFamily="34" charset="0"/>
              <a:buChar char="o"/>
            </a:pPr>
            <a:endParaRPr lang="en-AU" dirty="0">
              <a:cs typeface="Calibri"/>
            </a:endParaRPr>
          </a:p>
          <a:p>
            <a:pPr marL="914400" lvl="2" indent="0">
              <a:buNone/>
            </a:pPr>
            <a:endParaRPr lang="en-A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0252422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br>
              <a:rPr lang="en-AU" dirty="0"/>
            </a:br>
            <a:r>
              <a:rPr lang="en-AU" dirty="0">
                <a:cs typeface="Calibri"/>
              </a:rPr>
              <a:t>Pseudo Selectors &amp; Elements</a:t>
            </a:r>
            <a:endParaRPr lang="en-AU" dirty="0"/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270639895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Selectors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82067"/>
            <a:ext cx="5373415" cy="21472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/>
              <a:t>We have previously looked at at how we can select semantic HTML elements using CSS selectors…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6537434" y="624055"/>
            <a:ext cx="498190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Descendant Selector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article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font-style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italic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Child Selector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 err="1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ul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&gt; </a:t>
            </a:r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li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list-style-type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square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Adjacent Sibling Selector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dirty="0">
                <a:solidFill>
                  <a:srgbClr val="D7BA7D"/>
                </a:solidFill>
                <a:latin typeface="Menlo" panose="020B0609030804020204" pitchFamily="49" charset="0"/>
              </a:rPr>
              <a:t>.item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+ </a:t>
            </a:r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margin-top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10px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General Sibling Selector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h3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~ </a:t>
            </a:r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gray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	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946683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Pseudo Classes &amp; Elements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373415" cy="403914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AU" b="1" dirty="0"/>
              <a:t>Pseudo-Classes:</a:t>
            </a:r>
            <a:r>
              <a:rPr lang="en-AU" dirty="0"/>
              <a:t> keywords added to selectors to define a special state of an element. 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r>
              <a:rPr lang="en-AU" b="1" dirty="0"/>
              <a:t>Pseudo-Elements:</a:t>
            </a:r>
            <a:r>
              <a:rPr lang="en-AU" dirty="0"/>
              <a:t> are used create virtual elements in the DOM that can be styled like regular elements.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7115503" y="2401725"/>
            <a:ext cx="41410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Pseudo Class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 err="1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a:active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red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Pseudo Element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 err="1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li:nth-child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(odd)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background-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lightblue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783254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6592614" cy="921254"/>
          </a:xfrm>
        </p:spPr>
        <p:txBody>
          <a:bodyPr/>
          <a:lstStyle/>
          <a:p>
            <a:r>
              <a:rPr lang="en-US" dirty="0"/>
              <a:t>Pseudo Classes - Examples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373415" cy="403914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AU" b="1" dirty="0">
                <a:solidFill>
                  <a:srgbClr val="92D050"/>
                </a:solidFill>
              </a:rPr>
              <a:t>:hover</a:t>
            </a:r>
            <a:r>
              <a:rPr lang="en-AU" b="1" dirty="0"/>
              <a:t>:</a:t>
            </a:r>
            <a:r>
              <a:rPr lang="en-AU" dirty="0"/>
              <a:t> Styles an element when the mouse pointer hovers over it.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92D050"/>
                </a:solidFill>
              </a:rPr>
              <a:t>:active</a:t>
            </a:r>
            <a:r>
              <a:rPr lang="en-AU" b="1" dirty="0"/>
              <a:t>:</a:t>
            </a:r>
            <a:r>
              <a:rPr lang="en-AU" dirty="0"/>
              <a:t> Styles an element when it's being clicked or activated.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92D050"/>
                </a:solidFill>
              </a:rPr>
              <a:t>:nth-child()</a:t>
            </a:r>
            <a:r>
              <a:rPr lang="en-AU" b="1" dirty="0"/>
              <a:t>:</a:t>
            </a:r>
            <a:r>
              <a:rPr lang="en-AU" dirty="0"/>
              <a:t> Selects elements based on their position within a parent element.</a:t>
            </a:r>
          </a:p>
          <a:p>
            <a:pPr marL="0" indent="0">
              <a:buNone/>
            </a:pPr>
            <a:r>
              <a:rPr lang="en-AU" dirty="0"/>
              <a:t> </a:t>
            </a:r>
          </a:p>
          <a:p>
            <a:pPr marL="0" indent="0">
              <a:buNone/>
            </a:pPr>
            <a:r>
              <a:rPr lang="en-AU" b="1" dirty="0">
                <a:solidFill>
                  <a:srgbClr val="92D050"/>
                </a:solidFill>
              </a:rPr>
              <a:t>:first-child</a:t>
            </a:r>
            <a:r>
              <a:rPr lang="en-AU" b="1" dirty="0"/>
              <a:t>:</a:t>
            </a:r>
            <a:r>
              <a:rPr lang="en-AU" dirty="0"/>
              <a:t> Selects the first child element of its parent.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7633137" y="1011172"/>
            <a:ext cx="429610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Pseudo-classes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 err="1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button:hover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background-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	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lightgray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 err="1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a:active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red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 err="1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li:nth-child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(odd)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background-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		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lightblue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 err="1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li:first-child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font-weight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bold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24927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6592614" cy="921254"/>
          </a:xfrm>
        </p:spPr>
        <p:txBody>
          <a:bodyPr>
            <a:normAutofit fontScale="90000"/>
          </a:bodyPr>
          <a:lstStyle/>
          <a:p>
            <a:r>
              <a:rPr lang="en-US" dirty="0"/>
              <a:t>Pseudo Elements - Examples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72958" y="2049419"/>
            <a:ext cx="5373415" cy="34895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solidFill>
                  <a:srgbClr val="92D050"/>
                </a:solidFill>
              </a:rPr>
              <a:t>::before</a:t>
            </a:r>
            <a:r>
              <a:rPr lang="en-AU" sz="2800" b="1" dirty="0"/>
              <a:t>:</a:t>
            </a:r>
            <a:r>
              <a:rPr lang="en-AU" sz="2800" dirty="0"/>
              <a:t> Adds content before the selected element. </a:t>
            </a:r>
          </a:p>
          <a:p>
            <a:pPr marL="0" indent="0">
              <a:buNone/>
            </a:pPr>
            <a:r>
              <a:rPr lang="en-AU" sz="2800" b="1" dirty="0">
                <a:solidFill>
                  <a:srgbClr val="92D050"/>
                </a:solidFill>
              </a:rPr>
              <a:t>::after</a:t>
            </a:r>
            <a:r>
              <a:rPr lang="en-AU" sz="2800" b="1" dirty="0"/>
              <a:t>:</a:t>
            </a:r>
            <a:r>
              <a:rPr lang="en-AU" sz="2800" dirty="0"/>
              <a:t> Adds content after the selected element. </a:t>
            </a:r>
          </a:p>
          <a:p>
            <a:pPr marL="0" indent="0">
              <a:buNone/>
            </a:pPr>
            <a:endParaRPr lang="en-AU" sz="2800" dirty="0"/>
          </a:p>
          <a:p>
            <a:pPr marL="0" indent="0">
              <a:buNone/>
            </a:pPr>
            <a:r>
              <a:rPr lang="en-AU" sz="2800" dirty="0"/>
              <a:t>How might these be used for a hamburger menu?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917027" y="1690688"/>
            <a:ext cx="429610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Pseudo-elements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button::before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content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"🚀"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margin-right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button::after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content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"Click Me!"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font-weight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bold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05000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6592614" cy="921254"/>
          </a:xfrm>
        </p:spPr>
        <p:txBody>
          <a:bodyPr/>
          <a:lstStyle/>
          <a:p>
            <a:r>
              <a:rPr lang="en-US" dirty="0"/>
              <a:t>Attribute Selectors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373415" cy="403914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AU" b="1" dirty="0"/>
              <a:t>Attribute Selectors:</a:t>
            </a:r>
            <a:r>
              <a:rPr lang="en-AU" dirty="0"/>
              <a:t> Attribute selectors target HTML elements based on their attributes or attribute values.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Syntax:</a:t>
            </a:r>
            <a:r>
              <a:rPr lang="en-AU" dirty="0"/>
              <a:t> The basic syntax of an attribute selector can be shown as </a:t>
            </a:r>
            <a:r>
              <a:rPr lang="en-AU" dirty="0">
                <a:solidFill>
                  <a:srgbClr val="92D050"/>
                </a:solidFill>
              </a:rPr>
              <a:t>[attribute=value]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6726621" y="2514151"/>
            <a:ext cx="51605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"submit"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background-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green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href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example.com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purple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40254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6592614" cy="921254"/>
          </a:xfrm>
        </p:spPr>
        <p:txBody>
          <a:bodyPr>
            <a:normAutofit/>
          </a:bodyPr>
          <a:lstStyle/>
          <a:p>
            <a:r>
              <a:rPr lang="en-US" dirty="0"/>
              <a:t>Attribute Selectors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3303" y="1765639"/>
            <a:ext cx="5373415" cy="348953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sz="2800" b="1" dirty="0">
                <a:solidFill>
                  <a:schemeClr val="tx1"/>
                </a:solidFill>
              </a:rPr>
              <a:t>Attribute Presence Selector: </a:t>
            </a:r>
            <a:r>
              <a:rPr lang="en-AU" sz="2800" dirty="0">
                <a:solidFill>
                  <a:schemeClr val="tx1"/>
                </a:solidFill>
              </a:rPr>
              <a:t>Targets elements with a specific attribute</a:t>
            </a:r>
          </a:p>
          <a:p>
            <a:pPr marL="0" indent="0">
              <a:buNone/>
            </a:pPr>
            <a:endParaRPr lang="en-AU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AU" sz="2800" b="1" dirty="0"/>
              <a:t>Exact Match Selector: </a:t>
            </a:r>
            <a:r>
              <a:rPr lang="en-AU" sz="2800" dirty="0"/>
              <a:t>Targets elements with a specific attribute and exact attribute value</a:t>
            </a:r>
          </a:p>
          <a:p>
            <a:pPr marL="0" indent="0">
              <a:buNone/>
            </a:pPr>
            <a:endParaRPr lang="en-AU" sz="2800" dirty="0"/>
          </a:p>
          <a:p>
            <a:pPr marL="0" indent="0">
              <a:buNone/>
            </a:pPr>
            <a:r>
              <a:rPr lang="en-AU" sz="2800" b="1" dirty="0"/>
              <a:t>Substring Match Selector: </a:t>
            </a:r>
            <a:r>
              <a:rPr lang="en-AU" sz="2800" dirty="0"/>
              <a:t>Targets elements with an attribute value containing a specific substring.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6508533" y="951186"/>
            <a:ext cx="503182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Attribute Presence Selector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border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solid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blue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Exact Match Selector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"submit"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background-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green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Substring Match Selector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href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example.com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purple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765195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6592614" cy="921254"/>
          </a:xfrm>
        </p:spPr>
        <p:txBody>
          <a:bodyPr>
            <a:normAutofit/>
          </a:bodyPr>
          <a:lstStyle/>
          <a:p>
            <a:r>
              <a:rPr lang="en-US" dirty="0"/>
              <a:t>Attribute Selectors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0385" y="1786659"/>
            <a:ext cx="5373415" cy="34895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solidFill>
                  <a:schemeClr val="tx1"/>
                </a:solidFill>
              </a:rPr>
              <a:t>Starts With Selector: </a:t>
            </a:r>
            <a:r>
              <a:rPr lang="en-AU" sz="2800" dirty="0">
                <a:solidFill>
                  <a:schemeClr val="tx1"/>
                </a:solidFill>
              </a:rPr>
              <a:t>Targets elements with an attribute value that starts with a specific string.</a:t>
            </a:r>
          </a:p>
          <a:p>
            <a:pPr marL="0" indent="0">
              <a:buNone/>
            </a:pPr>
            <a:endParaRPr lang="en-AU" sz="2800" b="1" dirty="0"/>
          </a:p>
          <a:p>
            <a:pPr marL="0" indent="0">
              <a:buNone/>
            </a:pPr>
            <a:r>
              <a:rPr lang="en-AU" sz="2800" b="1" dirty="0"/>
              <a:t>Ends With Selector: </a:t>
            </a:r>
            <a:r>
              <a:rPr lang="en-AU" sz="2800" dirty="0"/>
              <a:t>Targets elements with an attribute value that ends with a specific string.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838200" y="2069062"/>
            <a:ext cx="503182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Starts With Selector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^=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"images/"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border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solid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gray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Ends With Selector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$=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"-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btn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background-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yellow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662163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6875-78DA-1F13-0676-31294407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Challenge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A35D-DA2F-538D-A4E1-4972F64B2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/>
              <a:t>Download the starter code – in session 7</a:t>
            </a:r>
          </a:p>
          <a:p>
            <a:r>
              <a:rPr lang="en-AU" dirty="0"/>
              <a:t>Make the first Navigation link a different colour to the rest using first-child</a:t>
            </a:r>
          </a:p>
          <a:p>
            <a:r>
              <a:rPr lang="en-AU" dirty="0"/>
              <a:t>Make the header before the events list standout using only a pseudo element</a:t>
            </a:r>
          </a:p>
          <a:p>
            <a:r>
              <a:rPr lang="en-AU" dirty="0"/>
              <a:t>Style the button using an attribute selector so that it changes colour on hover</a:t>
            </a:r>
          </a:p>
          <a:p>
            <a:r>
              <a:rPr lang="en-AU" dirty="0"/>
              <a:t>Use the nth-child selector to make the two “read more” links different colours from each other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9412796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023F-5D40-D35A-84E4-5014CE268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@Media Queries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DC421-7F5B-2BCA-31A1-B147DDFCE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219752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6592614" cy="921254"/>
          </a:xfrm>
        </p:spPr>
        <p:txBody>
          <a:bodyPr>
            <a:normAutofit/>
          </a:bodyPr>
          <a:lstStyle/>
          <a:p>
            <a:r>
              <a:rPr lang="en-US" dirty="0"/>
              <a:t>Recap…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70483" y="1690688"/>
            <a:ext cx="6180083" cy="4047960"/>
          </a:xfrm>
        </p:spPr>
        <p:txBody>
          <a:bodyPr>
            <a:normAutofit fontScale="92500" lnSpcReduction="10000"/>
          </a:bodyPr>
          <a:lstStyle/>
          <a:p>
            <a:r>
              <a:rPr lang="en-AU" sz="2800" b="1" dirty="0">
                <a:solidFill>
                  <a:schemeClr val="tx1"/>
                </a:solidFill>
              </a:rPr>
              <a:t>Defining Breakpoints: </a:t>
            </a:r>
            <a:r>
              <a:rPr lang="en-AU" sz="2800" dirty="0">
                <a:solidFill>
                  <a:schemeClr val="tx1"/>
                </a:solidFill>
              </a:rPr>
              <a:t>specific screen widths </a:t>
            </a:r>
          </a:p>
          <a:p>
            <a:r>
              <a:rPr lang="en-AU" sz="2800" b="1" dirty="0">
                <a:solidFill>
                  <a:schemeClr val="tx1"/>
                </a:solidFill>
              </a:rPr>
              <a:t>Responsive Design: </a:t>
            </a:r>
            <a:r>
              <a:rPr lang="en-AU" sz="2800" dirty="0">
                <a:solidFill>
                  <a:schemeClr val="tx1"/>
                </a:solidFill>
              </a:rPr>
              <a:t>crucial role in mobile first design</a:t>
            </a:r>
          </a:p>
          <a:p>
            <a:r>
              <a:rPr lang="en-AU" sz="2800" b="1" dirty="0">
                <a:solidFill>
                  <a:schemeClr val="tx1"/>
                </a:solidFill>
              </a:rPr>
              <a:t>Adaptive Layouts: used as </a:t>
            </a:r>
            <a:r>
              <a:rPr lang="en-AU" sz="2800" dirty="0">
                <a:solidFill>
                  <a:schemeClr val="tx1"/>
                </a:solidFill>
              </a:rPr>
              <a:t>conditions to apply different styles </a:t>
            </a:r>
          </a:p>
          <a:p>
            <a:r>
              <a:rPr lang="en-AU" sz="2800" b="1" dirty="0">
                <a:solidFill>
                  <a:schemeClr val="tx1"/>
                </a:solidFill>
              </a:rPr>
              <a:t>Design Considerations</a:t>
            </a:r>
            <a:r>
              <a:rPr lang="en-AU" sz="2800" dirty="0">
                <a:solidFill>
                  <a:schemeClr val="tx1"/>
                </a:solidFill>
              </a:rPr>
              <a:t>: anticipate how the content will look at different breakpoints.</a:t>
            </a:r>
          </a:p>
          <a:p>
            <a:r>
              <a:rPr lang="en-AU" sz="2800" b="1" dirty="0">
                <a:solidFill>
                  <a:schemeClr val="tx1"/>
                </a:solidFill>
              </a:rPr>
              <a:t>Multiple Breakpoints:</a:t>
            </a:r>
            <a:r>
              <a:rPr lang="en-AU" sz="2800" dirty="0">
                <a:solidFill>
                  <a:schemeClr val="tx1"/>
                </a:solidFill>
              </a:rPr>
              <a:t> A website can have multiple breakpoints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838201" y="2069062"/>
            <a:ext cx="451156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@media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screen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and (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min-width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1200px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	body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font-size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20px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.container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max-width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1140px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482598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6592614" cy="921254"/>
          </a:xfrm>
        </p:spPr>
        <p:txBody>
          <a:bodyPr>
            <a:normAutofit/>
          </a:bodyPr>
          <a:lstStyle/>
          <a:p>
            <a:r>
              <a:rPr lang="en-US" dirty="0"/>
              <a:t>Breakpoint Usage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257800" cy="393234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2800" b="1" dirty="0">
                <a:solidFill>
                  <a:schemeClr val="accent3"/>
                </a:solidFill>
              </a:rPr>
              <a:t>Mobile-first (default): </a:t>
            </a:r>
            <a:r>
              <a:rPr lang="en-AU" sz="2800" b="1" dirty="0">
                <a:solidFill>
                  <a:schemeClr val="tx1"/>
                </a:solidFill>
              </a:rPr>
              <a:t>font size is set to 16px &amp; the container has some padding.</a:t>
            </a:r>
          </a:p>
          <a:p>
            <a:pPr marL="0" indent="0">
              <a:buNone/>
            </a:pPr>
            <a:endParaRPr lang="en-AU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AU" sz="2800" b="1" dirty="0">
                <a:solidFill>
                  <a:schemeClr val="accent3"/>
                </a:solidFill>
              </a:rPr>
              <a:t>Tablet breakpoint (min-width: 768px): </a:t>
            </a:r>
            <a:r>
              <a:rPr lang="en-AU" sz="2800" dirty="0">
                <a:solidFill>
                  <a:schemeClr val="tx1"/>
                </a:solidFill>
              </a:rPr>
              <a:t>font size is increased to 18px &amp; the container's maximum width is set to 768px with </a:t>
            </a:r>
            <a:r>
              <a:rPr lang="en-AU" sz="2800" dirty="0" err="1">
                <a:solidFill>
                  <a:schemeClr val="tx1"/>
                </a:solidFill>
              </a:rPr>
              <a:t>centered</a:t>
            </a:r>
            <a:r>
              <a:rPr lang="en-AU" sz="2800" dirty="0">
                <a:solidFill>
                  <a:schemeClr val="tx1"/>
                </a:solidFill>
              </a:rPr>
              <a:t> alignment.</a:t>
            </a:r>
          </a:p>
          <a:p>
            <a:pPr marL="0" indent="0">
              <a:buNone/>
            </a:pPr>
            <a:endParaRPr lang="en-AU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AU" sz="2800" b="1" dirty="0">
                <a:solidFill>
                  <a:schemeClr val="accent3"/>
                </a:solidFill>
              </a:rPr>
              <a:t>Laptop breakpoint (min-width: 1200px): </a:t>
            </a:r>
            <a:r>
              <a:rPr lang="en-AU" sz="2800" dirty="0">
                <a:solidFill>
                  <a:schemeClr val="tx1"/>
                </a:solidFill>
              </a:rPr>
              <a:t>font size is increased to 20px &amp; the container's maximum width is set to 1140px.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92DCA-EBE7-EDD0-98CC-AC6881857198}"/>
              </a:ext>
            </a:extLst>
          </p:cNvPr>
          <p:cNvSpPr txBox="1"/>
          <p:nvPr/>
        </p:nvSpPr>
        <p:spPr>
          <a:xfrm>
            <a:off x="6400800" y="769434"/>
            <a:ext cx="542333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@media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screen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and (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min-width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768px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	body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font-size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18px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	.container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max-width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768px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margin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auto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-A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@media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screen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and (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min-width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1200px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	body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font-size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20px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	.container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max-width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1140px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12747841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6592614" cy="921254"/>
          </a:xfrm>
        </p:spPr>
        <p:txBody>
          <a:bodyPr>
            <a:normAutofit/>
          </a:bodyPr>
          <a:lstStyle/>
          <a:p>
            <a:r>
              <a:rPr lang="en-US" dirty="0"/>
              <a:t>Media Query Structure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70483" y="1690688"/>
            <a:ext cx="6180083" cy="4047960"/>
          </a:xfrm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chemeClr val="tx1"/>
                </a:solidFill>
              </a:rPr>
              <a:t>Basic Structure: </a:t>
            </a:r>
            <a:r>
              <a:rPr lang="en-AU" sz="2800" dirty="0">
                <a:solidFill>
                  <a:schemeClr val="tx1"/>
                </a:solidFill>
              </a:rPr>
              <a:t>syntax starts with @media followed by one or more conditions enclosed in parentheses.</a:t>
            </a:r>
          </a:p>
          <a:p>
            <a:r>
              <a:rPr lang="en-AU" sz="2800" b="1" dirty="0">
                <a:solidFill>
                  <a:schemeClr val="tx1"/>
                </a:solidFill>
              </a:rPr>
              <a:t>Conditions: </a:t>
            </a:r>
            <a:r>
              <a:rPr lang="en-AU" sz="2800" dirty="0">
                <a:solidFill>
                  <a:schemeClr val="tx1"/>
                </a:solidFill>
              </a:rPr>
              <a:t>can include media features like screen width, orientation, resolution</a:t>
            </a:r>
          </a:p>
          <a:p>
            <a:r>
              <a:rPr lang="en-AU" sz="2800" b="1" dirty="0">
                <a:solidFill>
                  <a:schemeClr val="tx1"/>
                </a:solidFill>
              </a:rPr>
              <a:t>Applying Styles: s</a:t>
            </a:r>
            <a:r>
              <a:rPr lang="en-AU" sz="2800" dirty="0">
                <a:solidFill>
                  <a:schemeClr val="tx1"/>
                </a:solidFill>
              </a:rPr>
              <a:t>tyles are only applied when the conditions are met.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838201" y="2069062"/>
            <a:ext cx="451156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@media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screen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and (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min-width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1200px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	body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font-size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20px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.container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max-width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1140px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620481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6592614" cy="921254"/>
          </a:xfrm>
        </p:spPr>
        <p:txBody>
          <a:bodyPr>
            <a:normAutofit/>
          </a:bodyPr>
          <a:lstStyle/>
          <a:p>
            <a:r>
              <a:rPr lang="en-US" dirty="0"/>
              <a:t>Media Types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59966"/>
            <a:ext cx="5257800" cy="2446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solidFill>
                  <a:schemeClr val="accent3"/>
                </a:solidFill>
              </a:rPr>
              <a:t>screen: </a:t>
            </a:r>
            <a:r>
              <a:rPr lang="en-AU" sz="2800" b="1" dirty="0">
                <a:solidFill>
                  <a:schemeClr val="tx1"/>
                </a:solidFill>
              </a:rPr>
              <a:t>used for typical screens </a:t>
            </a:r>
            <a:r>
              <a:rPr lang="en-AU" sz="2800" b="1" dirty="0">
                <a:solidFill>
                  <a:schemeClr val="accent3"/>
                </a:solidFill>
              </a:rPr>
              <a:t>print: </a:t>
            </a:r>
            <a:r>
              <a:rPr lang="en-AU" sz="2800" b="1" dirty="0">
                <a:solidFill>
                  <a:schemeClr val="tx1"/>
                </a:solidFill>
              </a:rPr>
              <a:t>styles when printing a webpage</a:t>
            </a:r>
          </a:p>
          <a:p>
            <a:pPr marL="0" indent="0">
              <a:buNone/>
            </a:pPr>
            <a:r>
              <a:rPr lang="en-AU" sz="2800" b="1" dirty="0">
                <a:solidFill>
                  <a:schemeClr val="accent3"/>
                </a:solidFill>
              </a:rPr>
              <a:t>all: </a:t>
            </a:r>
            <a:r>
              <a:rPr lang="en-AU" sz="2800" b="1" dirty="0">
                <a:solidFill>
                  <a:schemeClr val="tx1"/>
                </a:solidFill>
              </a:rPr>
              <a:t>default value for all media types.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92DCA-EBE7-EDD0-98CC-AC6881857198}"/>
              </a:ext>
            </a:extLst>
          </p:cNvPr>
          <p:cNvSpPr txBox="1"/>
          <p:nvPr/>
        </p:nvSpPr>
        <p:spPr>
          <a:xfrm>
            <a:off x="5959365" y="1582340"/>
            <a:ext cx="595936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Example 1: Styles for screens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@media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screen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	body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background-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lightgray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Example 2: Styles for printing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@media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	.print-header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display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644202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92" y="625352"/>
            <a:ext cx="6592614" cy="921254"/>
          </a:xfrm>
        </p:spPr>
        <p:txBody>
          <a:bodyPr>
            <a:normAutofit/>
          </a:bodyPr>
          <a:lstStyle/>
          <a:p>
            <a:r>
              <a:rPr lang="en-US" dirty="0"/>
              <a:t>Logical Operators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5189" y="1690688"/>
            <a:ext cx="5257800" cy="3932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solidFill>
                  <a:schemeClr val="accent3"/>
                </a:solidFill>
              </a:rPr>
              <a:t>and: </a:t>
            </a:r>
            <a:r>
              <a:rPr lang="en-AU" sz="2800" dirty="0">
                <a:solidFill>
                  <a:schemeClr val="tx1"/>
                </a:solidFill>
              </a:rPr>
              <a:t>combines conditions, ensuring all conditions are met</a:t>
            </a:r>
          </a:p>
          <a:p>
            <a:pPr marL="0" indent="0">
              <a:buNone/>
            </a:pPr>
            <a:r>
              <a:rPr lang="en-AU" sz="2800" b="1" dirty="0">
                <a:solidFill>
                  <a:schemeClr val="accent3"/>
                </a:solidFill>
              </a:rPr>
              <a:t>not: </a:t>
            </a:r>
            <a:r>
              <a:rPr lang="en-AU" sz="2800" dirty="0">
                <a:solidFill>
                  <a:schemeClr val="tx1"/>
                </a:solidFill>
              </a:rPr>
              <a:t>negates a condition, applying styles when the specified condition is not met.</a:t>
            </a:r>
          </a:p>
          <a:p>
            <a:pPr marL="0" indent="0">
              <a:buNone/>
            </a:pPr>
            <a:r>
              <a:rPr lang="en-AU" sz="2800" b="1" dirty="0">
                <a:solidFill>
                  <a:schemeClr val="accent3"/>
                </a:solidFill>
              </a:rPr>
              <a:t>only: </a:t>
            </a:r>
            <a:r>
              <a:rPr lang="en-AU" sz="2800" dirty="0">
                <a:solidFill>
                  <a:schemeClr val="tx1"/>
                </a:solidFill>
              </a:rPr>
              <a:t>only ensures that the styles are applied only when the specified conditions are met.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92DCA-EBE7-EDD0-98CC-AC6881857198}"/>
              </a:ext>
            </a:extLst>
          </p:cNvPr>
          <p:cNvSpPr txBox="1"/>
          <p:nvPr/>
        </p:nvSpPr>
        <p:spPr>
          <a:xfrm>
            <a:off x="649011" y="1948701"/>
            <a:ext cx="54995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@media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not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screen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and (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	body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background-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white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black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-A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@media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only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screen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and (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max-width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1200px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	.menu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display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7946376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92" y="625352"/>
            <a:ext cx="6592614" cy="921254"/>
          </a:xfrm>
        </p:spPr>
        <p:txBody>
          <a:bodyPr>
            <a:normAutofit/>
          </a:bodyPr>
          <a:lstStyle/>
          <a:p>
            <a:r>
              <a:rPr lang="en-US" dirty="0"/>
              <a:t>@Media features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6237" y="1669667"/>
            <a:ext cx="5633542" cy="39323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2800" b="1" dirty="0">
                <a:solidFill>
                  <a:schemeClr val="accent3"/>
                </a:solidFill>
              </a:rPr>
              <a:t>width and height: </a:t>
            </a:r>
            <a:r>
              <a:rPr lang="en-AU" sz="2800" dirty="0">
                <a:solidFill>
                  <a:schemeClr val="tx1"/>
                </a:solidFill>
              </a:rPr>
              <a:t>width and height of the viewport</a:t>
            </a:r>
          </a:p>
          <a:p>
            <a:pPr marL="0" indent="0">
              <a:buNone/>
            </a:pPr>
            <a:r>
              <a:rPr lang="en-AU" sz="2800" b="1" dirty="0">
                <a:solidFill>
                  <a:schemeClr val="accent3"/>
                </a:solidFill>
              </a:rPr>
              <a:t>orientation: </a:t>
            </a:r>
            <a:r>
              <a:rPr lang="en-AU" sz="2800" dirty="0">
                <a:solidFill>
                  <a:schemeClr val="tx1"/>
                </a:solidFill>
              </a:rPr>
              <a:t>whether the device is in landscape or portrait mode.</a:t>
            </a:r>
          </a:p>
          <a:p>
            <a:pPr marL="0" indent="0">
              <a:buNone/>
            </a:pPr>
            <a:r>
              <a:rPr lang="en-AU" sz="2800" b="1" dirty="0">
                <a:solidFill>
                  <a:schemeClr val="accent3"/>
                </a:solidFill>
              </a:rPr>
              <a:t>device-width &amp; device-height: </a:t>
            </a:r>
            <a:r>
              <a:rPr lang="en-AU" sz="2800" dirty="0">
                <a:solidFill>
                  <a:schemeClr val="tx1"/>
                </a:solidFill>
              </a:rPr>
              <a:t>target the physical width and height of the device screen.</a:t>
            </a:r>
          </a:p>
          <a:p>
            <a:pPr marL="0" indent="0">
              <a:buNone/>
            </a:pPr>
            <a:r>
              <a:rPr lang="en-AU" sz="2800" b="1" dirty="0">
                <a:solidFill>
                  <a:schemeClr val="accent3"/>
                </a:solidFill>
              </a:rPr>
              <a:t>min-width &amp; max-width: </a:t>
            </a:r>
            <a:r>
              <a:rPr lang="en-AU" sz="2800" dirty="0">
                <a:solidFill>
                  <a:schemeClr val="tx1"/>
                </a:solidFill>
              </a:rPr>
              <a:t>minimum and maximum viewport width at which the styles should apply.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92DCA-EBE7-EDD0-98CC-AC6881857198}"/>
              </a:ext>
            </a:extLst>
          </p:cNvPr>
          <p:cNvSpPr txBox="1"/>
          <p:nvPr/>
        </p:nvSpPr>
        <p:spPr>
          <a:xfrm>
            <a:off x="6474372" y="1822576"/>
            <a:ext cx="54995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@media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not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screen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and (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	body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background-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white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black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-A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@media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only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screen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and (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max-width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1200px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	.menu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	display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	}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3692400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92" y="625352"/>
            <a:ext cx="6592614" cy="921254"/>
          </a:xfrm>
        </p:spPr>
        <p:txBody>
          <a:bodyPr>
            <a:normAutofit fontScale="90000"/>
          </a:bodyPr>
          <a:lstStyle/>
          <a:p>
            <a:r>
              <a:rPr lang="en-US" dirty="0"/>
              <a:t>@Media Features - Examples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92DCA-EBE7-EDD0-98CC-AC6881857198}"/>
              </a:ext>
            </a:extLst>
          </p:cNvPr>
          <p:cNvSpPr txBox="1"/>
          <p:nvPr/>
        </p:nvSpPr>
        <p:spPr>
          <a:xfrm>
            <a:off x="627992" y="1708333"/>
            <a:ext cx="105970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Using Width for Breakpoints: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C586C0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@media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max-width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768px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</a:t>
            </a:r>
          </a:p>
          <a:p>
            <a:endParaRPr lang="en-AU" dirty="0">
              <a:solidFill>
                <a:srgbClr val="C586C0"/>
              </a:solidFill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Orientation change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dirty="0">
              <a:solidFill>
                <a:srgbClr val="C586C0"/>
              </a:solidFill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@media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orientation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landscape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</a:t>
            </a:r>
          </a:p>
          <a:p>
            <a:endParaRPr lang="en-AU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Device-Dependent Styles: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@media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device-width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320px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</a:t>
            </a: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Combining Features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C586C0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@media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min-width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768px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and (</a:t>
            </a:r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orientation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landscape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</a:t>
            </a: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88136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6875-78DA-1F13-0676-31294407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Challenge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A35D-DA2F-538D-A4E1-4972F64B2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using the same code as challenge 1 &amp; chrome inspector &amp; choosing grid or flexbox</a:t>
            </a:r>
          </a:p>
          <a:p>
            <a:r>
              <a:rPr lang="en-AU" dirty="0"/>
              <a:t>use mobile first design to create two break points for tablet and desktop</a:t>
            </a:r>
          </a:p>
          <a:p>
            <a:r>
              <a:rPr lang="en-AU" dirty="0"/>
              <a:t>apply different styling to the main container class, navigation menu and events list for mobile, tablet &amp; desktop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87377692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023F-5D40-D35A-84E4-5014CE268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Fonts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DC421-7F5B-2BCA-31A1-B147DDFCE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1476551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92" y="625352"/>
            <a:ext cx="6592614" cy="921254"/>
          </a:xfrm>
        </p:spPr>
        <p:txBody>
          <a:bodyPr>
            <a:normAutofit/>
          </a:bodyPr>
          <a:lstStyle/>
          <a:p>
            <a:r>
              <a:rPr lang="en-AU" sz="4400" b="1" dirty="0"/>
              <a:t>Web-safe Fonts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6237" y="1669667"/>
            <a:ext cx="9574922" cy="39323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800" dirty="0"/>
              <a:t>These are fonts that are commonly available on most devices and operating systems. </a:t>
            </a:r>
          </a:p>
          <a:p>
            <a:pPr marL="0" indent="0">
              <a:buNone/>
            </a:pPr>
            <a:r>
              <a:rPr lang="en-AU" sz="2800" dirty="0"/>
              <a:t>They don't require external loading as they're already present on the user's system. </a:t>
            </a:r>
          </a:p>
          <a:p>
            <a:pPr marL="0" indent="0">
              <a:buNone/>
            </a:pPr>
            <a:endParaRPr lang="en-AU" sz="2800" dirty="0"/>
          </a:p>
          <a:p>
            <a:pPr marL="0" indent="0">
              <a:buNone/>
            </a:pPr>
            <a:r>
              <a:rPr lang="en-AU" sz="2800" dirty="0"/>
              <a:t>Examples include: </a:t>
            </a:r>
            <a:r>
              <a:rPr lang="en-AU" sz="2800" i="1" dirty="0">
                <a:solidFill>
                  <a:schemeClr val="accent3"/>
                </a:solidFill>
              </a:rPr>
              <a:t>Arial, Helvetica, Times New Roman, and Courier New.</a:t>
            </a:r>
          </a:p>
        </p:txBody>
      </p:sp>
    </p:spTree>
    <p:extLst>
      <p:ext uri="{BB962C8B-B14F-4D97-AF65-F5344CB8AC3E}">
        <p14:creationId xmlns:p14="http://schemas.microsoft.com/office/powerpoint/2010/main" val="2074463682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92" y="625352"/>
            <a:ext cx="6592614" cy="921254"/>
          </a:xfrm>
        </p:spPr>
        <p:txBody>
          <a:bodyPr>
            <a:normAutofit/>
          </a:bodyPr>
          <a:lstStyle/>
          <a:p>
            <a:r>
              <a:rPr lang="en-US" dirty="0"/>
              <a:t>External Font API’s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196" y="1797322"/>
            <a:ext cx="9228080" cy="2250692"/>
          </a:xfrm>
        </p:spPr>
        <p:txBody>
          <a:bodyPr>
            <a:normAutofit lnSpcReduction="10000"/>
          </a:bodyPr>
          <a:lstStyle/>
          <a:p>
            <a:r>
              <a:rPr lang="en-AU" sz="2800" dirty="0"/>
              <a:t>Font API’s provide a wide variety of free web fonts that you can include in your HTML and CSS. </a:t>
            </a:r>
          </a:p>
          <a:p>
            <a:endParaRPr lang="en-AU" sz="2800" dirty="0"/>
          </a:p>
          <a:p>
            <a:r>
              <a:rPr lang="en-AU" sz="2800" dirty="0"/>
              <a:t>Simply link to the desired fonts in your HTML's </a:t>
            </a:r>
            <a:r>
              <a:rPr lang="en-AU" sz="2800" dirty="0">
                <a:solidFill>
                  <a:schemeClr val="accent3"/>
                </a:solidFill>
              </a:rPr>
              <a:t>&lt;head&gt; </a:t>
            </a:r>
            <a:r>
              <a:rPr lang="en-AU" sz="2800" dirty="0"/>
              <a:t>section using the </a:t>
            </a:r>
            <a:r>
              <a:rPr lang="en-AU" sz="2800" dirty="0">
                <a:solidFill>
                  <a:schemeClr val="accent3"/>
                </a:solidFill>
              </a:rPr>
              <a:t>&lt;link&gt; </a:t>
            </a:r>
            <a:r>
              <a:rPr lang="en-AU" sz="2800" dirty="0"/>
              <a:t>tag. For example:</a:t>
            </a:r>
            <a:endParaRPr lang="en-AU" sz="28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92DCA-EBE7-EDD0-98CC-AC6881857198}"/>
              </a:ext>
            </a:extLst>
          </p:cNvPr>
          <p:cNvSpPr txBox="1"/>
          <p:nvPr/>
        </p:nvSpPr>
        <p:spPr>
          <a:xfrm>
            <a:off x="470337" y="4298730"/>
            <a:ext cx="11416863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link</a:t>
            </a:r>
            <a:r>
              <a:rPr lang="en-AU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rel</a:t>
            </a:r>
            <a:r>
              <a:rPr lang="en-AU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"stylesheet"</a:t>
            </a:r>
            <a:r>
              <a:rPr lang="en-AU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href</a:t>
            </a:r>
            <a:r>
              <a:rPr lang="en-AU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"https://</a:t>
            </a:r>
            <a:r>
              <a:rPr lang="en-AU" sz="1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fonts.googleapis.com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AU" sz="1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css?family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=Open+Sans:400,700"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AU" sz="1600" dirty="0">
              <a:solidFill>
                <a:srgbClr val="808080"/>
              </a:solidFill>
              <a:latin typeface="Menlo" panose="020B0609030804020204" pitchFamily="49" charset="0"/>
            </a:endParaRPr>
          </a:p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link</a:t>
            </a:r>
            <a:r>
              <a:rPr lang="en-AU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href</a:t>
            </a:r>
            <a:r>
              <a:rPr lang="en-AU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'http://</a:t>
            </a:r>
            <a:r>
              <a:rPr lang="en-AU" sz="1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fonts.googleapis.com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AU" sz="1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css?family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=Audiowide|Exo+2|Rambla|Scada'</a:t>
            </a:r>
            <a:r>
              <a:rPr lang="en-AU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rel</a:t>
            </a:r>
            <a:r>
              <a:rPr lang="en-AU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'stylesheet'</a:t>
            </a:r>
            <a:r>
              <a:rPr lang="en-AU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type</a:t>
            </a:r>
            <a:r>
              <a:rPr lang="en-AU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'text/</a:t>
            </a:r>
            <a:r>
              <a:rPr lang="en-AU" sz="1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css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16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408448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92" y="625352"/>
            <a:ext cx="6592614" cy="921254"/>
          </a:xfrm>
        </p:spPr>
        <p:txBody>
          <a:bodyPr>
            <a:normAutofit/>
          </a:bodyPr>
          <a:lstStyle/>
          <a:p>
            <a:r>
              <a:rPr lang="en-US" dirty="0"/>
              <a:t>Custom Fonts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7992" y="1702728"/>
            <a:ext cx="4803225" cy="3930816"/>
          </a:xfrm>
        </p:spPr>
        <p:txBody>
          <a:bodyPr>
            <a:normAutofit/>
          </a:bodyPr>
          <a:lstStyle/>
          <a:p>
            <a:r>
              <a:rPr lang="en-AU" sz="2800" dirty="0"/>
              <a:t>You can also use custom fonts by uploading font files (</a:t>
            </a:r>
            <a:r>
              <a:rPr lang="en-AU" sz="2800" dirty="0">
                <a:solidFill>
                  <a:schemeClr val="accent3"/>
                </a:solidFill>
              </a:rPr>
              <a:t>.</a:t>
            </a:r>
            <a:r>
              <a:rPr lang="en-AU" sz="2800" dirty="0" err="1">
                <a:solidFill>
                  <a:schemeClr val="accent3"/>
                </a:solidFill>
              </a:rPr>
              <a:t>woff</a:t>
            </a:r>
            <a:r>
              <a:rPr lang="en-AU" sz="2800" dirty="0">
                <a:solidFill>
                  <a:schemeClr val="accent3"/>
                </a:solidFill>
              </a:rPr>
              <a:t>, .woff2, .</a:t>
            </a:r>
            <a:r>
              <a:rPr lang="en-AU" sz="2800" dirty="0" err="1">
                <a:solidFill>
                  <a:schemeClr val="accent3"/>
                </a:solidFill>
              </a:rPr>
              <a:t>ttf</a:t>
            </a:r>
            <a:r>
              <a:rPr lang="en-AU" sz="2800" dirty="0">
                <a:solidFill>
                  <a:schemeClr val="accent3"/>
                </a:solidFill>
              </a:rPr>
              <a:t>, .</a:t>
            </a:r>
            <a:r>
              <a:rPr lang="en-AU" sz="2800" dirty="0" err="1">
                <a:solidFill>
                  <a:schemeClr val="accent3"/>
                </a:solidFill>
              </a:rPr>
              <a:t>otf</a:t>
            </a:r>
            <a:r>
              <a:rPr lang="en-AU" sz="2800" dirty="0"/>
              <a:t>)</a:t>
            </a:r>
          </a:p>
          <a:p>
            <a:endParaRPr lang="en-AU" sz="2800" dirty="0"/>
          </a:p>
          <a:p>
            <a:r>
              <a:rPr lang="en-AU" sz="2800" b="1" dirty="0">
                <a:solidFill>
                  <a:schemeClr val="accent3"/>
                </a:solidFill>
              </a:rPr>
              <a:t>@font-face </a:t>
            </a:r>
            <a:r>
              <a:rPr lang="en-AU" sz="2800" dirty="0"/>
              <a:t>in your CSS to specifies non-standard font sources. </a:t>
            </a:r>
            <a:endParaRPr lang="en-AU" sz="28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92DCA-EBE7-EDD0-98CC-AC6881857198}"/>
              </a:ext>
            </a:extLst>
          </p:cNvPr>
          <p:cNvSpPr txBox="1"/>
          <p:nvPr/>
        </p:nvSpPr>
        <p:spPr>
          <a:xfrm>
            <a:off x="5431217" y="1902427"/>
            <a:ext cx="67476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@font-face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	</a:t>
            </a:r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This is the name you'll use to reference the font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font-family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‘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MyFont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’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	</a:t>
            </a:r>
          </a:p>
          <a:p>
            <a:endParaRPr lang="en-AU" b="0" dirty="0">
              <a:solidFill>
                <a:srgbClr val="6A9955"/>
              </a:solidFill>
              <a:effectLst/>
              <a:latin typeface="Menlo" panose="020B0609030804020204" pitchFamily="49" charset="0"/>
            </a:endParaRPr>
          </a:p>
          <a:p>
            <a:r>
              <a:rPr lang="en-AU" dirty="0">
                <a:solidFill>
                  <a:srgbClr val="6A9955"/>
                </a:solidFill>
                <a:latin typeface="Menlo" panose="020B0609030804020204" pitchFamily="49" charset="0"/>
              </a:rPr>
              <a:t>	</a:t>
            </a:r>
            <a:r>
              <a:rPr lang="en-A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/* Provide the path to the font files */</a:t>
            </a: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url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'fonts/my-font.woff2’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		</a:t>
            </a:r>
            <a:r>
              <a:rPr lang="en-AU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format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'woff2'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AU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url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'fonts/my-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font.woff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AU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format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woff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4348260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91" y="625352"/>
            <a:ext cx="8778767" cy="921254"/>
          </a:xfrm>
        </p:spPr>
        <p:txBody>
          <a:bodyPr>
            <a:normAutofit/>
          </a:bodyPr>
          <a:lstStyle/>
          <a:p>
            <a:r>
              <a:rPr lang="en-US" dirty="0"/>
              <a:t>Font Properties – Common Examples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6158" y="1610430"/>
            <a:ext cx="5772808" cy="4279683"/>
          </a:xfrm>
        </p:spPr>
        <p:txBody>
          <a:bodyPr>
            <a:noAutofit/>
          </a:bodyPr>
          <a:lstStyle/>
          <a:p>
            <a:r>
              <a:rPr lang="en-AU" sz="2400" b="1" dirty="0">
                <a:solidFill>
                  <a:schemeClr val="accent3"/>
                </a:solidFill>
              </a:rPr>
              <a:t>font-family: </a:t>
            </a:r>
            <a:r>
              <a:rPr lang="en-AU" sz="2400" dirty="0">
                <a:solidFill>
                  <a:schemeClr val="tx1"/>
                </a:solidFill>
              </a:rPr>
              <a:t>specifies the font to be used for text, in order of preference</a:t>
            </a:r>
          </a:p>
          <a:p>
            <a:r>
              <a:rPr lang="en-AU" sz="2400" b="1" dirty="0">
                <a:solidFill>
                  <a:schemeClr val="accent3"/>
                </a:solidFill>
              </a:rPr>
              <a:t>font-style: </a:t>
            </a:r>
            <a:r>
              <a:rPr lang="en-AU" sz="2400" dirty="0">
                <a:solidFill>
                  <a:schemeClr val="tx1"/>
                </a:solidFill>
              </a:rPr>
              <a:t>values include normal &amp; italic</a:t>
            </a:r>
          </a:p>
          <a:p>
            <a:r>
              <a:rPr lang="en-AU" sz="2400" b="1" dirty="0">
                <a:solidFill>
                  <a:schemeClr val="accent3"/>
                </a:solidFill>
              </a:rPr>
              <a:t>text-transform: </a:t>
            </a:r>
            <a:r>
              <a:rPr lang="en-AU" sz="2400" dirty="0">
                <a:solidFill>
                  <a:schemeClr val="tx1"/>
                </a:solidFill>
              </a:rPr>
              <a:t>values include uppercase &amp; </a:t>
            </a:r>
            <a:r>
              <a:rPr lang="en-AU" sz="2400" dirty="0">
                <a:solidFill>
                  <a:schemeClr val="accent3"/>
                </a:solidFill>
              </a:rPr>
              <a:t>none</a:t>
            </a:r>
            <a:r>
              <a:rPr lang="en-AU" sz="2400" dirty="0">
                <a:solidFill>
                  <a:schemeClr val="tx1"/>
                </a:solidFill>
              </a:rPr>
              <a:t>.</a:t>
            </a:r>
          </a:p>
          <a:p>
            <a:r>
              <a:rPr lang="en-AU" sz="2400" b="1" dirty="0">
                <a:solidFill>
                  <a:schemeClr val="accent3"/>
                </a:solidFill>
              </a:rPr>
              <a:t>text-align: </a:t>
            </a:r>
            <a:r>
              <a:rPr lang="en-AU" sz="2400" dirty="0">
                <a:solidFill>
                  <a:schemeClr val="tx1"/>
                </a:solidFill>
              </a:rPr>
              <a:t>alignment of the text </a:t>
            </a:r>
          </a:p>
          <a:p>
            <a:r>
              <a:rPr lang="en-AU" sz="2400" b="1" dirty="0">
                <a:solidFill>
                  <a:schemeClr val="accent3"/>
                </a:solidFill>
              </a:rPr>
              <a:t>letter-spacing: </a:t>
            </a:r>
            <a:r>
              <a:rPr lang="en-AU" sz="2400" dirty="0"/>
              <a:t>spacing between characters.</a:t>
            </a:r>
          </a:p>
          <a:p>
            <a:r>
              <a:rPr lang="en-AU" sz="2400" b="1" dirty="0">
                <a:solidFill>
                  <a:schemeClr val="accent3"/>
                </a:solidFill>
              </a:rPr>
              <a:t>line-height: </a:t>
            </a:r>
            <a:r>
              <a:rPr lang="en-AU" sz="2400" dirty="0">
                <a:solidFill>
                  <a:schemeClr val="tx1"/>
                </a:solidFill>
              </a:rPr>
              <a:t>space between lines of text.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92DCA-EBE7-EDD0-98CC-AC6881857198}"/>
              </a:ext>
            </a:extLst>
          </p:cNvPr>
          <p:cNvSpPr txBox="1"/>
          <p:nvPr/>
        </p:nvSpPr>
        <p:spPr>
          <a:xfrm>
            <a:off x="6568966" y="2596109"/>
            <a:ext cx="54443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h1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font-family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MyFont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sans-serif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font-weight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bold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letter-spacing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2px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text-align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center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	text-transform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uppercase</a:t>
            </a:r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1161901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6875-78DA-1F13-0676-31294407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Challenge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A35D-DA2F-538D-A4E1-4972F64B2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Download a font in Google Fonts – load this file into your fonts folder (try 2 fonts for an extra challenge)</a:t>
            </a:r>
          </a:p>
          <a:p>
            <a:r>
              <a:rPr lang="en-AU" dirty="0"/>
              <a:t>Apply this font to your code using </a:t>
            </a:r>
            <a:r>
              <a:rPr lang="en-AU" dirty="0">
                <a:solidFill>
                  <a:schemeClr val="accent3"/>
                </a:solidFill>
              </a:rPr>
              <a:t>@font-face</a:t>
            </a:r>
            <a:endParaRPr lang="en-AU" dirty="0"/>
          </a:p>
          <a:p>
            <a:r>
              <a:rPr lang="en-AU" dirty="0"/>
              <a:t>Select another font from Google Fonts but use the </a:t>
            </a:r>
            <a:r>
              <a:rPr lang="en-AU" dirty="0">
                <a:solidFill>
                  <a:schemeClr val="accent3"/>
                </a:solidFill>
              </a:rPr>
              <a:t>&lt;link&gt; </a:t>
            </a:r>
            <a:r>
              <a:rPr lang="en-AU" dirty="0"/>
              <a:t>method in your html </a:t>
            </a:r>
            <a:r>
              <a:rPr lang="en-AU" dirty="0">
                <a:solidFill>
                  <a:schemeClr val="accent3"/>
                </a:solidFill>
              </a:rPr>
              <a:t>&lt;head&gt; </a:t>
            </a:r>
            <a:r>
              <a:rPr lang="en-AU" dirty="0"/>
              <a:t>to load it</a:t>
            </a:r>
          </a:p>
          <a:p>
            <a:r>
              <a:rPr lang="en-AU" dirty="0"/>
              <a:t>Apply this font to your code using </a:t>
            </a:r>
            <a:r>
              <a:rPr lang="en-AU" dirty="0">
                <a:solidFill>
                  <a:schemeClr val="accent3"/>
                </a:solidFill>
              </a:rPr>
              <a:t>font-family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6163008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6875-78DA-1F13-0676-31294407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A35D-DA2F-538D-A4E1-4972F64B2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Programming interface in the form of a tree, each node in the tree corresponds to an element, attribute, or text in the document. </a:t>
            </a:r>
          </a:p>
          <a:p>
            <a:r>
              <a:rPr lang="en-AU" dirty="0"/>
              <a:t>Provides a dynamic representation of the document, which can be modified in real-time through scripting languages.</a:t>
            </a:r>
          </a:p>
          <a:p>
            <a:r>
              <a:rPr lang="en-AU" dirty="0"/>
              <a:t>Many languages like Python, Ruby, or JavaScript can also interact with the DOM.</a:t>
            </a:r>
          </a:p>
        </p:txBody>
      </p:sp>
    </p:spTree>
    <p:extLst>
      <p:ext uri="{BB962C8B-B14F-4D97-AF65-F5344CB8AC3E}">
        <p14:creationId xmlns:p14="http://schemas.microsoft.com/office/powerpoint/2010/main" val="1900883366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3B06489-28B4-4ED8-8A85-11C274CCA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7889" y="1253331"/>
            <a:ext cx="7129499" cy="4351338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B24A336-1690-43D3-A966-13A354AC2600}"/>
              </a:ext>
            </a:extLst>
          </p:cNvPr>
          <p:cNvSpPr txBox="1"/>
          <p:nvPr/>
        </p:nvSpPr>
        <p:spPr>
          <a:xfrm>
            <a:off x="8843750" y="3168359"/>
            <a:ext cx="2838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/>
              <a:t>The DOM Tree</a:t>
            </a:r>
          </a:p>
        </p:txBody>
      </p:sp>
    </p:spTree>
    <p:extLst>
      <p:ext uri="{BB962C8B-B14F-4D97-AF65-F5344CB8AC3E}">
        <p14:creationId xmlns:p14="http://schemas.microsoft.com/office/powerpoint/2010/main" val="95019671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6875-78DA-1F13-0676-31294407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DOM – Modern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A35D-DA2F-538D-A4E1-4972F64B2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Both CSS and JavaScript interact with the DOM. CSS selects elements in the DOM to apply styles</a:t>
            </a:r>
          </a:p>
          <a:p>
            <a:r>
              <a:rPr lang="en-AU" sz="3600" dirty="0"/>
              <a:t>CSS can utilise pseudo-classes like </a:t>
            </a:r>
            <a:r>
              <a:rPr lang="en-AU" sz="3600" b="1" i="1" dirty="0">
                <a:solidFill>
                  <a:srgbClr val="FFC000"/>
                </a:solidFill>
              </a:rPr>
              <a:t>hover </a:t>
            </a:r>
            <a:r>
              <a:rPr lang="en-AU" sz="3600" dirty="0"/>
              <a:t>or </a:t>
            </a:r>
            <a:r>
              <a:rPr lang="en-AU" sz="3600" b="1" i="1" dirty="0">
                <a:solidFill>
                  <a:srgbClr val="FFC000"/>
                </a:solidFill>
              </a:rPr>
              <a:t>:focus </a:t>
            </a:r>
            <a:r>
              <a:rPr lang="en-AU" sz="3600" dirty="0"/>
              <a:t>to apply styles based on user interaction(events)</a:t>
            </a:r>
          </a:p>
          <a:p>
            <a:r>
              <a:rPr lang="en-AU" sz="3600" dirty="0"/>
              <a:t>Features like animations, transitions, and flexbox/grid layouts add dynamic behaviour to web elements using the DOM</a:t>
            </a:r>
            <a:r>
              <a:rPr lang="en-A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24551407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023F-5D40-D35A-84E4-5014CE268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CSS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DC421-7F5B-2BCA-31A1-B147DDFCE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6659501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91" y="625352"/>
            <a:ext cx="8778767" cy="921254"/>
          </a:xfrm>
        </p:spPr>
        <p:txBody>
          <a:bodyPr>
            <a:normAutofit/>
          </a:bodyPr>
          <a:lstStyle/>
          <a:p>
            <a:r>
              <a:rPr lang="en-US" dirty="0"/>
              <a:t>CSS Variables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7667" y="2140337"/>
            <a:ext cx="5772808" cy="3293209"/>
          </a:xfrm>
        </p:spPr>
        <p:txBody>
          <a:bodyPr>
            <a:noAutofit/>
          </a:bodyPr>
          <a:lstStyle/>
          <a:p>
            <a:r>
              <a:rPr lang="en-AU" sz="2800" dirty="0">
                <a:solidFill>
                  <a:schemeClr val="tx1"/>
                </a:solidFill>
              </a:rPr>
              <a:t>we may want to implement a theme or a common style/animation </a:t>
            </a:r>
          </a:p>
          <a:p>
            <a:r>
              <a:rPr lang="en-AU" sz="2800" dirty="0">
                <a:solidFill>
                  <a:schemeClr val="tx1"/>
                </a:solidFill>
              </a:rPr>
              <a:t>CSS variable reduces the need for repeated code</a:t>
            </a:r>
          </a:p>
          <a:p>
            <a:r>
              <a:rPr lang="en-AU" sz="2800" dirty="0">
                <a:solidFill>
                  <a:schemeClr val="tx1"/>
                </a:solidFill>
              </a:rPr>
              <a:t>they also improve maintainability as we can change our theme in one place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92DCA-EBE7-EDD0-98CC-AC6881857198}"/>
              </a:ext>
            </a:extLst>
          </p:cNvPr>
          <p:cNvSpPr txBox="1"/>
          <p:nvPr/>
        </p:nvSpPr>
        <p:spPr>
          <a:xfrm>
            <a:off x="6568966" y="2103666"/>
            <a:ext cx="544435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Define CSS variables in the :root selector */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:root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--main-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#3498db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--secondary-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#2ecc71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--font-size-large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18px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Use CSS variables in styles */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--font-size-large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--main-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5542372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023F-5D40-D35A-84E4-5014CE268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CSS Animations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DC421-7F5B-2BCA-31A1-B147DDFCE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1117638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91" y="625352"/>
            <a:ext cx="8778767" cy="921254"/>
          </a:xfrm>
        </p:spPr>
        <p:txBody>
          <a:bodyPr>
            <a:normAutofit/>
          </a:bodyPr>
          <a:lstStyle/>
          <a:p>
            <a:r>
              <a:rPr lang="en-US" dirty="0"/>
              <a:t>CSS Animations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7667" y="2140337"/>
            <a:ext cx="5772808" cy="3293209"/>
          </a:xfrm>
        </p:spPr>
        <p:txBody>
          <a:bodyPr>
            <a:noAutofit/>
          </a:bodyPr>
          <a:lstStyle/>
          <a:p>
            <a:r>
              <a:rPr lang="en-AU" sz="2800" dirty="0">
                <a:solidFill>
                  <a:schemeClr val="tx1"/>
                </a:solidFill>
              </a:rPr>
              <a:t>as modern CSS works with the DOM we can use CSS to animate our UI</a:t>
            </a:r>
          </a:p>
          <a:p>
            <a:r>
              <a:rPr lang="en-AU" sz="2800" dirty="0">
                <a:solidFill>
                  <a:schemeClr val="tx1"/>
                </a:solidFill>
              </a:rPr>
              <a:t>use the </a:t>
            </a:r>
            <a:r>
              <a:rPr lang="en-AU" sz="2800" dirty="0">
                <a:solidFill>
                  <a:srgbClr val="FFC000"/>
                </a:solidFill>
              </a:rPr>
              <a:t>@keyframes </a:t>
            </a:r>
            <a:r>
              <a:rPr lang="en-AU" sz="2800" dirty="0">
                <a:solidFill>
                  <a:schemeClr val="tx1"/>
                </a:solidFill>
              </a:rPr>
              <a:t>rule to control and change </a:t>
            </a:r>
          </a:p>
          <a:p>
            <a:r>
              <a:rPr lang="en-AU" sz="2800" dirty="0">
                <a:solidFill>
                  <a:schemeClr val="tx1"/>
                </a:solidFill>
              </a:rPr>
              <a:t>define your animation name and also use keywords such as </a:t>
            </a:r>
            <a:r>
              <a:rPr lang="en-AU" sz="2800" dirty="0">
                <a:solidFill>
                  <a:srgbClr val="FFC000"/>
                </a:solidFill>
              </a:rPr>
              <a:t>from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92DCA-EBE7-EDD0-98CC-AC6881857198}"/>
              </a:ext>
            </a:extLst>
          </p:cNvPr>
          <p:cNvSpPr txBox="1"/>
          <p:nvPr/>
        </p:nvSpPr>
        <p:spPr>
          <a:xfrm>
            <a:off x="6684579" y="1718379"/>
            <a:ext cx="544435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Define the animation keyframes */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@keyframes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 err="1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fadeIn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0% {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opacity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100% {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opacity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from { 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opacity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to {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opacity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 /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07895680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6875-78DA-1F13-0676-31294407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Challenge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A35D-DA2F-538D-A4E1-4972F64B2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026" y="1737228"/>
            <a:ext cx="10515600" cy="1527082"/>
          </a:xfrm>
        </p:spPr>
        <p:txBody>
          <a:bodyPr>
            <a:normAutofit fontScale="85000" lnSpcReduction="20000"/>
          </a:bodyPr>
          <a:lstStyle/>
          <a:p>
            <a:r>
              <a:rPr lang="en-AU" dirty="0"/>
              <a:t>implement global variables</a:t>
            </a:r>
          </a:p>
          <a:p>
            <a:r>
              <a:rPr lang="en-AU" dirty="0"/>
              <a:t>apply an animation to your code</a:t>
            </a:r>
          </a:p>
          <a:p>
            <a:r>
              <a:rPr lang="en-AU" dirty="0"/>
              <a:t>apply a theme</a:t>
            </a:r>
          </a:p>
        </p:txBody>
      </p:sp>
    </p:spTree>
    <p:extLst>
      <p:ext uri="{BB962C8B-B14F-4D97-AF65-F5344CB8AC3E}">
        <p14:creationId xmlns:p14="http://schemas.microsoft.com/office/powerpoint/2010/main" val="1771512497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33BD-7CE1-29CA-1CE6-61E1DAC9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Transitions, Variables &amp; Animations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81C50-B2A4-769C-978A-7EEDC4C60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Out of Class Activity – Excellent session on how to apply these core skills to a mobile menu:</a:t>
            </a:r>
          </a:p>
          <a:p>
            <a:pPr marL="0" indent="0">
              <a:buNone/>
            </a:pPr>
            <a:r>
              <a:rPr lang="en-AU" dirty="0">
                <a:hlinkClick r:id="rId2"/>
              </a:rPr>
              <a:t>https://www.youtube.com/watch?v=PN5OC1mZlfY&amp;list=PL0Zuz27SZ-6Mx9fd9elt80G1bPcySmWit&amp;t=4s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6631945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59B867-F86C-9F53-2C09-210C6FDE683C}"/>
              </a:ext>
            </a:extLst>
          </p:cNvPr>
          <p:cNvSpPr txBox="1"/>
          <p:nvPr/>
        </p:nvSpPr>
        <p:spPr>
          <a:xfrm>
            <a:off x="1" y="1272618"/>
            <a:ext cx="1219199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5600" dirty="0"/>
              <a:t>🦆</a:t>
            </a:r>
          </a:p>
        </p:txBody>
      </p:sp>
    </p:spTree>
    <p:extLst>
      <p:ext uri="{BB962C8B-B14F-4D97-AF65-F5344CB8AC3E}">
        <p14:creationId xmlns:p14="http://schemas.microsoft.com/office/powerpoint/2010/main" val="141566846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C92A6A38-762D-4D1E-84F6-35B86993516B}"/>
    </a:ext>
  </a:extLst>
</a:theme>
</file>

<file path=ppt/theme/theme2.xml><?xml version="1.0" encoding="utf-8"?>
<a:theme xmlns:a="http://schemas.openxmlformats.org/drawingml/2006/main" name="8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3.xml><?xml version="1.0" encoding="utf-8"?>
<a:theme xmlns:a="http://schemas.openxmlformats.org/drawingml/2006/main" name="9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4.xml><?xml version="1.0" encoding="utf-8"?>
<a:theme xmlns:a="http://schemas.openxmlformats.org/drawingml/2006/main" name="3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74005428-A334-41FB-9C76-B70EADF29CBB}"/>
    </a:ext>
  </a:extLst>
</a:theme>
</file>

<file path=ppt/theme/theme5.xml><?xml version="1.0" encoding="utf-8"?>
<a:theme xmlns:a="http://schemas.openxmlformats.org/drawingml/2006/main" name="4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B2A232E-75D7-4897-BB1C-74DF42300102}"/>
    </a:ext>
  </a:extLst>
</a:theme>
</file>

<file path=ppt/theme/theme6.xml><?xml version="1.0" encoding="utf-8"?>
<a:theme xmlns:a="http://schemas.openxmlformats.org/drawingml/2006/main" name="5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B197BA3C-52E1-452E-9ECF-A8FC308A75CB}"/>
    </a:ext>
  </a:extLst>
</a:theme>
</file>

<file path=ppt/theme/theme7.xml><?xml version="1.0" encoding="utf-8"?>
<a:theme xmlns:a="http://schemas.openxmlformats.org/drawingml/2006/main" name="TAFE-Dark-BG-animated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091D9253-E664-4300-BB76-B0EA74ABD4E3}"/>
    </a:ext>
  </a:extLst>
</a:theme>
</file>

<file path=ppt/theme/theme8.xml><?xml version="1.0" encoding="utf-8"?>
<a:theme xmlns:a="http://schemas.openxmlformats.org/drawingml/2006/main" name="6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5315164-D39B-4AAC-B304-B1A2B031A95B}"/>
    </a:ext>
  </a:extLst>
</a:theme>
</file>

<file path=ppt/theme/theme9.xml><?xml version="1.0" encoding="utf-8"?>
<a:theme xmlns:a="http://schemas.openxmlformats.org/drawingml/2006/main" name="7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53110149-A4D3-4904-BBE1-036CB5C878D3}"/>
    </a:ext>
  </a:extLst>
</a:theme>
</file>

<file path=ppt/theme/theme10.xml><?xml version="1.0" encoding="utf-8"?>
<a:theme xmlns:a="http://schemas.openxmlformats.org/drawingml/2006/main" name="1_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C" id="{512C2FDB-8C93-844A-9C7C-E16B2F56908F}" vid="{F409DB23-9C1D-2B4A-B99D-0844671217B0}"/>
    </a:ext>
  </a:extLst>
</a:theme>
</file>

<file path=ppt/theme/theme11.xml><?xml version="1.0" encoding="utf-8"?>
<a:theme xmlns:a="http://schemas.openxmlformats.org/drawingml/2006/main" name="10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AFE-White-BG-B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B" id="{2956925C-A3E0-A44D-A1CA-96DE5E326E72}" vid="{BF725D3F-94CF-3B48-BC06-35479312206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Presentation-2023</Template>
  <TotalTime>268</TotalTime>
  <Words>2323</Words>
  <Application>Microsoft Office PowerPoint</Application>
  <PresentationFormat>Widescreen</PresentationFormat>
  <Paragraphs>364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36</vt:i4>
      </vt:variant>
    </vt:vector>
  </HeadingPairs>
  <TitlesOfParts>
    <vt:vector size="58" baseType="lpstr">
      <vt:lpstr>Arial</vt:lpstr>
      <vt:lpstr>Calibri</vt:lpstr>
      <vt:lpstr>Calibri Light</vt:lpstr>
      <vt:lpstr>Consolas</vt:lpstr>
      <vt:lpstr>Courier New</vt:lpstr>
      <vt:lpstr>Fira Code</vt:lpstr>
      <vt:lpstr>Menlo</vt:lpstr>
      <vt:lpstr>Söhne</vt:lpstr>
      <vt:lpstr>TAFE-White-BG-C</vt:lpstr>
      <vt:lpstr>8_Office Theme</vt:lpstr>
      <vt:lpstr>9_Office Theme</vt:lpstr>
      <vt:lpstr>3_Office Theme</vt:lpstr>
      <vt:lpstr>4_Office Theme</vt:lpstr>
      <vt:lpstr>5_Office Theme</vt:lpstr>
      <vt:lpstr>TAFE-Dark-BG-animated</vt:lpstr>
      <vt:lpstr>6_Office Theme</vt:lpstr>
      <vt:lpstr>7_Office Theme</vt:lpstr>
      <vt:lpstr>1_TAFE-White-BG-C</vt:lpstr>
      <vt:lpstr>10_Office Theme</vt:lpstr>
      <vt:lpstr>11_Office Theme</vt:lpstr>
      <vt:lpstr>12_Office Theme</vt:lpstr>
      <vt:lpstr>TAFE-White-BG-B</vt:lpstr>
      <vt:lpstr> Web Technologies: Introduction</vt:lpstr>
      <vt:lpstr>Overview</vt:lpstr>
      <vt:lpstr>  Pseudo Selectors &amp; Elements</vt:lpstr>
      <vt:lpstr>CSS Selectors</vt:lpstr>
      <vt:lpstr>CSS Pseudo Classes &amp; Elements</vt:lpstr>
      <vt:lpstr>Pseudo Classes - Examples</vt:lpstr>
      <vt:lpstr>Pseudo Elements - Examples</vt:lpstr>
      <vt:lpstr>Attribute Selectors</vt:lpstr>
      <vt:lpstr>Attribute Selectors</vt:lpstr>
      <vt:lpstr>Attribute Selectors</vt:lpstr>
      <vt:lpstr>Challenge 1</vt:lpstr>
      <vt:lpstr>@Media Queries</vt:lpstr>
      <vt:lpstr>Recap…</vt:lpstr>
      <vt:lpstr>Breakpoint Usage</vt:lpstr>
      <vt:lpstr>Media Query Structure</vt:lpstr>
      <vt:lpstr>Media Types</vt:lpstr>
      <vt:lpstr>Logical Operators</vt:lpstr>
      <vt:lpstr>@Media features</vt:lpstr>
      <vt:lpstr>@Media Features - Examples</vt:lpstr>
      <vt:lpstr>Challenge 2</vt:lpstr>
      <vt:lpstr>Fonts</vt:lpstr>
      <vt:lpstr>Web-safe Fonts</vt:lpstr>
      <vt:lpstr>External Font API’s</vt:lpstr>
      <vt:lpstr>Custom Fonts</vt:lpstr>
      <vt:lpstr>Font Properties – Common Examples</vt:lpstr>
      <vt:lpstr>Challenge 3</vt:lpstr>
      <vt:lpstr>The DOM</vt:lpstr>
      <vt:lpstr>PowerPoint Presentation</vt:lpstr>
      <vt:lpstr>The DOM – Modern CSS</vt:lpstr>
      <vt:lpstr>CSS Variables</vt:lpstr>
      <vt:lpstr>CSS Variables</vt:lpstr>
      <vt:lpstr>CSS Animations</vt:lpstr>
      <vt:lpstr>CSS Animations</vt:lpstr>
      <vt:lpstr>Challenge 4</vt:lpstr>
      <vt:lpstr>Transitions, Variables &amp; Animations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Technologies Introduction</dc:title>
  <dc:creator>Adrian Gould</dc:creator>
  <cp:lastModifiedBy>John Robertson</cp:lastModifiedBy>
  <cp:revision>29</cp:revision>
  <dcterms:created xsi:type="dcterms:W3CDTF">2023-07-07T02:00:43Z</dcterms:created>
  <dcterms:modified xsi:type="dcterms:W3CDTF">2025-03-20T05:06:57Z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ac7e5b-5da2-46c7-8677-8a6b50f7d886_Enabled">
    <vt:lpwstr>true</vt:lpwstr>
  </property>
  <property fmtid="{D5CDD505-2E9C-101B-9397-08002B2CF9AE}" pid="3" name="MSIP_Label_f3ac7e5b-5da2-46c7-8677-8a6b50f7d886_SetDate">
    <vt:lpwstr>2023-07-09T17:39:43Z</vt:lpwstr>
  </property>
  <property fmtid="{D5CDD505-2E9C-101B-9397-08002B2CF9AE}" pid="4" name="MSIP_Label_f3ac7e5b-5da2-46c7-8677-8a6b50f7d886_Method">
    <vt:lpwstr>Standard</vt:lpwstr>
  </property>
  <property fmtid="{D5CDD505-2E9C-101B-9397-08002B2CF9AE}" pid="5" name="MSIP_Label_f3ac7e5b-5da2-46c7-8677-8a6b50f7d886_Name">
    <vt:lpwstr>Official</vt:lpwstr>
  </property>
  <property fmtid="{D5CDD505-2E9C-101B-9397-08002B2CF9AE}" pid="6" name="MSIP_Label_f3ac7e5b-5da2-46c7-8677-8a6b50f7d886_SiteId">
    <vt:lpwstr>218881e8-07ad-4142-87d7-f6b90d17009b</vt:lpwstr>
  </property>
  <property fmtid="{D5CDD505-2E9C-101B-9397-08002B2CF9AE}" pid="7" name="MSIP_Label_f3ac7e5b-5da2-46c7-8677-8a6b50f7d886_ActionId">
    <vt:lpwstr>934bf055-5d58-4591-8f85-6de4d295ed91</vt:lpwstr>
  </property>
  <property fmtid="{D5CDD505-2E9C-101B-9397-08002B2CF9AE}" pid="8" name="MSIP_Label_f3ac7e5b-5da2-46c7-8677-8a6b50f7d886_ContentBits">
    <vt:lpwstr>1</vt:lpwstr>
  </property>
  <property fmtid="{D5CDD505-2E9C-101B-9397-08002B2CF9AE}" pid="9" name="ClassificationContentMarkingHeaderLocations">
    <vt:lpwstr>TAFE-White-BG-C:4\8_Office Theme:4\9_Office Theme:4\3_Office Theme:4\4_Office Theme:4\5_Office Theme:4\TAFE-Dark-BG-animated:4\6_Office Theme:4\7_Office Theme:4\1_TAFE-White-BG-C:7\10_Office Theme:8\11_Office Theme:7\12_Office Theme:7\TAFE-White-BG-B:7</vt:lpwstr>
  </property>
  <property fmtid="{D5CDD505-2E9C-101B-9397-08002B2CF9AE}" pid="10" name="ClassificationContentMarkingHeaderText">
    <vt:lpwstr>OFFICIAL</vt:lpwstr>
  </property>
</Properties>
</file>