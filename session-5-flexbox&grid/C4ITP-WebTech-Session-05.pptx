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1.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12.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3.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86" r:id="rId2"/>
    <p:sldMasterId id="2147483698" r:id="rId3"/>
    <p:sldMasterId id="2147483710" r:id="rId4"/>
    <p:sldMasterId id="2147483722" r:id="rId5"/>
    <p:sldMasterId id="2147483734" r:id="rId6"/>
    <p:sldMasterId id="2147483746" r:id="rId7"/>
    <p:sldMasterId id="2147483758" r:id="rId8"/>
    <p:sldMasterId id="2147483770" r:id="rId9"/>
    <p:sldMasterId id="2147483806" r:id="rId10"/>
    <p:sldMasterId id="2147483818" r:id="rId11"/>
    <p:sldMasterId id="2147483829" r:id="rId12"/>
    <p:sldMasterId id="2147483840" r:id="rId13"/>
    <p:sldMasterId id="2147483851" r:id="rId14"/>
  </p:sldMasterIdLst>
  <p:notesMasterIdLst>
    <p:notesMasterId r:id="rId50"/>
  </p:notesMasterIdLst>
  <p:sldIdLst>
    <p:sldId id="270" r:id="rId15"/>
    <p:sldId id="387" r:id="rId16"/>
    <p:sldId id="261" r:id="rId17"/>
    <p:sldId id="411" r:id="rId18"/>
    <p:sldId id="412" r:id="rId19"/>
    <p:sldId id="414" r:id="rId20"/>
    <p:sldId id="413" r:id="rId21"/>
    <p:sldId id="415" r:id="rId22"/>
    <p:sldId id="416" r:id="rId23"/>
    <p:sldId id="417" r:id="rId24"/>
    <p:sldId id="418" r:id="rId25"/>
    <p:sldId id="419" r:id="rId26"/>
    <p:sldId id="420" r:id="rId27"/>
    <p:sldId id="421" r:id="rId28"/>
    <p:sldId id="422" r:id="rId29"/>
    <p:sldId id="409" r:id="rId30"/>
    <p:sldId id="428" r:id="rId31"/>
    <p:sldId id="263" r:id="rId32"/>
    <p:sldId id="392" r:id="rId33"/>
    <p:sldId id="396" r:id="rId34"/>
    <p:sldId id="398" r:id="rId35"/>
    <p:sldId id="400" r:id="rId36"/>
    <p:sldId id="399" r:id="rId37"/>
    <p:sldId id="401" r:id="rId38"/>
    <p:sldId id="402" r:id="rId39"/>
    <p:sldId id="403" r:id="rId40"/>
    <p:sldId id="404" r:id="rId41"/>
    <p:sldId id="405" r:id="rId42"/>
    <p:sldId id="426" r:id="rId43"/>
    <p:sldId id="427" r:id="rId44"/>
    <p:sldId id="389" r:id="rId45"/>
    <p:sldId id="406" r:id="rId46"/>
    <p:sldId id="424" r:id="rId47"/>
    <p:sldId id="425" r:id="rId48"/>
    <p:sldId id="38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2673E5C-48F0-4880-9E5D-C1B753F526B3}">
          <p14:sldIdLst>
            <p14:sldId id="270"/>
          </p14:sldIdLst>
        </p14:section>
        <p14:section name="Overview" id="{6B305998-727F-4E0D-B590-D2FA76C3FDC2}">
          <p14:sldIdLst>
            <p14:sldId id="387"/>
          </p14:sldIdLst>
        </p14:section>
        <p14:section name="Session 05" id="{9A26274C-C592-4A45-B89F-914848F7415D}">
          <p14:sldIdLst>
            <p14:sldId id="261"/>
            <p14:sldId id="411"/>
            <p14:sldId id="412"/>
            <p14:sldId id="414"/>
            <p14:sldId id="413"/>
            <p14:sldId id="415"/>
            <p14:sldId id="416"/>
            <p14:sldId id="417"/>
            <p14:sldId id="418"/>
            <p14:sldId id="419"/>
            <p14:sldId id="420"/>
            <p14:sldId id="421"/>
            <p14:sldId id="422"/>
            <p14:sldId id="409"/>
            <p14:sldId id="428"/>
            <p14:sldId id="263"/>
            <p14:sldId id="392"/>
            <p14:sldId id="396"/>
            <p14:sldId id="398"/>
            <p14:sldId id="400"/>
            <p14:sldId id="399"/>
            <p14:sldId id="401"/>
            <p14:sldId id="402"/>
            <p14:sldId id="403"/>
            <p14:sldId id="404"/>
            <p14:sldId id="405"/>
            <p14:sldId id="426"/>
            <p14:sldId id="427"/>
          </p14:sldIdLst>
        </p14:section>
        <p14:section name="Challenges" id="{889FBE01-502E-4189-96C9-9E15B6619284}">
          <p14:sldIdLst>
            <p14:sldId id="389"/>
            <p14:sldId id="406"/>
            <p14:sldId id="424"/>
            <p14:sldId id="425"/>
          </p14:sldIdLst>
        </p14:section>
        <p14:section name="End" id="{3072ED9E-465E-4038-83F4-1DE8123ED601}">
          <p14:sldIdLst>
            <p14:sldId id="38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DB720D-CB23-00BD-4BF4-8F254009EC64}" name="Adrian Gould" initials="AG" userId="S::Adrian.Gould@nmtafe.wa.edu.au::0a44525a-5416-41c1-827b-f073cee28c70" providerId="AD"/>
  <p188:author id="{CF9B4C55-2547-8E87-20F7-0B62AB1B37EA}" name="John Robertson" initials="JR" userId="S::john.robertson@nmtafe.wa.edu.au::27eef65d-0d9b-46bb-85ea-fba5d9d9135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0001"/>
    <a:srgbClr val="4C0001"/>
    <a:srgbClr val="3C3F41"/>
    <a:srgbClr val="0B0000"/>
    <a:srgbClr val="000000"/>
    <a:srgbClr val="3A0001"/>
    <a:srgbClr val="3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D3565-76ED-C144-8708-D9CCD0BCEE0B}" v="7" dt="2023-08-15T06:31:02.556"/>
    <p1510:client id="{2D74284F-B429-45CF-BDCB-5675D89F3BCA}" v="10" dt="2023-08-16T00:15:08.548"/>
    <p1510:client id="{79B1904A-C749-4CC4-A611-F9048FD4BBB6}" v="4" dt="2023-08-14T08:15:19.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p:restoredTop sz="94694"/>
  </p:normalViewPr>
  <p:slideViewPr>
    <p:cSldViewPr snapToGrid="0">
      <p:cViewPr varScale="1">
        <p:scale>
          <a:sx n="105" d="100"/>
          <a:sy n="105" d="100"/>
        </p:scale>
        <p:origin x="8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microsoft.com/office/2018/10/relationships/authors" Target="authors.xml"/><Relationship Id="rId8" Type="http://schemas.openxmlformats.org/officeDocument/2006/relationships/slideMaster" Target="slideMasters/slideMaster8.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6697ED-AC6D-694A-B4F5-8003E946CD65}" type="datetimeFigureOut">
              <a:rPr lang="en-AU" smtClean="0"/>
              <a:t>12/08/2024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D1F34-00E6-0546-8BB3-36357F9D2FCE}" type="slidenum">
              <a:rPr lang="en-AU" smtClean="0"/>
              <a:t>‹#›</a:t>
            </a:fld>
            <a:endParaRPr lang="en-AU"/>
          </a:p>
        </p:txBody>
      </p:sp>
    </p:spTree>
    <p:extLst>
      <p:ext uri="{BB962C8B-B14F-4D97-AF65-F5344CB8AC3E}">
        <p14:creationId xmlns:p14="http://schemas.microsoft.com/office/powerpoint/2010/main" val="166079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19</a:t>
            </a:fld>
            <a:endParaRPr lang="en-AU"/>
          </a:p>
        </p:txBody>
      </p:sp>
    </p:spTree>
    <p:extLst>
      <p:ext uri="{BB962C8B-B14F-4D97-AF65-F5344CB8AC3E}">
        <p14:creationId xmlns:p14="http://schemas.microsoft.com/office/powerpoint/2010/main" val="890701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1" i="0" dirty="0">
                <a:solidFill>
                  <a:srgbClr val="374151"/>
                </a:solidFill>
                <a:effectLst/>
                <a:latin typeface="Söhne"/>
              </a:rPr>
              <a:t>Flex Container and Flex Items:</a:t>
            </a:r>
            <a:endParaRPr lang="en-AU" b="0" i="0" dirty="0">
              <a:solidFill>
                <a:srgbClr val="374151"/>
              </a:solidFill>
              <a:effectLst/>
              <a:latin typeface="Söhne"/>
            </a:endParaRPr>
          </a:p>
          <a:p>
            <a:pPr marL="742950" lvl="1" indent="-285750" algn="l">
              <a:buFont typeface="Arial" panose="020B0604020202020204" pitchFamily="34" charset="0"/>
              <a:buChar char="•"/>
            </a:pPr>
            <a:r>
              <a:rPr lang="en-AU" b="1" i="0" dirty="0">
                <a:solidFill>
                  <a:srgbClr val="374151"/>
                </a:solidFill>
                <a:effectLst/>
                <a:latin typeface="Söhne"/>
              </a:rPr>
              <a:t>Flex Container:</a:t>
            </a:r>
            <a:r>
              <a:rPr lang="en-AU" b="0" i="0" dirty="0">
                <a:solidFill>
                  <a:srgbClr val="374151"/>
                </a:solidFill>
                <a:effectLst/>
                <a:latin typeface="Söhne"/>
              </a:rPr>
              <a:t> The "flex container" is an element that holds a group of child elements and establishes a flex formatting context. It's the parent element in which flex items are positioned.</a:t>
            </a:r>
          </a:p>
          <a:p>
            <a:pPr marL="742950" lvl="1" indent="-285750" algn="l">
              <a:buFont typeface="Arial" panose="020B0604020202020204" pitchFamily="34" charset="0"/>
              <a:buChar char="•"/>
            </a:pPr>
            <a:r>
              <a:rPr lang="en-AU" b="1" i="0" dirty="0">
                <a:solidFill>
                  <a:srgbClr val="374151"/>
                </a:solidFill>
                <a:effectLst/>
                <a:latin typeface="Söhne"/>
              </a:rPr>
              <a:t>Flex Items:</a:t>
            </a:r>
            <a:r>
              <a:rPr lang="en-AU" b="0" i="0" dirty="0">
                <a:solidFill>
                  <a:srgbClr val="374151"/>
                </a:solidFill>
                <a:effectLst/>
                <a:latin typeface="Söhne"/>
              </a:rPr>
              <a:t> "Flex items" are the child elements of the flex container. They can be any HTML element within the container. Each flex item can be configured individually or collectively using flex properties.</a:t>
            </a:r>
          </a:p>
          <a:p>
            <a:pPr algn="l">
              <a:buFont typeface="Arial" panose="020B0604020202020204" pitchFamily="34" charset="0"/>
              <a:buChar char="•"/>
            </a:pPr>
            <a:r>
              <a:rPr lang="en-AU" b="1" i="0" dirty="0">
                <a:solidFill>
                  <a:srgbClr val="374151"/>
                </a:solidFill>
                <a:effectLst/>
                <a:latin typeface="Söhne"/>
              </a:rPr>
              <a:t>Child Relationship:</a:t>
            </a:r>
            <a:endParaRPr lang="en-AU" b="0" i="0" dirty="0">
              <a:solidFill>
                <a:srgbClr val="374151"/>
              </a:solidFill>
              <a:effectLst/>
              <a:latin typeface="Söhne"/>
            </a:endParaRPr>
          </a:p>
          <a:p>
            <a:pPr marL="742950" lvl="1" indent="-285750" algn="l">
              <a:buFont typeface="Arial" panose="020B0604020202020204" pitchFamily="34" charset="0"/>
              <a:buChar char="•"/>
            </a:pPr>
            <a:r>
              <a:rPr lang="en-AU" b="1" i="0" dirty="0">
                <a:solidFill>
                  <a:srgbClr val="374151"/>
                </a:solidFill>
                <a:effectLst/>
                <a:latin typeface="Söhne"/>
              </a:rPr>
              <a:t>Parent-Child Relationship:</a:t>
            </a:r>
            <a:r>
              <a:rPr lang="en-AU" b="0" i="0" dirty="0">
                <a:solidFill>
                  <a:srgbClr val="374151"/>
                </a:solidFill>
                <a:effectLst/>
                <a:latin typeface="Söhne"/>
              </a:rPr>
              <a:t> The flex container defines a parent-child relationship with its flex items. The container dictates the layout </a:t>
            </a:r>
            <a:r>
              <a:rPr lang="en-AU" b="0" i="0" dirty="0" err="1">
                <a:solidFill>
                  <a:srgbClr val="374151"/>
                </a:solidFill>
                <a:effectLst/>
                <a:latin typeface="Söhne"/>
              </a:rPr>
              <a:t>behavior</a:t>
            </a:r>
            <a:r>
              <a:rPr lang="en-AU" b="0" i="0" dirty="0">
                <a:solidFill>
                  <a:srgbClr val="374151"/>
                </a:solidFill>
                <a:effectLst/>
                <a:latin typeface="Söhne"/>
              </a:rPr>
              <a:t> of its items.</a:t>
            </a:r>
          </a:p>
          <a:p>
            <a:pPr marL="742950" lvl="1" indent="-285750" algn="l">
              <a:buFont typeface="Arial" panose="020B0604020202020204" pitchFamily="34" charset="0"/>
              <a:buChar char="•"/>
            </a:pPr>
            <a:r>
              <a:rPr lang="en-AU" b="1" i="0" dirty="0">
                <a:solidFill>
                  <a:srgbClr val="374151"/>
                </a:solidFill>
                <a:effectLst/>
                <a:latin typeface="Söhne"/>
              </a:rPr>
              <a:t>Directionality:</a:t>
            </a:r>
            <a:r>
              <a:rPr lang="en-AU" b="0" i="0" dirty="0">
                <a:solidFill>
                  <a:srgbClr val="374151"/>
                </a:solidFill>
                <a:effectLst/>
                <a:latin typeface="Söhne"/>
              </a:rPr>
              <a:t> Flex items are arranged in a row or column, depending on the value of the flex-direction property set on the container.</a:t>
            </a:r>
          </a:p>
          <a:p>
            <a:pPr algn="l">
              <a:buFont typeface="Arial" panose="020B0604020202020204" pitchFamily="34" charset="0"/>
              <a:buChar char="•"/>
            </a:pPr>
            <a:r>
              <a:rPr lang="en-AU" b="1" i="0" dirty="0">
                <a:solidFill>
                  <a:srgbClr val="374151"/>
                </a:solidFill>
                <a:effectLst/>
                <a:latin typeface="Söhne"/>
              </a:rPr>
              <a:t>Flex Properties:</a:t>
            </a:r>
            <a:endParaRPr lang="en-AU" b="0" i="0" dirty="0">
              <a:solidFill>
                <a:srgbClr val="374151"/>
              </a:solidFill>
              <a:effectLst/>
              <a:latin typeface="Söhne"/>
            </a:endParaRPr>
          </a:p>
          <a:p>
            <a:pPr marL="742950" lvl="1" indent="-285750" algn="l">
              <a:buFont typeface="Arial" panose="020B0604020202020204" pitchFamily="34" charset="0"/>
              <a:buChar char="•"/>
            </a:pPr>
            <a:r>
              <a:rPr lang="en-AU" b="1" i="0" dirty="0">
                <a:solidFill>
                  <a:srgbClr val="374151"/>
                </a:solidFill>
                <a:effectLst/>
                <a:latin typeface="Söhne"/>
              </a:rPr>
              <a:t>Individual Control:</a:t>
            </a:r>
            <a:r>
              <a:rPr lang="en-AU" b="0" i="0" dirty="0">
                <a:solidFill>
                  <a:srgbClr val="374151"/>
                </a:solidFill>
                <a:effectLst/>
                <a:latin typeface="Söhne"/>
              </a:rPr>
              <a:t> Each flex item can have its own flex-related properties, such as flex-grow, flex-shrink, and flex-basis, which control how the item grows, shrinks, and its initial size.</a:t>
            </a:r>
          </a:p>
          <a:p>
            <a:pPr marL="742950" lvl="1" indent="-285750" algn="l">
              <a:buFont typeface="Arial" panose="020B0604020202020204" pitchFamily="34" charset="0"/>
              <a:buChar char="•"/>
            </a:pPr>
            <a:r>
              <a:rPr lang="en-AU" b="1" i="0" dirty="0">
                <a:solidFill>
                  <a:srgbClr val="374151"/>
                </a:solidFill>
                <a:effectLst/>
                <a:latin typeface="Söhne"/>
              </a:rPr>
              <a:t>Collective Control:</a:t>
            </a:r>
            <a:r>
              <a:rPr lang="en-AU" b="0" i="0" dirty="0">
                <a:solidFill>
                  <a:srgbClr val="374151"/>
                </a:solidFill>
                <a:effectLst/>
                <a:latin typeface="Söhne"/>
              </a:rPr>
              <a:t> Flex properties on the container, such as justify-content and align-items, control the overall alignment and spacing of flex items.</a:t>
            </a: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21</a:t>
            </a:fld>
            <a:endParaRPr lang="en-AU"/>
          </a:p>
        </p:txBody>
      </p:sp>
    </p:spTree>
    <p:extLst>
      <p:ext uri="{BB962C8B-B14F-4D97-AF65-F5344CB8AC3E}">
        <p14:creationId xmlns:p14="http://schemas.microsoft.com/office/powerpoint/2010/main" val="3172680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1" i="0" dirty="0">
                <a:solidFill>
                  <a:srgbClr val="374151"/>
                </a:solidFill>
                <a:effectLst/>
                <a:latin typeface="Söhne"/>
              </a:rPr>
              <a:t>Individual Control:</a:t>
            </a:r>
            <a:r>
              <a:rPr lang="en-AU" b="0" i="0" dirty="0">
                <a:solidFill>
                  <a:srgbClr val="374151"/>
                </a:solidFill>
                <a:effectLst/>
                <a:latin typeface="Söhne"/>
              </a:rPr>
              <a:t> Each flex item can have its own flex-related properties, such as flex-grow, flex-shrink, and flex-basis, which control how the item grows, shrinks, and its initial size.</a:t>
            </a:r>
          </a:p>
          <a:p>
            <a:pPr algn="l">
              <a:buFont typeface="Arial" panose="020B0604020202020204" pitchFamily="34" charset="0"/>
              <a:buChar char="•"/>
            </a:pPr>
            <a:r>
              <a:rPr lang="en-AU" b="1" i="0" dirty="0">
                <a:solidFill>
                  <a:srgbClr val="374151"/>
                </a:solidFill>
                <a:effectLst/>
                <a:latin typeface="Söhne"/>
              </a:rPr>
              <a:t>Collective Control:</a:t>
            </a:r>
            <a:r>
              <a:rPr lang="en-AU" b="0" i="0" dirty="0">
                <a:solidFill>
                  <a:srgbClr val="374151"/>
                </a:solidFill>
                <a:effectLst/>
                <a:latin typeface="Söhne"/>
              </a:rPr>
              <a:t> Flex properties on the container, such as justify-content and align-items, control the overall alignment and spacing of flex items.</a:t>
            </a: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22</a:t>
            </a:fld>
            <a:endParaRPr lang="en-AU"/>
          </a:p>
        </p:txBody>
      </p:sp>
    </p:spTree>
    <p:extLst>
      <p:ext uri="{BB962C8B-B14F-4D97-AF65-F5344CB8AC3E}">
        <p14:creationId xmlns:p14="http://schemas.microsoft.com/office/powerpoint/2010/main" val="3056414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1" i="0" dirty="0">
                <a:solidFill>
                  <a:srgbClr val="374151"/>
                </a:solidFill>
                <a:effectLst/>
                <a:latin typeface="Söhne"/>
              </a:rPr>
              <a:t>Space Distribution:</a:t>
            </a:r>
            <a:endParaRPr lang="en-AU" b="0" i="0" dirty="0">
              <a:solidFill>
                <a:srgbClr val="374151"/>
              </a:solidFill>
              <a:effectLst/>
              <a:latin typeface="Söhne"/>
            </a:endParaRPr>
          </a:p>
          <a:p>
            <a:pPr marL="742950" lvl="1" indent="-285750" algn="l">
              <a:buFont typeface="Arial" panose="020B0604020202020204" pitchFamily="34" charset="0"/>
              <a:buChar char="•"/>
            </a:pPr>
            <a:r>
              <a:rPr lang="en-AU" b="1" i="0" dirty="0">
                <a:solidFill>
                  <a:srgbClr val="374151"/>
                </a:solidFill>
                <a:effectLst/>
                <a:latin typeface="Söhne"/>
              </a:rPr>
              <a:t>Main Axis:</a:t>
            </a:r>
            <a:r>
              <a:rPr lang="en-AU" b="0" i="0" dirty="0">
                <a:solidFill>
                  <a:srgbClr val="374151"/>
                </a:solidFill>
                <a:effectLst/>
                <a:latin typeface="Söhne"/>
              </a:rPr>
              <a:t> The main axis is the direction of flex items. The flex container distributes space along this axis based on defined flex properties.</a:t>
            </a:r>
          </a:p>
          <a:p>
            <a:pPr marL="742950" lvl="1" indent="-285750" algn="l">
              <a:buFont typeface="Arial" panose="020B0604020202020204" pitchFamily="34" charset="0"/>
              <a:buChar char="•"/>
            </a:pPr>
            <a:r>
              <a:rPr lang="en-AU" b="1" i="0" dirty="0">
                <a:solidFill>
                  <a:srgbClr val="374151"/>
                </a:solidFill>
                <a:effectLst/>
                <a:latin typeface="Söhne"/>
              </a:rPr>
              <a:t>Cross Axis:</a:t>
            </a:r>
            <a:r>
              <a:rPr lang="en-AU" b="0" i="0" dirty="0">
                <a:solidFill>
                  <a:srgbClr val="374151"/>
                </a:solidFill>
                <a:effectLst/>
                <a:latin typeface="Söhne"/>
              </a:rPr>
              <a:t> The orthogonal axis to the main axis is the cross axis. It's used for alignment and positioning of items.</a:t>
            </a:r>
          </a:p>
          <a:p>
            <a:pPr algn="l">
              <a:buFont typeface="Arial" panose="020B0604020202020204" pitchFamily="34" charset="0"/>
              <a:buChar char="•"/>
            </a:pPr>
            <a:r>
              <a:rPr lang="en-AU" b="1" i="0" dirty="0">
                <a:solidFill>
                  <a:srgbClr val="374151"/>
                </a:solidFill>
                <a:effectLst/>
                <a:latin typeface="Söhne"/>
              </a:rPr>
              <a:t>Auto Sizing:</a:t>
            </a:r>
            <a:endParaRPr lang="en-AU" b="0" i="0" dirty="0">
              <a:solidFill>
                <a:srgbClr val="374151"/>
              </a:solidFill>
              <a:effectLst/>
              <a:latin typeface="Söhne"/>
            </a:endParaRPr>
          </a:p>
          <a:p>
            <a:pPr marL="742950" lvl="1" indent="-285750" algn="l">
              <a:buFont typeface="Arial" panose="020B0604020202020204" pitchFamily="34" charset="0"/>
              <a:buChar char="•"/>
            </a:pPr>
            <a:r>
              <a:rPr lang="en-AU" b="1" i="0" dirty="0">
                <a:solidFill>
                  <a:srgbClr val="374151"/>
                </a:solidFill>
                <a:effectLst/>
                <a:latin typeface="Söhne"/>
              </a:rPr>
              <a:t>Flexible Sizing:</a:t>
            </a:r>
            <a:r>
              <a:rPr lang="en-AU" b="0" i="0" dirty="0">
                <a:solidFill>
                  <a:srgbClr val="374151"/>
                </a:solidFill>
                <a:effectLst/>
                <a:latin typeface="Söhne"/>
              </a:rPr>
              <a:t> Flex items can grow or shrink based on available space, enabling them to adapt to different screen sizes or content lengths.</a:t>
            </a:r>
          </a:p>
          <a:p>
            <a:pPr marL="742950" lvl="1" indent="-285750" algn="l">
              <a:buFont typeface="Arial" panose="020B0604020202020204" pitchFamily="34" charset="0"/>
              <a:buChar char="•"/>
            </a:pPr>
            <a:r>
              <a:rPr lang="en-AU" b="1" i="0" dirty="0">
                <a:solidFill>
                  <a:srgbClr val="374151"/>
                </a:solidFill>
                <a:effectLst/>
                <a:latin typeface="Söhne"/>
              </a:rPr>
              <a:t>Responsive Layouts:</a:t>
            </a:r>
            <a:r>
              <a:rPr lang="en-AU" b="0" i="0" dirty="0">
                <a:solidFill>
                  <a:srgbClr val="374151"/>
                </a:solidFill>
                <a:effectLst/>
                <a:latin typeface="Söhne"/>
              </a:rPr>
              <a:t> This flexibility makes it easier to create responsive layouts that adjust to various viewports while maintaining a coherent design.</a:t>
            </a: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23</a:t>
            </a:fld>
            <a:endParaRPr lang="en-AU"/>
          </a:p>
        </p:txBody>
      </p:sp>
    </p:spTree>
    <p:extLst>
      <p:ext uri="{BB962C8B-B14F-4D97-AF65-F5344CB8AC3E}">
        <p14:creationId xmlns:p14="http://schemas.microsoft.com/office/powerpoint/2010/main" val="2285593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24</a:t>
            </a:fld>
            <a:endParaRPr lang="en-AU"/>
          </a:p>
        </p:txBody>
      </p:sp>
    </p:spTree>
    <p:extLst>
      <p:ext uri="{BB962C8B-B14F-4D97-AF65-F5344CB8AC3E}">
        <p14:creationId xmlns:p14="http://schemas.microsoft.com/office/powerpoint/2010/main" val="457686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25</a:t>
            </a:fld>
            <a:endParaRPr lang="en-AU"/>
          </a:p>
        </p:txBody>
      </p:sp>
    </p:spTree>
    <p:extLst>
      <p:ext uri="{BB962C8B-B14F-4D97-AF65-F5344CB8AC3E}">
        <p14:creationId xmlns:p14="http://schemas.microsoft.com/office/powerpoint/2010/main" val="1909892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26</a:t>
            </a:fld>
            <a:endParaRPr lang="en-AU"/>
          </a:p>
        </p:txBody>
      </p:sp>
    </p:spTree>
    <p:extLst>
      <p:ext uri="{BB962C8B-B14F-4D97-AF65-F5344CB8AC3E}">
        <p14:creationId xmlns:p14="http://schemas.microsoft.com/office/powerpoint/2010/main" val="2341862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27</a:t>
            </a:fld>
            <a:endParaRPr lang="en-AU"/>
          </a:p>
        </p:txBody>
      </p:sp>
    </p:spTree>
    <p:extLst>
      <p:ext uri="{BB962C8B-B14F-4D97-AF65-F5344CB8AC3E}">
        <p14:creationId xmlns:p14="http://schemas.microsoft.com/office/powerpoint/2010/main" val="2794847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p:cNvSpPr>
            <a:spLocks noGrp="1"/>
          </p:cNvSpPr>
          <p:nvPr>
            <p:ph type="sldNum" sz="quarter" idx="5"/>
          </p:nvPr>
        </p:nvSpPr>
        <p:spPr/>
        <p:txBody>
          <a:bodyPr/>
          <a:lstStyle/>
          <a:p>
            <a:fld id="{28466E44-85AF-49D7-8284-F760545F1423}" type="slidenum">
              <a:rPr lang="en-AU" smtClean="0"/>
              <a:t>28</a:t>
            </a:fld>
            <a:endParaRPr lang="en-AU"/>
          </a:p>
        </p:txBody>
      </p:sp>
    </p:spTree>
    <p:extLst>
      <p:ext uri="{BB962C8B-B14F-4D97-AF65-F5344CB8AC3E}">
        <p14:creationId xmlns:p14="http://schemas.microsoft.com/office/powerpoint/2010/main" val="1903233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6A0E8-8BB6-291F-15F1-D55C75DD7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793F5-1440-D3BD-E950-609B80131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A3365-50B1-5240-B77C-1C0D94858934}"/>
              </a:ext>
            </a:extLst>
          </p:cNvPr>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a:extLst>
              <a:ext uri="{FF2B5EF4-FFF2-40B4-BE49-F238E27FC236}">
                <a16:creationId xmlns:a16="http://schemas.microsoft.com/office/drawing/2014/main" id="{6B15D2A5-1363-453D-6EC5-478182B8B7AB}"/>
              </a:ext>
            </a:extLst>
          </p:cNvPr>
          <p:cNvSpPr>
            <a:spLocks noGrp="1"/>
          </p:cNvSpPr>
          <p:nvPr>
            <p:ph type="sldNum" sz="quarter" idx="5"/>
          </p:nvPr>
        </p:nvSpPr>
        <p:spPr/>
        <p:txBody>
          <a:bodyPr/>
          <a:lstStyle/>
          <a:p>
            <a:fld id="{28466E44-85AF-49D7-8284-F760545F1423}" type="slidenum">
              <a:rPr lang="en-AU" smtClean="0"/>
              <a:t>29</a:t>
            </a:fld>
            <a:endParaRPr lang="en-AU"/>
          </a:p>
        </p:txBody>
      </p:sp>
    </p:spTree>
    <p:extLst>
      <p:ext uri="{BB962C8B-B14F-4D97-AF65-F5344CB8AC3E}">
        <p14:creationId xmlns:p14="http://schemas.microsoft.com/office/powerpoint/2010/main" val="3747407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387E5-DFED-31A6-328E-6DA65297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C1D5F-524A-770C-A8AE-4DD1B86CC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A7376-73F7-BCA5-45E8-55DFE07DA81A}"/>
              </a:ext>
            </a:extLst>
          </p:cNvPr>
          <p:cNvSpPr>
            <a:spLocks noGrp="1"/>
          </p:cNvSpPr>
          <p:nvPr>
            <p:ph type="body" idx="1"/>
          </p:nvPr>
        </p:nvSpPr>
        <p:spPr/>
        <p:txBody>
          <a:bodyPr/>
          <a:lstStyle/>
          <a:p>
            <a:pPr marL="0" indent="0" algn="l">
              <a:buFont typeface="Arial" panose="020B0604020202020204" pitchFamily="34" charset="0"/>
              <a:buNone/>
            </a:pPr>
            <a:br>
              <a:rPr lang="en-AU" b="0" i="0" dirty="0">
                <a:solidFill>
                  <a:srgbClr val="374151"/>
                </a:solidFill>
                <a:effectLst/>
                <a:latin typeface="Söhne"/>
              </a:rPr>
            </a:br>
            <a:r>
              <a:rPr lang="en-AU" b="1" i="0" dirty="0">
                <a:solidFill>
                  <a:srgbClr val="374151"/>
                </a:solidFill>
                <a:effectLst/>
                <a:latin typeface="Söhne"/>
              </a:rPr>
              <a:t>Direction Determination:</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Row Layout:</a:t>
            </a:r>
            <a:r>
              <a:rPr lang="en-AU" b="0" i="0" dirty="0">
                <a:solidFill>
                  <a:srgbClr val="374151"/>
                </a:solidFill>
                <a:effectLst/>
                <a:latin typeface="Söhne"/>
              </a:rPr>
              <a:t> If flex-direction: row; is set on the container, the main axis runs horizontally from left to right, and the cross axis runs vertically from top to bottom.</a:t>
            </a:r>
          </a:p>
          <a:p>
            <a:pPr marL="457200" lvl="1" indent="0" algn="l">
              <a:buFont typeface="Arial" panose="020B0604020202020204" pitchFamily="34" charset="0"/>
              <a:buNone/>
            </a:pPr>
            <a:r>
              <a:rPr lang="en-AU" b="1" i="0" dirty="0">
                <a:solidFill>
                  <a:srgbClr val="374151"/>
                </a:solidFill>
                <a:effectLst/>
                <a:latin typeface="Söhne"/>
              </a:rPr>
              <a:t>Column Layout:</a:t>
            </a:r>
            <a:r>
              <a:rPr lang="en-AU" b="0" i="0" dirty="0">
                <a:solidFill>
                  <a:srgbClr val="374151"/>
                </a:solidFill>
                <a:effectLst/>
                <a:latin typeface="Söhne"/>
              </a:rPr>
              <a:t> If flex-direction: column; is set on the container, the main axis runs vertically from top to bottom, and the cross axis runs horizontally from left to right.</a:t>
            </a:r>
          </a:p>
          <a:p>
            <a:pPr algn="l">
              <a:buFont typeface="Arial" panose="020B0604020202020204" pitchFamily="34" charset="0"/>
              <a:buNone/>
            </a:pPr>
            <a:r>
              <a:rPr lang="en-AU" b="1" i="0" dirty="0">
                <a:solidFill>
                  <a:srgbClr val="374151"/>
                </a:solidFill>
                <a:effectLst/>
                <a:latin typeface="Söhne"/>
              </a:rPr>
              <a:t>Main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Justify Content:</a:t>
            </a:r>
            <a:r>
              <a:rPr lang="en-AU" b="0" i="0" dirty="0">
                <a:solidFill>
                  <a:srgbClr val="374151"/>
                </a:solidFill>
                <a:effectLst/>
                <a:latin typeface="Söhne"/>
              </a:rPr>
              <a:t> The justify-content property controls how items are aligned along the main axis. Common values include flex-start, flex-end, </a:t>
            </a:r>
            <a:r>
              <a:rPr lang="en-AU" b="0" i="0" dirty="0" err="1">
                <a:solidFill>
                  <a:srgbClr val="374151"/>
                </a:solidFill>
                <a:effectLst/>
                <a:latin typeface="Söhne"/>
              </a:rPr>
              <a:t>center</a:t>
            </a:r>
            <a:r>
              <a:rPr lang="en-AU" b="0" i="0" dirty="0">
                <a:solidFill>
                  <a:srgbClr val="374151"/>
                </a:solidFill>
                <a:effectLst/>
                <a:latin typeface="Söhne"/>
              </a:rPr>
              <a:t>, space-between, and space-around.</a:t>
            </a:r>
          </a:p>
          <a:p>
            <a:pPr algn="l">
              <a:buFont typeface="Arial" panose="020B0604020202020204" pitchFamily="34" charset="0"/>
              <a:buNone/>
            </a:pPr>
            <a:r>
              <a:rPr lang="en-AU" b="1" i="0" dirty="0">
                <a:solidFill>
                  <a:srgbClr val="374151"/>
                </a:solidFill>
                <a:effectLst/>
                <a:latin typeface="Söhne"/>
              </a:rPr>
              <a:t>Cross Axis Alignment:</a:t>
            </a:r>
            <a:endParaRPr lang="en-AU" b="0" i="0" dirty="0">
              <a:solidFill>
                <a:srgbClr val="374151"/>
              </a:solidFill>
              <a:effectLst/>
              <a:latin typeface="Söhne"/>
            </a:endParaRPr>
          </a:p>
          <a:p>
            <a:pPr marL="457200" lvl="1" indent="0" algn="l">
              <a:buFont typeface="Arial" panose="020B0604020202020204" pitchFamily="34" charset="0"/>
              <a:buNone/>
            </a:pPr>
            <a:r>
              <a:rPr lang="en-AU" b="1" i="0" dirty="0">
                <a:solidFill>
                  <a:srgbClr val="374151"/>
                </a:solidFill>
                <a:effectLst/>
                <a:latin typeface="Söhne"/>
              </a:rPr>
              <a:t>Align Items:</a:t>
            </a:r>
            <a:r>
              <a:rPr lang="en-AU" b="0" i="0" dirty="0">
                <a:solidFill>
                  <a:srgbClr val="374151"/>
                </a:solidFill>
                <a:effectLst/>
                <a:latin typeface="Söhne"/>
              </a:rPr>
              <a:t> The align-items property controls how items are aligned along the cross axis. It affects all items as a group and has values like flex-start, flex-end, </a:t>
            </a:r>
            <a:r>
              <a:rPr lang="en-AU" b="0" i="0" dirty="0" err="1">
                <a:solidFill>
                  <a:srgbClr val="374151"/>
                </a:solidFill>
                <a:effectLst/>
                <a:latin typeface="Söhne"/>
              </a:rPr>
              <a:t>center</a:t>
            </a:r>
            <a:r>
              <a:rPr lang="en-AU" b="0" i="0" dirty="0">
                <a:solidFill>
                  <a:srgbClr val="374151"/>
                </a:solidFill>
                <a:effectLst/>
                <a:latin typeface="Söhne"/>
              </a:rPr>
              <a:t>, baseline, and stretch.</a:t>
            </a:r>
          </a:p>
          <a:p>
            <a:pPr marL="457200" lvl="1" indent="0" algn="l">
              <a:buFont typeface="Arial" panose="020B0604020202020204" pitchFamily="34" charset="0"/>
              <a:buNone/>
            </a:pPr>
            <a:r>
              <a:rPr lang="en-AU" b="1" i="0" dirty="0">
                <a:solidFill>
                  <a:srgbClr val="374151"/>
                </a:solidFill>
                <a:effectLst/>
                <a:latin typeface="Söhne"/>
              </a:rPr>
              <a:t>Align Self:</a:t>
            </a:r>
            <a:r>
              <a:rPr lang="en-AU" b="0" i="0" dirty="0">
                <a:solidFill>
                  <a:srgbClr val="374151"/>
                </a:solidFill>
                <a:effectLst/>
                <a:latin typeface="Söhne"/>
              </a:rPr>
              <a:t> The align-self property can be applied to individual items, allowing them to override the alignment set by the container's align-items.</a:t>
            </a:r>
          </a:p>
          <a:p>
            <a:pPr marL="457200" lvl="1" indent="0" algn="l">
              <a:buFont typeface="Arial" panose="020B0604020202020204" pitchFamily="34" charset="0"/>
              <a:buNone/>
            </a:pPr>
            <a:endParaRPr lang="en-AU" b="0" i="0" dirty="0">
              <a:solidFill>
                <a:srgbClr val="374151"/>
              </a:solidFill>
              <a:effectLst/>
              <a:latin typeface="Söhne"/>
            </a:endParaRPr>
          </a:p>
          <a:p>
            <a:pPr algn="l"/>
            <a:r>
              <a:rPr lang="en-AU" b="1" i="0" dirty="0">
                <a:solidFill>
                  <a:srgbClr val="374151"/>
                </a:solidFill>
                <a:effectLst/>
                <a:latin typeface="Söhne"/>
              </a:rPr>
              <a:t>Use Cases:</a:t>
            </a:r>
            <a:endParaRPr lang="en-AU" b="0" i="0" dirty="0">
              <a:solidFill>
                <a:srgbClr val="374151"/>
              </a:solidFill>
              <a:effectLst/>
              <a:latin typeface="Söhne"/>
            </a:endParaRPr>
          </a:p>
          <a:p>
            <a:pPr algn="l">
              <a:buFont typeface="Arial" panose="020B0604020202020204" pitchFamily="34" charset="0"/>
              <a:buNone/>
            </a:pPr>
            <a:r>
              <a:rPr lang="en-AU" b="1" i="0" dirty="0">
                <a:solidFill>
                  <a:srgbClr val="374151"/>
                </a:solidFill>
                <a:effectLst/>
                <a:latin typeface="Söhne"/>
              </a:rPr>
              <a:t>Main Axis (Row):</a:t>
            </a:r>
            <a:r>
              <a:rPr lang="en-AU" b="0" i="0" dirty="0">
                <a:solidFill>
                  <a:srgbClr val="374151"/>
                </a:solidFill>
                <a:effectLst/>
                <a:latin typeface="Söhne"/>
              </a:rPr>
              <a:t> Ideal for horizontally aligning items, like in navigation menus.</a:t>
            </a:r>
          </a:p>
          <a:p>
            <a:pPr algn="l">
              <a:buFont typeface="Arial" panose="020B0604020202020204" pitchFamily="34" charset="0"/>
              <a:buNone/>
            </a:pPr>
            <a:r>
              <a:rPr lang="en-AU" b="1" i="0" dirty="0">
                <a:solidFill>
                  <a:srgbClr val="374151"/>
                </a:solidFill>
                <a:effectLst/>
                <a:latin typeface="Söhne"/>
              </a:rPr>
              <a:t>Main Axis (Column):</a:t>
            </a:r>
            <a:r>
              <a:rPr lang="en-AU" b="0" i="0" dirty="0">
                <a:solidFill>
                  <a:srgbClr val="374151"/>
                </a:solidFill>
                <a:effectLst/>
                <a:latin typeface="Söhne"/>
              </a:rPr>
              <a:t> Useful for vertically stacking items, such as in a list.</a:t>
            </a:r>
          </a:p>
          <a:p>
            <a:pPr marL="457200" lvl="1" indent="0" algn="l">
              <a:buFont typeface="Arial" panose="020B0604020202020204" pitchFamily="34" charset="0"/>
              <a:buNone/>
            </a:pPr>
            <a:endParaRPr lang="en-AU" b="0" i="0" dirty="0">
              <a:solidFill>
                <a:srgbClr val="374151"/>
              </a:solidFill>
              <a:effectLst/>
              <a:latin typeface="Söhne"/>
            </a:endParaRPr>
          </a:p>
          <a:p>
            <a:endParaRPr lang="en-AU" dirty="0"/>
          </a:p>
        </p:txBody>
      </p:sp>
      <p:sp>
        <p:nvSpPr>
          <p:cNvPr id="4" name="Slide Number Placeholder 3">
            <a:extLst>
              <a:ext uri="{FF2B5EF4-FFF2-40B4-BE49-F238E27FC236}">
                <a16:creationId xmlns:a16="http://schemas.microsoft.com/office/drawing/2014/main" id="{0B805F66-0B5D-D7CD-91D3-624F04C6B3FB}"/>
              </a:ext>
            </a:extLst>
          </p:cNvPr>
          <p:cNvSpPr>
            <a:spLocks noGrp="1"/>
          </p:cNvSpPr>
          <p:nvPr>
            <p:ph type="sldNum" sz="quarter" idx="5"/>
          </p:nvPr>
        </p:nvSpPr>
        <p:spPr/>
        <p:txBody>
          <a:bodyPr/>
          <a:lstStyle/>
          <a:p>
            <a:fld id="{28466E44-85AF-49D7-8284-F760545F1423}" type="slidenum">
              <a:rPr lang="en-AU" smtClean="0"/>
              <a:t>30</a:t>
            </a:fld>
            <a:endParaRPr lang="en-AU"/>
          </a:p>
        </p:txBody>
      </p:sp>
    </p:spTree>
    <p:extLst>
      <p:ext uri="{BB962C8B-B14F-4D97-AF65-F5344CB8AC3E}">
        <p14:creationId xmlns:p14="http://schemas.microsoft.com/office/powerpoint/2010/main" val="3262367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3804971720"/>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1368022132"/>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483408213"/>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1070577524"/>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3039407423"/>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88824947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1898165863"/>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3890286759"/>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4854181D-6920-4594-9A5D-6CE56DC9F8B2}" type="slidenum">
              <a:rPr lang="en-US" smtClean="0"/>
              <a:t>‹#›</a:t>
            </a:fld>
            <a:endParaRPr lang="en-US"/>
          </a:p>
        </p:txBody>
      </p:sp>
    </p:spTree>
    <p:extLst>
      <p:ext uri="{BB962C8B-B14F-4D97-AF65-F5344CB8AC3E}">
        <p14:creationId xmlns:p14="http://schemas.microsoft.com/office/powerpoint/2010/main" val="1295152110"/>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3710912073"/>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fld id="{82EDB8D0-98ED-4B86-9D5F-E61ADC70144D}" type="datetimeFigureOut">
              <a:rPr lang="en-US" smtClean="0"/>
              <a:pPr/>
              <a:t>8/12/2024</a:t>
            </a:fld>
            <a:endParaRPr lang="en-US"/>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4854181D-6920-4594-9A5D-6CE56DC9F8B2}" type="slidenum">
              <a:rPr lang="en-US" smtClean="0"/>
              <a:pPr/>
              <a:t>‹#›</a:t>
            </a:fld>
            <a:endParaRPr lang="en-US"/>
          </a:p>
        </p:txBody>
      </p:sp>
    </p:spTree>
    <p:extLst>
      <p:ext uri="{BB962C8B-B14F-4D97-AF65-F5344CB8AC3E}">
        <p14:creationId xmlns:p14="http://schemas.microsoft.com/office/powerpoint/2010/main" val="2506645813"/>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0E973E00-A12D-4309-BB0C-5DBFA5830906}"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807852940"/>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lvl1pPr>
              <a:lnSpc>
                <a:spcPct val="100000"/>
              </a:lnSpc>
              <a:spcBef>
                <a:spcPts val="300"/>
              </a:spcBef>
              <a:spcAft>
                <a:spcPts val="300"/>
              </a:spcAft>
              <a:defRPr/>
            </a:lvl1pPr>
          </a:lstStyle>
          <a:p>
            <a:r>
              <a:rPr lang="en-GB" noProof="0"/>
              <a:t>Click to edit Master title style</a:t>
            </a:r>
            <a:endParaRPr lang="en-AU" noProof="0"/>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hasCustomPrompt="1"/>
          </p:nvPr>
        </p:nvSpPr>
        <p:spPr/>
        <p:txBody>
          <a:bodyPr/>
          <a:lstStyle>
            <a:lvl1pPr>
              <a:lnSpc>
                <a:spcPct val="100000"/>
              </a:lnSpc>
              <a:spcBef>
                <a:spcPts val="300"/>
              </a:spcBef>
              <a:spcAft>
                <a:spcPts val="300"/>
              </a:spcAft>
              <a:defRPr/>
            </a:lvl1pPr>
            <a:lvl2pPr>
              <a:lnSpc>
                <a:spcPct val="100000"/>
              </a:lnSpc>
              <a:spcBef>
                <a:spcPts val="300"/>
              </a:spcBef>
              <a:spcAft>
                <a:spcPts val="300"/>
              </a:spcAft>
              <a:defRPr/>
            </a:lvl2pPr>
            <a:lvl3pPr>
              <a:lnSpc>
                <a:spcPct val="100000"/>
              </a:lnSpc>
              <a:spcBef>
                <a:spcPts val="300"/>
              </a:spcBef>
              <a:spcAft>
                <a:spcPts val="300"/>
              </a:spcAft>
              <a:defRPr/>
            </a:lvl3pPr>
            <a:lvl4pPr>
              <a:lnSpc>
                <a:spcPct val="100000"/>
              </a:lnSpc>
              <a:spcBef>
                <a:spcPts val="300"/>
              </a:spcBef>
              <a:spcAft>
                <a:spcPts val="300"/>
              </a:spcAft>
              <a:defRPr/>
            </a:lvl4pPr>
            <a:lvl5pPr>
              <a:lnSpc>
                <a:spcPct val="100000"/>
              </a:lnSpc>
              <a:spcBef>
                <a:spcPts val="300"/>
              </a:spcBef>
              <a:spcAft>
                <a:spcPts val="300"/>
              </a:spcAft>
              <a:defRPr/>
            </a:lvl5pPr>
          </a:lstStyle>
          <a:p>
            <a:pPr lvl="0"/>
            <a:r>
              <a:rPr lang="en-AU" noProof="0"/>
              <a:t>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endParaRPr lang="en-AU" noProof="0"/>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0E973E00-A12D-4309-BB0C-5DBFA5830906}" type="slidenum">
              <a:rPr lang="en-AU" noProof="0" smtClean="0"/>
              <a:t>‹#›</a:t>
            </a:fld>
            <a:endParaRPr lang="en-AU" noProof="0"/>
          </a:p>
        </p:txBody>
      </p:sp>
    </p:spTree>
    <p:extLst>
      <p:ext uri="{BB962C8B-B14F-4D97-AF65-F5344CB8AC3E}">
        <p14:creationId xmlns:p14="http://schemas.microsoft.com/office/powerpoint/2010/main" val="1583432471"/>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lnSpc>
                <a:spcPct val="100000"/>
              </a:lnSpc>
              <a:spcBef>
                <a:spcPts val="300"/>
              </a:spcBef>
              <a:spcAft>
                <a:spcPts val="300"/>
              </a:spcAft>
              <a:defRPr sz="6000"/>
            </a:lvl1pPr>
          </a:lstStyle>
          <a:p>
            <a:r>
              <a:rPr lang="en-GB" noProof="0"/>
              <a:t>Click to edit Master title style</a:t>
            </a:r>
            <a:endParaRPr lang="en-AU" noProof="0"/>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hasCustomPrompt="1"/>
          </p:nvPr>
        </p:nvSpPr>
        <p:spPr>
          <a:xfrm>
            <a:off x="831850" y="4589463"/>
            <a:ext cx="10515600" cy="1500187"/>
          </a:xfrm>
        </p:spPr>
        <p:txBody>
          <a:bodyPr/>
          <a:lstStyle>
            <a:lvl1pPr marL="0" indent="0">
              <a:lnSpc>
                <a:spcPct val="100000"/>
              </a:lnSpc>
              <a:spcBef>
                <a:spcPts val="300"/>
              </a:spcBef>
              <a:spcAft>
                <a:spcPts val="300"/>
              </a:spcAft>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noProof="0"/>
              <a:t>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2295235436"/>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lvl1pPr>
              <a:lnSpc>
                <a:spcPct val="100000"/>
              </a:lnSpc>
              <a:spcBef>
                <a:spcPts val="300"/>
              </a:spcBef>
              <a:spcAft>
                <a:spcPts val="300"/>
              </a:spcAft>
              <a:defRPr/>
            </a:lvl1pPr>
            <a:lvl2pPr>
              <a:lnSpc>
                <a:spcPct val="100000"/>
              </a:lnSpc>
              <a:spcBef>
                <a:spcPts val="300"/>
              </a:spcBef>
              <a:spcAft>
                <a:spcPts val="300"/>
              </a:spcAft>
              <a:defRPr/>
            </a:lvl2pPr>
            <a:lvl3pPr>
              <a:lnSpc>
                <a:spcPct val="100000"/>
              </a:lnSpc>
              <a:spcBef>
                <a:spcPts val="300"/>
              </a:spcBef>
              <a:spcAft>
                <a:spcPts val="300"/>
              </a:spcAft>
              <a:defRPr/>
            </a:lvl3pPr>
            <a:lvl4pPr>
              <a:lnSpc>
                <a:spcPct val="100000"/>
              </a:lnSpc>
              <a:spcBef>
                <a:spcPts val="300"/>
              </a:spcBef>
              <a:spcAft>
                <a:spcPts val="300"/>
              </a:spcAft>
              <a:defRPr/>
            </a:lvl4pPr>
            <a:lvl5pPr>
              <a:lnSpc>
                <a:spcPct val="100000"/>
              </a:lnSpc>
              <a:spcBef>
                <a:spcPts val="300"/>
              </a:spcBef>
              <a:spcAft>
                <a:spcPts val="30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lvl1pPr>
              <a:lnSpc>
                <a:spcPct val="100000"/>
              </a:lnSpc>
              <a:spcBef>
                <a:spcPts val="300"/>
              </a:spcBef>
              <a:spcAft>
                <a:spcPts val="300"/>
              </a:spcAft>
              <a:defRPr/>
            </a:lvl1pPr>
            <a:lvl2pPr>
              <a:lnSpc>
                <a:spcPct val="100000"/>
              </a:lnSpc>
              <a:spcBef>
                <a:spcPts val="300"/>
              </a:spcBef>
              <a:spcAft>
                <a:spcPts val="300"/>
              </a:spcAft>
              <a:defRPr/>
            </a:lvl2pPr>
            <a:lvl3pPr>
              <a:lnSpc>
                <a:spcPct val="100000"/>
              </a:lnSpc>
              <a:spcBef>
                <a:spcPts val="300"/>
              </a:spcBef>
              <a:spcAft>
                <a:spcPts val="300"/>
              </a:spcAft>
              <a:defRPr/>
            </a:lvl3pPr>
            <a:lvl4pPr>
              <a:lnSpc>
                <a:spcPct val="100000"/>
              </a:lnSpc>
              <a:spcBef>
                <a:spcPts val="300"/>
              </a:spcBef>
              <a:spcAft>
                <a:spcPts val="300"/>
              </a:spcAft>
              <a:defRPr/>
            </a:lvl4pPr>
            <a:lvl5pPr>
              <a:lnSpc>
                <a:spcPct val="100000"/>
              </a:lnSpc>
              <a:spcBef>
                <a:spcPts val="300"/>
              </a:spcBef>
              <a:spcAft>
                <a:spcPts val="30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455075545"/>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lvl1pPr>
              <a:lnSpc>
                <a:spcPct val="100000"/>
              </a:lnSpc>
              <a:spcBef>
                <a:spcPts val="300"/>
              </a:spcBef>
              <a:spcAft>
                <a:spcPts val="300"/>
              </a:spcAft>
              <a:defRPr/>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lnSpc>
                <a:spcPct val="100000"/>
              </a:lnSpc>
              <a:spcBef>
                <a:spcPts val="300"/>
              </a:spcBef>
              <a:spcAft>
                <a:spcPts val="30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lvl1pPr>
              <a:lnSpc>
                <a:spcPct val="100000"/>
              </a:lnSpc>
              <a:spcBef>
                <a:spcPts val="300"/>
              </a:spcBef>
              <a:spcAft>
                <a:spcPts val="300"/>
              </a:spcAft>
              <a:defRPr/>
            </a:lvl1pPr>
            <a:lvl2pPr>
              <a:lnSpc>
                <a:spcPct val="100000"/>
              </a:lnSpc>
              <a:spcBef>
                <a:spcPts val="300"/>
              </a:spcBef>
              <a:spcAft>
                <a:spcPts val="300"/>
              </a:spcAft>
              <a:defRPr/>
            </a:lvl2pPr>
            <a:lvl3pPr>
              <a:lnSpc>
                <a:spcPct val="100000"/>
              </a:lnSpc>
              <a:spcBef>
                <a:spcPts val="300"/>
              </a:spcBef>
              <a:spcAft>
                <a:spcPts val="300"/>
              </a:spcAft>
              <a:defRPr/>
            </a:lvl3pPr>
            <a:lvl4pPr>
              <a:lnSpc>
                <a:spcPct val="100000"/>
              </a:lnSpc>
              <a:spcBef>
                <a:spcPts val="300"/>
              </a:spcBef>
              <a:spcAft>
                <a:spcPts val="300"/>
              </a:spcAft>
              <a:defRPr/>
            </a:lvl4pPr>
            <a:lvl5pPr>
              <a:lnSpc>
                <a:spcPct val="100000"/>
              </a:lnSpc>
              <a:spcBef>
                <a:spcPts val="300"/>
              </a:spcBef>
              <a:spcAft>
                <a:spcPts val="30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lnSpc>
                <a:spcPct val="100000"/>
              </a:lnSpc>
              <a:spcBef>
                <a:spcPts val="300"/>
              </a:spcBef>
              <a:spcAft>
                <a:spcPts val="30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lvl1pPr>
              <a:lnSpc>
                <a:spcPct val="100000"/>
              </a:lnSpc>
              <a:spcBef>
                <a:spcPts val="300"/>
              </a:spcBef>
              <a:spcAft>
                <a:spcPts val="300"/>
              </a:spcAft>
              <a:defRPr/>
            </a:lvl1pPr>
            <a:lvl2pPr>
              <a:lnSpc>
                <a:spcPct val="100000"/>
              </a:lnSpc>
              <a:spcBef>
                <a:spcPts val="300"/>
              </a:spcBef>
              <a:spcAft>
                <a:spcPts val="300"/>
              </a:spcAft>
              <a:defRPr/>
            </a:lvl2pPr>
            <a:lvl3pPr>
              <a:lnSpc>
                <a:spcPct val="100000"/>
              </a:lnSpc>
              <a:spcBef>
                <a:spcPts val="300"/>
              </a:spcBef>
              <a:spcAft>
                <a:spcPts val="300"/>
              </a:spcAft>
              <a:defRPr/>
            </a:lvl3pPr>
            <a:lvl4pPr>
              <a:lnSpc>
                <a:spcPct val="100000"/>
              </a:lnSpc>
              <a:spcBef>
                <a:spcPts val="300"/>
              </a:spcBef>
              <a:spcAft>
                <a:spcPts val="300"/>
              </a:spcAft>
              <a:defRPr/>
            </a:lvl4pPr>
            <a:lvl5pPr>
              <a:lnSpc>
                <a:spcPct val="100000"/>
              </a:lnSpc>
              <a:spcBef>
                <a:spcPts val="300"/>
              </a:spcBef>
              <a:spcAft>
                <a:spcPts val="30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2104416204"/>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lvl1pPr>
              <a:lnSpc>
                <a:spcPct val="100000"/>
              </a:lnSpc>
              <a:spcBef>
                <a:spcPts val="300"/>
              </a:spcBef>
              <a:spcAft>
                <a:spcPts val="300"/>
              </a:spcAft>
              <a:defRPr/>
            </a:lvl1p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453446637"/>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156902548"/>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lnSpc>
                <a:spcPct val="100000"/>
              </a:lnSpc>
              <a:spcBef>
                <a:spcPts val="300"/>
              </a:spcBef>
              <a:spcAft>
                <a:spcPts val="300"/>
              </a:spcAft>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lnSpc>
                <a:spcPct val="100000"/>
              </a:lnSpc>
              <a:spcBef>
                <a:spcPts val="300"/>
              </a:spcBef>
              <a:spcAft>
                <a:spcPts val="300"/>
              </a:spcAft>
              <a:defRPr sz="3200"/>
            </a:lvl1pPr>
            <a:lvl2pPr>
              <a:lnSpc>
                <a:spcPct val="100000"/>
              </a:lnSpc>
              <a:spcBef>
                <a:spcPts val="300"/>
              </a:spcBef>
              <a:spcAft>
                <a:spcPts val="300"/>
              </a:spcAft>
              <a:defRPr sz="2800"/>
            </a:lvl2pPr>
            <a:lvl3pPr>
              <a:lnSpc>
                <a:spcPct val="100000"/>
              </a:lnSpc>
              <a:spcBef>
                <a:spcPts val="300"/>
              </a:spcBef>
              <a:spcAft>
                <a:spcPts val="300"/>
              </a:spcAft>
              <a:defRPr sz="2400"/>
            </a:lvl3pPr>
            <a:lvl4pPr>
              <a:lnSpc>
                <a:spcPct val="100000"/>
              </a:lnSpc>
              <a:spcBef>
                <a:spcPts val="300"/>
              </a:spcBef>
              <a:spcAft>
                <a:spcPts val="300"/>
              </a:spcAft>
              <a:defRPr sz="2000"/>
            </a:lvl4pPr>
            <a:lvl5pPr>
              <a:lnSpc>
                <a:spcPct val="100000"/>
              </a:lnSpc>
              <a:spcBef>
                <a:spcPts val="300"/>
              </a:spcBef>
              <a:spcAft>
                <a:spcPts val="300"/>
              </a:spcAft>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lnSpc>
                <a:spcPct val="100000"/>
              </a:lnSpc>
              <a:spcBef>
                <a:spcPts val="300"/>
              </a:spcBef>
              <a:spcAft>
                <a:spcPts val="3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331951281"/>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lnSpc>
                <a:spcPct val="100000"/>
              </a:lnSpc>
              <a:spcBef>
                <a:spcPts val="300"/>
              </a:spcBef>
              <a:spcAft>
                <a:spcPts val="300"/>
              </a:spcAft>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lnSpc>
                <a:spcPct val="100000"/>
              </a:lnSpc>
              <a:spcBef>
                <a:spcPts val="300"/>
              </a:spcBef>
              <a:spcAft>
                <a:spcPts val="300"/>
              </a:spcAft>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lnSpc>
                <a:spcPct val="100000"/>
              </a:lnSpc>
              <a:spcBef>
                <a:spcPts val="300"/>
              </a:spcBef>
              <a:spcAft>
                <a:spcPts val="3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642910913"/>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lnSpc>
                <a:spcPct val="100000"/>
              </a:lnSpc>
              <a:spcBef>
                <a:spcPts val="300"/>
              </a:spcBef>
              <a:spcAft>
                <a:spcPts val="300"/>
              </a:spcAft>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lnSpc>
                <a:spcPct val="100000"/>
              </a:lnSpc>
              <a:spcBef>
                <a:spcPts val="300"/>
              </a:spcBef>
              <a:spcAft>
                <a:spcPts val="300"/>
              </a:spcAft>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0E973E00-A12D-4309-BB0C-5DBFA5830906}"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lnSpc>
                <a:spcPct val="100000"/>
              </a:lnSpc>
              <a:spcBef>
                <a:spcPts val="300"/>
              </a:spcBef>
              <a:spcAft>
                <a:spcPts val="300"/>
              </a:spcAft>
              <a:defRPr/>
            </a:lvl1pPr>
          </a:lstStyle>
          <a:p>
            <a:r>
              <a:rPr lang="en-GB"/>
              <a:t>Click icon to add table</a:t>
            </a:r>
            <a:endParaRPr lang="en-AU"/>
          </a:p>
        </p:txBody>
      </p:sp>
    </p:spTree>
    <p:extLst>
      <p:ext uri="{BB962C8B-B14F-4D97-AF65-F5344CB8AC3E}">
        <p14:creationId xmlns:p14="http://schemas.microsoft.com/office/powerpoint/2010/main" val="403101532"/>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lnSpc>
                <a:spcPct val="100000"/>
              </a:lnSpc>
              <a:spcBef>
                <a:spcPts val="300"/>
              </a:spcBef>
              <a:spcAft>
                <a:spcPts val="300"/>
              </a:spcAft>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lnSpc>
                <a:spcPct val="100000"/>
              </a:lnSpc>
              <a:spcBef>
                <a:spcPts val="300"/>
              </a:spcBef>
              <a:spcAft>
                <a:spcPts val="300"/>
              </a:spcAft>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fld id="{6FBAE7EB-D192-4D2E-8D51-DD57575EA4B4}" type="datetimeFigureOut">
              <a:rPr lang="en-AU" smtClean="0"/>
              <a:t>12/08/2024</a:t>
            </a:fld>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005914329"/>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0E973E00-A12D-4309-BB0C-5DBFA5830906}"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65639090"/>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noProof="0"/>
              <a:t>Click to edit Master title style</a:t>
            </a:r>
            <a:endParaRPr lang="en-AU" noProof="0"/>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hasCustomPrompt="1"/>
          </p:nvPr>
        </p:nvSpPr>
        <p:spPr/>
        <p:txBody>
          <a:bodyPr/>
          <a:lstStyle/>
          <a:p>
            <a:pPr lvl="0"/>
            <a:r>
              <a:rPr lang="en-AU" noProof="0"/>
              <a:t>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endParaRPr lang="en-AU" noProof="0"/>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0E973E00-A12D-4309-BB0C-5DBFA5830906}" type="slidenum">
              <a:rPr lang="en-AU" noProof="0" smtClean="0"/>
              <a:t>‹#›</a:t>
            </a:fld>
            <a:endParaRPr lang="en-AU" noProof="0"/>
          </a:p>
        </p:txBody>
      </p:sp>
    </p:spTree>
    <p:extLst>
      <p:ext uri="{BB962C8B-B14F-4D97-AF65-F5344CB8AC3E}">
        <p14:creationId xmlns:p14="http://schemas.microsoft.com/office/powerpoint/2010/main" val="3267110710"/>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noProof="0"/>
              <a:t>Click to edit Master title style</a:t>
            </a:r>
            <a:endParaRPr lang="en-AU" noProof="0"/>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noProof="0"/>
              <a:t>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093454972"/>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2155091054"/>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688094653"/>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823124391"/>
      </p:ext>
    </p:extLst>
  </p:cSld>
  <p:clrMapOvr>
    <a:masterClrMapping/>
  </p:clrMapOvr>
  <p:transition spd="slow">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836677842"/>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082439502"/>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1507761409"/>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0E973E00-A12D-4309-BB0C-5DBFA5830906}"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214551233"/>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fld id="{6FBAE7EB-D192-4D2E-8D51-DD57575EA4B4}" type="datetimeFigureOut">
              <a:rPr lang="en-AU" smtClean="0"/>
              <a:t>12/08/2024</a:t>
            </a:fld>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0E973E00-A12D-4309-BB0C-5DBFA5830906}" type="slidenum">
              <a:rPr lang="en-AU" smtClean="0"/>
              <a:t>‹#›</a:t>
            </a:fld>
            <a:endParaRPr lang="en-AU"/>
          </a:p>
        </p:txBody>
      </p:sp>
    </p:spTree>
    <p:extLst>
      <p:ext uri="{BB962C8B-B14F-4D97-AF65-F5344CB8AC3E}">
        <p14:creationId xmlns:p14="http://schemas.microsoft.com/office/powerpoint/2010/main" val="3887872616"/>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887325809"/>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962009829"/>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935945563"/>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401744494"/>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302350594"/>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019059109"/>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890440938"/>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304279959"/>
      </p:ext>
    </p:extLst>
  </p:cSld>
  <p:clrMapOvr>
    <a:masterClrMapping/>
  </p:clrMapOvr>
  <p:transition spd="slow">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359590441"/>
      </p:ext>
    </p:extLst>
  </p:cSld>
  <p:clrMapOvr>
    <a:masterClrMapping/>
  </p:clrMapOvr>
  <p:transition spd="slow">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009257663"/>
      </p:ext>
    </p:extLst>
  </p:cSld>
  <p:clrMapOvr>
    <a:masterClrMapping/>
  </p:clrMapOvr>
  <p:transition spd="slow">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2822646541"/>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210842572"/>
      </p:ext>
    </p:extLst>
  </p:cSld>
  <p:clrMapOvr>
    <a:masterClrMapping/>
  </p:clrMapOvr>
  <p:transition spd="slow">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836037543"/>
      </p:ext>
    </p:extLst>
  </p:cSld>
  <p:clrMapOvr>
    <a:masterClrMapping/>
  </p:clrMapOvr>
  <p:transition spd="slow">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615812088"/>
      </p:ext>
    </p:extLst>
  </p:cSld>
  <p:clrMapOvr>
    <a:masterClrMapping/>
  </p:clrMapOvr>
  <p:transition spd="slow">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010765084"/>
      </p:ext>
    </p:extLst>
  </p:cSld>
  <p:clrMapOvr>
    <a:masterClrMapping/>
  </p:clrMapOvr>
  <p:transition spd="slow">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677664379"/>
      </p:ext>
    </p:extLst>
  </p:cSld>
  <p:clrMapOvr>
    <a:masterClrMapping/>
  </p:clrMapOvr>
  <p:transition spd="slow">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969627324"/>
      </p:ext>
    </p:extLst>
  </p:cSld>
  <p:clrMapOvr>
    <a:masterClrMapping/>
  </p:clrMapOvr>
  <p:transition spd="slow">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257146778"/>
      </p:ext>
    </p:extLst>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928866695"/>
      </p:ext>
    </p:extLst>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911941442"/>
      </p:ext>
    </p:extLst>
  </p:cSld>
  <p:clrMapOvr>
    <a:masterClrMapping/>
  </p:clrMapOvr>
  <p:transition spd="slow">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562579322"/>
      </p:ext>
    </p:extLst>
  </p:cSld>
  <p:clrMapOvr>
    <a:masterClrMapping/>
  </p:clrMapOvr>
  <p:transition spd="slow">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2662395453"/>
      </p:ext>
    </p:extLst>
  </p:cSld>
  <p:clrMapOvr>
    <a:masterClrMapping/>
  </p:clrMapOvr>
  <p:transition spd="slow">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520220297"/>
      </p:ext>
    </p:extLst>
  </p:cSld>
  <p:clrMapOvr>
    <a:masterClrMapping/>
  </p:clrMapOvr>
  <p:transition spd="slow">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359710051"/>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797095686"/>
      </p:ext>
    </p:extLst>
  </p:cSld>
  <p:clrMapOvr>
    <a:masterClrMapping/>
  </p:clrMapOvr>
  <p:transition spd="slow">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2082501"/>
      </p:ext>
    </p:extLst>
  </p:cSld>
  <p:clrMapOvr>
    <a:masterClrMapping/>
  </p:clrMapOvr>
  <p:transition spd="slow">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946643192"/>
      </p:ext>
    </p:extLst>
  </p:cSld>
  <p:clrMapOvr>
    <a:masterClrMapping/>
  </p:clrMapOvr>
  <p:transition spd="slow">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575730182"/>
      </p:ext>
    </p:extLst>
  </p:cSld>
  <p:clrMapOvr>
    <a:masterClrMapping/>
  </p:clrMapOvr>
  <p:transition spd="slow">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34384613"/>
      </p:ext>
    </p:extLst>
  </p:cSld>
  <p:clrMapOvr>
    <a:masterClrMapping/>
  </p:clrMapOvr>
  <p:transition spd="slow">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23113288"/>
      </p:ext>
    </p:extLst>
  </p:cSld>
  <p:clrMapOvr>
    <a:masterClrMapping/>
  </p:clrMapOvr>
  <p:transition spd="slow">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53045618"/>
      </p:ext>
    </p:extLst>
  </p:cSld>
  <p:clrMapOvr>
    <a:masterClrMapping/>
  </p:clrMapOvr>
  <p:transition spd="slow">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4009998777"/>
      </p:ext>
    </p:extLst>
  </p:cSld>
  <p:clrMapOvr>
    <a:masterClrMapping/>
  </p:clrMapOvr>
  <p:transition spd="slow">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3029052585"/>
      </p:ext>
    </p:extLst>
  </p:cSld>
  <p:clrMapOvr>
    <a:masterClrMapping/>
  </p:clrMapOvr>
  <p:transition spd="slow">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434099411"/>
      </p:ext>
    </p:extLst>
  </p:cSld>
  <p:clrMapOvr>
    <a:masterClrMapping/>
  </p:clrMapOvr>
  <p:transition spd="slow">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80144768"/>
      </p:ext>
    </p:extLst>
  </p:cSld>
  <p:clrMapOvr>
    <a:masterClrMapping/>
  </p:clrMapOvr>
  <p:transition spd="slow">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077102047"/>
      </p:ext>
    </p:extLst>
  </p:cSld>
  <p:clrMapOvr>
    <a:masterClrMapping/>
  </p:clrMapOvr>
  <p:transition spd="slow">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179389621"/>
      </p:ext>
    </p:extLst>
  </p:cSld>
  <p:clrMapOvr>
    <a:masterClrMapping/>
  </p:clrMapOvr>
  <p:transition spd="slow">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369817362"/>
      </p:ext>
    </p:extLst>
  </p:cSld>
  <p:clrMapOvr>
    <a:masterClrMapping/>
  </p:clrMapOvr>
  <p:transition spd="slow">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823219357"/>
      </p:ext>
    </p:extLst>
  </p:cSld>
  <p:clrMapOvr>
    <a:masterClrMapping/>
  </p:clrMapOvr>
  <p:transition spd="slow">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522639140"/>
      </p:ext>
    </p:extLst>
  </p:cSld>
  <p:clrMapOvr>
    <a:masterClrMapping/>
  </p:clrMapOvr>
  <p:transition spd="slow">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818202440"/>
      </p:ext>
    </p:extLst>
  </p:cSld>
  <p:clrMapOvr>
    <a:masterClrMapping/>
  </p:clrMapOvr>
  <p:transition spd="slow">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076118706"/>
      </p:ext>
    </p:extLst>
  </p:cSld>
  <p:clrMapOvr>
    <a:masterClrMapping/>
  </p:clrMapOvr>
  <p:transition spd="slow">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4178297514"/>
      </p:ext>
    </p:extLst>
  </p:cSld>
  <p:clrMapOvr>
    <a:masterClrMapping/>
  </p:clrMapOvr>
  <p:transition spd="slow">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2116331379"/>
      </p:ext>
    </p:extLst>
  </p:cSld>
  <p:clrMapOvr>
    <a:masterClrMapping/>
  </p:clrMapOvr>
  <p:transition spd="slow">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635500825"/>
      </p:ext>
    </p:extLst>
  </p:cSld>
  <p:clrMapOvr>
    <a:masterClrMapping/>
  </p:clrMapOvr>
  <p:transition spd="slow">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537379820"/>
      </p:ext>
    </p:extLst>
  </p:cSld>
  <p:clrMapOvr>
    <a:masterClrMapping/>
  </p:clrMapOvr>
  <p:transition spd="slow">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181786074"/>
      </p:ext>
    </p:extLst>
  </p:cSld>
  <p:clrMapOvr>
    <a:masterClrMapping/>
  </p:clrMapOvr>
  <p:transition spd="slow">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232273943"/>
      </p:ext>
    </p:extLst>
  </p:cSld>
  <p:clrMapOvr>
    <a:masterClrMapping/>
  </p:clrMapOvr>
  <p:transition spd="slow">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618435440"/>
      </p:ext>
    </p:extLst>
  </p:cSld>
  <p:clrMapOvr>
    <a:masterClrMapping/>
  </p:clrMapOvr>
  <p:transition spd="slow">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12995935"/>
      </p:ext>
    </p:extLst>
  </p:cSld>
  <p:clrMapOvr>
    <a:masterClrMapping/>
  </p:clrMapOvr>
  <p:transition spd="slow">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640185332"/>
      </p:ext>
    </p:extLst>
  </p:cSld>
  <p:clrMapOvr>
    <a:masterClrMapping/>
  </p:clrMapOvr>
  <p:transition spd="slow">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785765892"/>
      </p:ext>
    </p:extLst>
  </p:cSld>
  <p:clrMapOvr>
    <a:masterClrMapping/>
  </p:clrMapOvr>
  <p:transition spd="slow">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343031487"/>
      </p:ext>
    </p:extLst>
  </p:cSld>
  <p:clrMapOvr>
    <a:masterClrMapping/>
  </p:clrMapOvr>
  <p:transition spd="slow">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546082134"/>
      </p:ext>
    </p:extLst>
  </p:cSld>
  <p:clrMapOvr>
    <a:masterClrMapping/>
  </p:clrMapOvr>
  <p:transition spd="slow">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3455485142"/>
      </p:ext>
    </p:extLst>
  </p:cSld>
  <p:clrMapOvr>
    <a:masterClrMapping/>
  </p:clrMapOvr>
  <p:transition spd="slow">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751969938"/>
      </p:ext>
    </p:extLst>
  </p:cSld>
  <p:clrMapOvr>
    <a:masterClrMapping/>
  </p:clrMapOvr>
  <p:transition spd="slow">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62283881"/>
      </p:ext>
    </p:extLst>
  </p:cSld>
  <p:clrMapOvr>
    <a:masterClrMapping/>
  </p:clrMapOvr>
  <p:transition spd="slow">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101006424"/>
      </p:ext>
    </p:extLst>
  </p:cSld>
  <p:clrMapOvr>
    <a:masterClrMapping/>
  </p:clrMapOvr>
  <p:transition spd="slow">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711959658"/>
      </p:ext>
    </p:extLst>
  </p:cSld>
  <p:clrMapOvr>
    <a:masterClrMapping/>
  </p:clrMapOvr>
  <p:transition spd="slow">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095316661"/>
      </p:ext>
    </p:extLst>
  </p:cSld>
  <p:clrMapOvr>
    <a:masterClrMapping/>
  </p:clrMapOvr>
  <p:transition spd="slow">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062312828"/>
      </p:ext>
    </p:extLst>
  </p:cSld>
  <p:clrMapOvr>
    <a:masterClrMapping/>
  </p:clrMapOvr>
  <p:transition spd="slow">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810389694"/>
      </p:ext>
    </p:extLst>
  </p:cSld>
  <p:clrMapOvr>
    <a:masterClrMapping/>
  </p:clrMapOvr>
  <p:transition spd="slow">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967756321"/>
      </p:ext>
    </p:extLst>
  </p:cSld>
  <p:clrMapOvr>
    <a:masterClrMapping/>
  </p:clrMapOvr>
  <p:transition spd="slow">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524377667"/>
      </p:ext>
    </p:extLst>
  </p:cSld>
  <p:clrMapOvr>
    <a:masterClrMapping/>
  </p:clrMapOvr>
  <p:transition spd="slow">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221518369"/>
      </p:ext>
    </p:extLst>
  </p:cSld>
  <p:clrMapOvr>
    <a:masterClrMapping/>
  </p:clrMapOvr>
  <p:transition spd="slow">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131A-8EDB-2544-BA17-421F20C84F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916FDBF8-70EA-8045-B58F-9FFBC5DA1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B9868105-8173-0C48-846F-689C719F5CD8}"/>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95DEC095-17FD-7146-8C97-865AF71A13AE}"/>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97B0D27F-CEC8-9D47-BFDE-C40E36D40F4A}"/>
              </a:ext>
            </a:extLst>
          </p:cNvPr>
          <p:cNvSpPr>
            <a:spLocks noGrp="1"/>
          </p:cNvSpPr>
          <p:nvPr>
            <p:ph type="sldNum" sz="quarter" idx="12"/>
          </p:nvPr>
        </p:nvSpPr>
        <p:spPr/>
        <p:txBody>
          <a:bodyPr/>
          <a:lstStyle/>
          <a:p>
            <a:fld id="{3A6338CD-FB51-C544-9C7B-5E5A4109094C}" type="slidenum">
              <a:rPr lang="en-AU" smtClean="0"/>
              <a:t>‹#›</a:t>
            </a:fld>
            <a:endParaRPr lang="en-AU"/>
          </a:p>
        </p:txBody>
      </p:sp>
    </p:spTree>
    <p:extLst>
      <p:ext uri="{BB962C8B-B14F-4D97-AF65-F5344CB8AC3E}">
        <p14:creationId xmlns:p14="http://schemas.microsoft.com/office/powerpoint/2010/main" val="2671450234"/>
      </p:ext>
    </p:extLst>
  </p:cSld>
  <p:clrMapOvr>
    <a:masterClrMapping/>
  </p:clrMapOvr>
  <p:transition spd="slow">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384679199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198800938"/>
      </p:ext>
    </p:extLst>
  </p:cSld>
  <p:clrMapOvr>
    <a:masterClrMapping/>
  </p:clrMapOvr>
  <p:transition spd="slow">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729578032"/>
      </p:ext>
    </p:extLst>
  </p:cSld>
  <p:clrMapOvr>
    <a:masterClrMapping/>
  </p:clrMapOvr>
  <p:transition spd="slow">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845599382"/>
      </p:ext>
    </p:extLst>
  </p:cSld>
  <p:clrMapOvr>
    <a:masterClrMapping/>
  </p:clrMapOvr>
  <p:transition spd="slow">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213226191"/>
      </p:ext>
    </p:extLst>
  </p:cSld>
  <p:clrMapOvr>
    <a:masterClrMapping/>
  </p:clrMapOvr>
  <p:transition spd="slow">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316065649"/>
      </p:ext>
    </p:extLst>
  </p:cSld>
  <p:clrMapOvr>
    <a:masterClrMapping/>
  </p:clrMapOvr>
  <p:transition spd="slow">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721847952"/>
      </p:ext>
    </p:extLst>
  </p:cSld>
  <p:clrMapOvr>
    <a:masterClrMapping/>
  </p:clrMapOvr>
  <p:transition spd="slow">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21742388"/>
      </p:ext>
    </p:extLst>
  </p:cSld>
  <p:clrMapOvr>
    <a:masterClrMapping/>
  </p:clrMapOvr>
  <p:transition spd="slow">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63928909"/>
      </p:ext>
    </p:extLst>
  </p:cSld>
  <p:clrMapOvr>
    <a:masterClrMapping/>
  </p:clrMapOvr>
  <p:transition spd="slow">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56949875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9D1D-6CE6-D7E5-EFCB-15A0AB200C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3A0E2A24-C72A-A843-AB81-5E00970924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FD8E5939-A058-387B-1E27-A37B1975B383}"/>
              </a:ext>
            </a:extLst>
          </p:cNvPr>
          <p:cNvSpPr>
            <a:spLocks noGrp="1"/>
          </p:cNvSpPr>
          <p:nvPr>
            <p:ph type="dt" sz="half" idx="10"/>
          </p:nvPr>
        </p:nvSpPr>
        <p:spPr/>
        <p:txBody>
          <a:bodyPr/>
          <a:lstStyle/>
          <a:p>
            <a:fld id="{9AB3A824-1A51-4B26-AD58-A6D8E14F6C04}" type="datetimeFigureOut">
              <a:rPr lang="en-US" smtClean="0"/>
              <a:t>8/12/2024</a:t>
            </a:fld>
            <a:endParaRPr lang="en-US"/>
          </a:p>
        </p:txBody>
      </p:sp>
      <p:sp>
        <p:nvSpPr>
          <p:cNvPr id="5" name="Footer Placeholder 4">
            <a:extLst>
              <a:ext uri="{FF2B5EF4-FFF2-40B4-BE49-F238E27FC236}">
                <a16:creationId xmlns:a16="http://schemas.microsoft.com/office/drawing/2014/main" id="{2BD097FA-99F4-583A-FF35-F6CB944CE66B}"/>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056E8F3D-846C-2F24-CDA6-35CACA0FD250}"/>
              </a:ext>
            </a:extLst>
          </p:cNvPr>
          <p:cNvSpPr>
            <a:spLocks noGrp="1"/>
          </p:cNvSpPr>
          <p:nvPr>
            <p:ph type="sldNum" sz="quarter" idx="12"/>
          </p:nvPr>
        </p:nvSpPr>
        <p:spPr/>
        <p:txBody>
          <a:bodyPr/>
          <a:lstStyle/>
          <a:p>
            <a:fld id="{327F613D-7A8E-3A48-AF4E-A19DD3719B48}" type="slidenum">
              <a:rPr lang="en-AU" smtClean="0"/>
              <a:pPr/>
              <a:t>‹#›</a:t>
            </a:fld>
            <a:endParaRPr lang="en-AU"/>
          </a:p>
        </p:txBody>
      </p:sp>
    </p:spTree>
    <p:extLst>
      <p:ext uri="{BB962C8B-B14F-4D97-AF65-F5344CB8AC3E}">
        <p14:creationId xmlns:p14="http://schemas.microsoft.com/office/powerpoint/2010/main" val="3873913130"/>
      </p:ext>
    </p:extLst>
  </p:cSld>
  <p:clrMapOvr>
    <a:masterClrMapping/>
  </p:clrMapOvr>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428456127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7029226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55303298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6324596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11361617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20336091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38758231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34422970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89240910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23881950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5130407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84263826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13214777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8494600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9483741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8479424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99203280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77737626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6308466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1668367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38025110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11738333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48172933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90603705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64521436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08345080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88377024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94743125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390222243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327F613D-7A8E-3A48-AF4E-A19DD3719B48}" type="slidenum">
              <a:rPr lang="en-AU" smtClean="0"/>
              <a:t>‹#›</a:t>
            </a:fld>
            <a:endParaRPr lang="en-AU"/>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205936901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724827"/>
            <a:ext cx="9144000" cy="1775897"/>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169401920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394CE-42D0-7C40-8EE5-DBDD69BEF4C9}"/>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0C0D485-4F2A-5E4E-8D7A-CFCC7A3BDE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430FE48F-BACE-964B-A8B2-8CA1E349331D}"/>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83FAFAD0-A18D-A64E-B1F7-8A92782E8AF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287754979"/>
      </p:ext>
    </p:extLst>
  </p:cSld>
  <p:clrMapOvr>
    <a:masterClrMapping/>
  </p:clrMapOvr>
  <p:transition spd="slow">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6736-671E-3C4B-B020-878888E35F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627D884-EE4D-F840-B299-94C571F8F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5262CED7-963E-B54F-BEDB-1D5F07DF63EF}"/>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B05B9D3A-2A44-E249-9B40-91311A73850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416360377"/>
      </p:ext>
    </p:extLst>
  </p:cSld>
  <p:clrMapOvr>
    <a:masterClrMapping/>
  </p:clrMapOvr>
  <p:transition spd="slow">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0E4-3CA5-6148-A2EF-401855930F3E}"/>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5419B1C-D641-934F-A322-0C469526D9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EE51C7F3-BD33-DF42-A5AB-2B9F8D8E88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a:extLst>
              <a:ext uri="{FF2B5EF4-FFF2-40B4-BE49-F238E27FC236}">
                <a16:creationId xmlns:a16="http://schemas.microsoft.com/office/drawing/2014/main" id="{C5261108-A4CB-D043-8F94-0EA32371F7D0}"/>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39F0F622-D0BD-AB4A-AC6C-6A0DEC0AA1E9}"/>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449064148"/>
      </p:ext>
    </p:extLst>
  </p:cSld>
  <p:clrMapOvr>
    <a:masterClrMapping/>
  </p:clrMapOvr>
  <p:transition spd="slow">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31627-D569-8F4A-B6AC-306C4580B705}"/>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5103B106-BE30-0047-86A3-FAB836FDED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B5D2156-9025-B343-9C72-ED80CA4F0D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49AED001-F4F9-0043-A7C9-7E1212A74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E1A40D-23A8-2C4E-A8AD-0891281A15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Footer Placeholder 7">
            <a:extLst>
              <a:ext uri="{FF2B5EF4-FFF2-40B4-BE49-F238E27FC236}">
                <a16:creationId xmlns:a16="http://schemas.microsoft.com/office/drawing/2014/main" id="{00362B06-D168-8842-8194-A19FCA66F7E8}"/>
              </a:ext>
            </a:extLst>
          </p:cNvPr>
          <p:cNvSpPr>
            <a:spLocks noGrp="1"/>
          </p:cNvSpPr>
          <p:nvPr>
            <p:ph type="ftr" sz="quarter" idx="11"/>
          </p:nvPr>
        </p:nvSpPr>
        <p:spPr/>
        <p:txBody>
          <a:bodyPr/>
          <a:lstStyle/>
          <a:p>
            <a:r>
              <a:rPr lang="en-AU"/>
              <a:t>© Copyright North Metropolitan TAFE</a:t>
            </a:r>
          </a:p>
        </p:txBody>
      </p:sp>
      <p:sp>
        <p:nvSpPr>
          <p:cNvPr id="9" name="Slide Number Placeholder 8">
            <a:extLst>
              <a:ext uri="{FF2B5EF4-FFF2-40B4-BE49-F238E27FC236}">
                <a16:creationId xmlns:a16="http://schemas.microsoft.com/office/drawing/2014/main" id="{FA09D1C2-CE55-4346-BC7A-5FAC3068F2E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412742752"/>
      </p:ext>
    </p:extLst>
  </p:cSld>
  <p:clrMapOvr>
    <a:masterClrMapping/>
  </p:clrMapOvr>
  <p:transition spd="slow">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FA355-A235-BC49-94C4-9CA7A81F5ADC}"/>
              </a:ext>
            </a:extLst>
          </p:cNvPr>
          <p:cNvSpPr>
            <a:spLocks noGrp="1"/>
          </p:cNvSpPr>
          <p:nvPr>
            <p:ph type="title"/>
          </p:nvPr>
        </p:nvSpPr>
        <p:spPr/>
        <p:txBody>
          <a:bodyPr/>
          <a:lstStyle/>
          <a:p>
            <a:r>
              <a:rPr lang="en-GB"/>
              <a:t>Click to edit Master title style</a:t>
            </a:r>
            <a:endParaRPr lang="en-AU"/>
          </a:p>
        </p:txBody>
      </p:sp>
      <p:sp>
        <p:nvSpPr>
          <p:cNvPr id="4" name="Footer Placeholder 3">
            <a:extLst>
              <a:ext uri="{FF2B5EF4-FFF2-40B4-BE49-F238E27FC236}">
                <a16:creationId xmlns:a16="http://schemas.microsoft.com/office/drawing/2014/main" id="{8D299231-64F4-5F4E-A367-D564C965D1B4}"/>
              </a:ext>
            </a:extLst>
          </p:cNvPr>
          <p:cNvSpPr>
            <a:spLocks noGrp="1"/>
          </p:cNvSpPr>
          <p:nvPr>
            <p:ph type="ftr" sz="quarter" idx="11"/>
          </p:nvPr>
        </p:nvSpPr>
        <p:spPr/>
        <p:txBody>
          <a:bodyPr/>
          <a:lstStyle/>
          <a:p>
            <a:r>
              <a:rPr lang="en-AU"/>
              <a:t>© Copyright North Metropolitan TAFE</a:t>
            </a:r>
          </a:p>
        </p:txBody>
      </p:sp>
      <p:sp>
        <p:nvSpPr>
          <p:cNvPr id="5" name="Slide Number Placeholder 4">
            <a:extLst>
              <a:ext uri="{FF2B5EF4-FFF2-40B4-BE49-F238E27FC236}">
                <a16:creationId xmlns:a16="http://schemas.microsoft.com/office/drawing/2014/main" id="{A4B1ED44-0410-EF4B-B84C-24A4EE4DEF2E}"/>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642929718"/>
      </p:ext>
    </p:extLst>
  </p:cSld>
  <p:clrMapOvr>
    <a:masterClrMapping/>
  </p:clrMapOvr>
  <p:transition spd="slow">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427263-CF68-114F-8153-64712141D9F9}"/>
              </a:ext>
            </a:extLst>
          </p:cNvPr>
          <p:cNvSpPr>
            <a:spLocks noGrp="1"/>
          </p:cNvSpPr>
          <p:nvPr>
            <p:ph type="ftr" sz="quarter" idx="11"/>
          </p:nvPr>
        </p:nvSpPr>
        <p:spPr/>
        <p:txBody>
          <a:bodyPr/>
          <a:lstStyle/>
          <a:p>
            <a:r>
              <a:rPr lang="en-AU"/>
              <a:t>© Copyright North Metropolitan TAFE</a:t>
            </a:r>
          </a:p>
        </p:txBody>
      </p:sp>
      <p:sp>
        <p:nvSpPr>
          <p:cNvPr id="4" name="Slide Number Placeholder 3">
            <a:extLst>
              <a:ext uri="{FF2B5EF4-FFF2-40B4-BE49-F238E27FC236}">
                <a16:creationId xmlns:a16="http://schemas.microsoft.com/office/drawing/2014/main" id="{6A7F0A3A-B953-0C47-883C-8D7B1071FF80}"/>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4127485039"/>
      </p:ext>
    </p:extLst>
  </p:cSld>
  <p:clrMapOvr>
    <a:masterClrMapping/>
  </p:clrMapOvr>
  <p:transition spd="slow">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8876-E38D-8540-B39F-4F6D95A11B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0280CD8F-62E3-6245-A5D7-3E07F1B6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227AECFC-7E21-D842-A316-613C1B2C9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6C291183-CA4B-EB4B-BD60-0EF406D114D5}"/>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5A162212-8704-8C4A-8C17-4A4BCBE84291}"/>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1291988109"/>
      </p:ext>
    </p:extLst>
  </p:cSld>
  <p:clrMapOvr>
    <a:masterClrMapping/>
  </p:clrMapOvr>
  <p:transition spd="slow">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4D41-B09B-4945-AE7C-68BF43F608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7BC768E2-6B41-6F44-84C7-DDD8AD416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AU"/>
          </a:p>
        </p:txBody>
      </p:sp>
      <p:sp>
        <p:nvSpPr>
          <p:cNvPr id="4" name="Text Placeholder 3">
            <a:extLst>
              <a:ext uri="{FF2B5EF4-FFF2-40B4-BE49-F238E27FC236}">
                <a16:creationId xmlns:a16="http://schemas.microsoft.com/office/drawing/2014/main" id="{8774ED20-5AA5-EA41-A0B1-9091E4E28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06C7D818-C9C3-3F49-920E-1C05F9C3E5CA}"/>
              </a:ext>
            </a:extLst>
          </p:cNvPr>
          <p:cNvSpPr>
            <a:spLocks noGrp="1"/>
          </p:cNvSpPr>
          <p:nvPr>
            <p:ph type="ftr" sz="quarter" idx="11"/>
          </p:nvPr>
        </p:nvSpPr>
        <p:spPr/>
        <p:txBody>
          <a:bodyPr/>
          <a:lstStyle/>
          <a:p>
            <a:r>
              <a:rPr lang="en-AU"/>
              <a:t>© Copyright North Metropolitan TAFE</a:t>
            </a:r>
          </a:p>
        </p:txBody>
      </p:sp>
      <p:sp>
        <p:nvSpPr>
          <p:cNvPr id="7" name="Slide Number Placeholder 6">
            <a:extLst>
              <a:ext uri="{FF2B5EF4-FFF2-40B4-BE49-F238E27FC236}">
                <a16:creationId xmlns:a16="http://schemas.microsoft.com/office/drawing/2014/main" id="{047C23BF-EF23-184D-AB71-1EFBA07558BA}"/>
              </a:ext>
            </a:extLst>
          </p:cNvPr>
          <p:cNvSpPr>
            <a:spLocks noGrp="1"/>
          </p:cNvSpPr>
          <p:nvPr>
            <p:ph type="sldNum" sz="quarter" idx="12"/>
          </p:nvPr>
        </p:nvSpPr>
        <p:spPr/>
        <p:txBody>
          <a:bodyPr/>
          <a:lstStyle/>
          <a:p>
            <a:fld id="{327F613D-7A8E-3A48-AF4E-A19DD3719B48}" type="slidenum">
              <a:rPr lang="en-AU" smtClean="0"/>
              <a:t>‹#›</a:t>
            </a:fld>
            <a:endParaRPr lang="en-AU"/>
          </a:p>
        </p:txBody>
      </p:sp>
    </p:spTree>
    <p:extLst>
      <p:ext uri="{BB962C8B-B14F-4D97-AF65-F5344CB8AC3E}">
        <p14:creationId xmlns:p14="http://schemas.microsoft.com/office/powerpoint/2010/main" val="2627331647"/>
      </p:ext>
    </p:extLst>
  </p:cSld>
  <p:clrMapOvr>
    <a:masterClrMapping/>
  </p:clrMapOvr>
  <p:transition spd="slow">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232-E628-734B-BCAD-9F8696B8DE63}"/>
              </a:ext>
            </a:extLst>
          </p:cNvPr>
          <p:cNvSpPr>
            <a:spLocks noGrp="1"/>
          </p:cNvSpPr>
          <p:nvPr>
            <p:ph type="ctrTitle"/>
          </p:nvPr>
        </p:nvSpPr>
        <p:spPr>
          <a:xfrm>
            <a:off x="1524000" y="113125"/>
            <a:ext cx="7084741" cy="2387600"/>
          </a:xfrm>
        </p:spPr>
        <p:txBody>
          <a:bodyPr anchor="b"/>
          <a:lstStyle>
            <a:lvl1pPr algn="l">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82152C6C-253E-2D4A-B538-0C4F1C8636AF}"/>
              </a:ext>
            </a:extLst>
          </p:cNvPr>
          <p:cNvSpPr>
            <a:spLocks noGrp="1"/>
          </p:cNvSpPr>
          <p:nvPr>
            <p:ph type="subTitle" idx="1"/>
          </p:nvPr>
        </p:nvSpPr>
        <p:spPr>
          <a:xfrm>
            <a:off x="1524000" y="2592800"/>
            <a:ext cx="9144000" cy="108710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5" name="Footer Placeholder 4">
            <a:extLst>
              <a:ext uri="{FF2B5EF4-FFF2-40B4-BE49-F238E27FC236}">
                <a16:creationId xmlns:a16="http://schemas.microsoft.com/office/drawing/2014/main" id="{CA097606-95D4-0744-AB62-9A5EE5B5A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00F0F-D30B-154C-9DBA-ADCC28F0C3AC}"/>
              </a:ext>
            </a:extLst>
          </p:cNvPr>
          <p:cNvSpPr>
            <a:spLocks noGrp="1"/>
          </p:cNvSpPr>
          <p:nvPr>
            <p:ph type="sldNum" sz="quarter" idx="12"/>
          </p:nvPr>
        </p:nvSpPr>
        <p:spPr/>
        <p:txBody>
          <a:bodyPr/>
          <a:lstStyle/>
          <a:p>
            <a:fld id="{4854181D-6920-4594-9A5D-6CE56DC9F8B2}" type="slidenum">
              <a:rPr lang="en-US" smtClean="0"/>
              <a:pPr/>
              <a:t>‹#›</a:t>
            </a:fld>
            <a:endParaRPr lang="en-US"/>
          </a:p>
        </p:txBody>
      </p:sp>
      <p:sp>
        <p:nvSpPr>
          <p:cNvPr id="9" name="Table Placeholder 8">
            <a:extLst>
              <a:ext uri="{FF2B5EF4-FFF2-40B4-BE49-F238E27FC236}">
                <a16:creationId xmlns:a16="http://schemas.microsoft.com/office/drawing/2014/main" id="{A18F39DB-D73A-3344-928B-DD36BA63E331}"/>
              </a:ext>
            </a:extLst>
          </p:cNvPr>
          <p:cNvSpPr>
            <a:spLocks noGrp="1"/>
          </p:cNvSpPr>
          <p:nvPr>
            <p:ph type="tbl" sz="quarter" idx="13"/>
          </p:nvPr>
        </p:nvSpPr>
        <p:spPr>
          <a:xfrm>
            <a:off x="1524000" y="3771978"/>
            <a:ext cx="9144000" cy="2361194"/>
          </a:xfrm>
        </p:spPr>
        <p:txBody>
          <a:bodyPr/>
          <a:lstStyle>
            <a:lvl1pPr algn="l">
              <a:defRPr/>
            </a:lvl1pPr>
          </a:lstStyle>
          <a:p>
            <a:r>
              <a:rPr lang="en-GB"/>
              <a:t>Click icon to add table</a:t>
            </a:r>
            <a:endParaRPr lang="en-AU"/>
          </a:p>
        </p:txBody>
      </p:sp>
    </p:spTree>
    <p:extLst>
      <p:ext uri="{BB962C8B-B14F-4D97-AF65-F5344CB8AC3E}">
        <p14:creationId xmlns:p14="http://schemas.microsoft.com/office/powerpoint/2010/main" val="393779250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9D1D-6CE6-D7E5-EFCB-15A0AB200C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3A0E2A24-C72A-A843-AB81-5E00970924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FD8E5939-A058-387B-1E27-A37B1975B383}"/>
              </a:ext>
            </a:extLst>
          </p:cNvPr>
          <p:cNvSpPr>
            <a:spLocks noGrp="1"/>
          </p:cNvSpPr>
          <p:nvPr>
            <p:ph type="dt" sz="half" idx="10"/>
          </p:nvPr>
        </p:nvSpPr>
        <p:spPr/>
        <p:txBody>
          <a:bodyPr/>
          <a:lstStyle/>
          <a:p>
            <a:fld id="{9AB3A824-1A51-4B26-AD58-A6D8E14F6C04}" type="datetimeFigureOut">
              <a:rPr lang="en-US" smtClean="0"/>
              <a:t>8/12/2024</a:t>
            </a:fld>
            <a:endParaRPr lang="en-US"/>
          </a:p>
        </p:txBody>
      </p:sp>
      <p:sp>
        <p:nvSpPr>
          <p:cNvPr id="5" name="Footer Placeholder 4">
            <a:extLst>
              <a:ext uri="{FF2B5EF4-FFF2-40B4-BE49-F238E27FC236}">
                <a16:creationId xmlns:a16="http://schemas.microsoft.com/office/drawing/2014/main" id="{2BD097FA-99F4-583A-FF35-F6CB944CE66B}"/>
              </a:ext>
            </a:extLst>
          </p:cNvPr>
          <p:cNvSpPr>
            <a:spLocks noGrp="1"/>
          </p:cNvSpPr>
          <p:nvPr>
            <p:ph type="ftr" sz="quarter" idx="11"/>
          </p:nvPr>
        </p:nvSpPr>
        <p:spPr/>
        <p:txBody>
          <a:bodyPr/>
          <a:lstStyle/>
          <a:p>
            <a:r>
              <a:rPr lang="en-AU"/>
              <a:t>© Copyright North Metropolitan TAFE</a:t>
            </a:r>
          </a:p>
        </p:txBody>
      </p:sp>
      <p:sp>
        <p:nvSpPr>
          <p:cNvPr id="6" name="Slide Number Placeholder 5">
            <a:extLst>
              <a:ext uri="{FF2B5EF4-FFF2-40B4-BE49-F238E27FC236}">
                <a16:creationId xmlns:a16="http://schemas.microsoft.com/office/drawing/2014/main" id="{056E8F3D-846C-2F24-CDA6-35CACA0FD250}"/>
              </a:ext>
            </a:extLst>
          </p:cNvPr>
          <p:cNvSpPr>
            <a:spLocks noGrp="1"/>
          </p:cNvSpPr>
          <p:nvPr>
            <p:ph type="sldNum" sz="quarter" idx="12"/>
          </p:nvPr>
        </p:nvSpPr>
        <p:spPr/>
        <p:txBody>
          <a:bodyPr/>
          <a:lstStyle/>
          <a:p>
            <a:fld id="{327F613D-7A8E-3A48-AF4E-A19DD3719B48}" type="slidenum">
              <a:rPr lang="en-AU" smtClean="0"/>
              <a:pPr/>
              <a:t>‹#›</a:t>
            </a:fld>
            <a:endParaRPr lang="en-AU"/>
          </a:p>
        </p:txBody>
      </p:sp>
    </p:spTree>
    <p:extLst>
      <p:ext uri="{BB962C8B-B14F-4D97-AF65-F5344CB8AC3E}">
        <p14:creationId xmlns:p14="http://schemas.microsoft.com/office/powerpoint/2010/main" val="3242727293"/>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4.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5.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e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emf"/></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3.jpe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4.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emf"/></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image" Target="../media/image3.jpeg"/><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theme" Target="../theme/theme1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8.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image" Target="../media/image4.png"/><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theme" Target="../theme/theme12.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8.xml"/><Relationship Id="rId3" Type="http://schemas.openxmlformats.org/officeDocument/2006/relationships/slideLayout" Target="../slideLayouts/slideLayout133.xml"/><Relationship Id="rId7" Type="http://schemas.openxmlformats.org/officeDocument/2006/relationships/slideLayout" Target="../slideLayouts/slideLayout137.xml"/><Relationship Id="rId12" Type="http://schemas.openxmlformats.org/officeDocument/2006/relationships/image" Target="../media/image6.png"/><Relationship Id="rId2" Type="http://schemas.openxmlformats.org/officeDocument/2006/relationships/slideLayout" Target="../slideLayouts/slideLayout132.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theme" Target="../theme/theme13.xml"/><Relationship Id="rId5" Type="http://schemas.openxmlformats.org/officeDocument/2006/relationships/slideLayout" Target="../slideLayouts/slideLayout135.xml"/><Relationship Id="rId10" Type="http://schemas.openxmlformats.org/officeDocument/2006/relationships/slideLayout" Target="../slideLayouts/slideLayout140.xml"/><Relationship Id="rId4" Type="http://schemas.openxmlformats.org/officeDocument/2006/relationships/slideLayout" Target="../slideLayouts/slideLayout134.xml"/><Relationship Id="rId9" Type="http://schemas.openxmlformats.org/officeDocument/2006/relationships/slideLayout" Target="../slideLayouts/slideLayout139.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8.xml"/><Relationship Id="rId13" Type="http://schemas.openxmlformats.org/officeDocument/2006/relationships/image" Target="../media/image1.png"/><Relationship Id="rId3" Type="http://schemas.openxmlformats.org/officeDocument/2006/relationships/slideLayout" Target="../slideLayouts/slideLayout143.xml"/><Relationship Id="rId7" Type="http://schemas.openxmlformats.org/officeDocument/2006/relationships/slideLayout" Target="../slideLayouts/slideLayout147.xml"/><Relationship Id="rId12" Type="http://schemas.openxmlformats.org/officeDocument/2006/relationships/theme" Target="../theme/theme14.xml"/><Relationship Id="rId2" Type="http://schemas.openxmlformats.org/officeDocument/2006/relationships/slideLayout" Target="../slideLayouts/slideLayout142.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1" Type="http://schemas.openxmlformats.org/officeDocument/2006/relationships/slideLayout" Target="../slideLayouts/slideLayout151.xml"/><Relationship Id="rId5" Type="http://schemas.openxmlformats.org/officeDocument/2006/relationships/slideLayout" Target="../slideLayouts/slideLayout145.xml"/><Relationship Id="rId10" Type="http://schemas.openxmlformats.org/officeDocument/2006/relationships/slideLayout" Target="../slideLayouts/slideLayout150.xml"/><Relationship Id="rId4" Type="http://schemas.openxmlformats.org/officeDocument/2006/relationships/slideLayout" Target="../slideLayouts/slideLayout144.xml"/><Relationship Id="rId9" Type="http://schemas.openxmlformats.org/officeDocument/2006/relationships/slideLayout" Target="../slideLayouts/slideLayout1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51AD53CD-BBDA-9043-A0EF-5709EA63C29B}"/>
              </a:ext>
            </a:extLst>
          </p:cNvPr>
          <p:cNvPicPr>
            <a:picLocks noChangeAspect="1"/>
          </p:cNvPicPr>
          <p:nvPr/>
        </p:nvPicPr>
        <p:blipFill rotWithShape="1">
          <a:blip r:embed="rId13"/>
          <a:srcRect l="1" r="786" b="15625"/>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endParaRPr lang="en-US"/>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4854181D-6920-4594-9A5D-6CE56DC9F8B2}" type="slidenum">
              <a:rPr lang="en-US" smtClean="0"/>
              <a:pPr/>
              <a:t>‹#›</a:t>
            </a:fld>
            <a:endParaRPr lang="en-US"/>
          </a:p>
        </p:txBody>
      </p:sp>
      <p:sp>
        <p:nvSpPr>
          <p:cNvPr id="4" name="TextBox 3">
            <a:extLst>
              <a:ext uri="{FF2B5EF4-FFF2-40B4-BE49-F238E27FC236}">
                <a16:creationId xmlns:a16="http://schemas.microsoft.com/office/drawing/2014/main" id="{548E2B1F-3BA7-43D8-54B8-9DA63BB590FA}"/>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7" name="Picture 6">
            <a:extLst>
              <a:ext uri="{FF2B5EF4-FFF2-40B4-BE49-F238E27FC236}">
                <a16:creationId xmlns:a16="http://schemas.microsoft.com/office/drawing/2014/main" id="{29CD4F25-35BD-D59F-8D88-D390634E6B3E}"/>
              </a:ext>
            </a:extLst>
          </p:cNvPr>
          <p:cNvPicPr>
            <a:picLocks noChangeAspect="1"/>
          </p:cNvPicPr>
          <p:nvPr/>
        </p:nvPicPr>
        <p:blipFill>
          <a:blip r:embed="rId14">
            <a:biLevel thresh="75000"/>
            <a:alphaModFix amt="30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3716679250"/>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spd="slow">
    <p:fade/>
  </p:transition>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chemeClr val="bg1"/>
            </a:gs>
            <a:gs pos="41000">
              <a:srgbClr val="1E0000"/>
            </a:gs>
            <a:gs pos="0">
              <a:srgbClr val="44000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AU" noProof="0"/>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endParaRPr lang="en-AU"/>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0E973E00-A12D-4309-BB0C-5DBFA5830906}" type="slidenum">
              <a:rPr lang="en-AU" smtClean="0"/>
              <a:t>‹#›</a:t>
            </a:fld>
            <a:endParaRPr lang="en-AU"/>
          </a:p>
        </p:txBody>
      </p:sp>
      <p:sp>
        <p:nvSpPr>
          <p:cNvPr id="4" name="TextBox 3">
            <a:extLst>
              <a:ext uri="{FF2B5EF4-FFF2-40B4-BE49-F238E27FC236}">
                <a16:creationId xmlns:a16="http://schemas.microsoft.com/office/drawing/2014/main" id="{9D205152-70D5-811E-385A-E03732D71908}"/>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10" name="Picture 9">
            <a:extLst>
              <a:ext uri="{FF2B5EF4-FFF2-40B4-BE49-F238E27FC236}">
                <a16:creationId xmlns:a16="http://schemas.microsoft.com/office/drawing/2014/main" id="{98C820FA-D10F-B52A-49E6-ADA3FA488BA9}"/>
              </a:ext>
            </a:extLst>
          </p:cNvPr>
          <p:cNvPicPr>
            <a:picLocks noChangeAspect="1"/>
          </p:cNvPicPr>
          <p:nvPr/>
        </p:nvPicPr>
        <p:blipFill>
          <a:blip r:embed="rId13">
            <a:biLevel thresh="75000"/>
            <a:alphaModFix amt="30000"/>
          </a:blip>
          <a:stretch>
            <a:fillRect/>
          </a:stretch>
        </p:blipFill>
        <p:spPr>
          <a:xfrm>
            <a:off x="8942050" y="819947"/>
            <a:ext cx="3249950" cy="5268619"/>
          </a:xfrm>
          <a:prstGeom prst="rect">
            <a:avLst/>
          </a:prstGeom>
          <a:noFill/>
        </p:spPr>
      </p:pic>
      <p:pic>
        <p:nvPicPr>
          <p:cNvPr id="11" name="Picture 10" descr="Shape, rectangle&#10;&#10;Description automatically generated">
            <a:extLst>
              <a:ext uri="{FF2B5EF4-FFF2-40B4-BE49-F238E27FC236}">
                <a16:creationId xmlns:a16="http://schemas.microsoft.com/office/drawing/2014/main" id="{FB1B3E2C-5634-B283-5DA9-CF2AA0C62510}"/>
              </a:ext>
            </a:extLst>
          </p:cNvPr>
          <p:cNvPicPr>
            <a:picLocks noChangeAspect="1"/>
          </p:cNvPicPr>
          <p:nvPr/>
        </p:nvPicPr>
        <p:blipFill rotWithShape="1">
          <a:blip r:embed="rId14"/>
          <a:srcRect l="1" r="786" b="90698"/>
          <a:stretch/>
        </p:blipFill>
        <p:spPr>
          <a:xfrm>
            <a:off x="0" y="0"/>
            <a:ext cx="12192000" cy="756035"/>
          </a:xfrm>
          <a:prstGeom prst="rect">
            <a:avLst/>
          </a:prstGeom>
        </p:spPr>
      </p:pic>
      <p:sp>
        <p:nvSpPr>
          <p:cNvPr id="8" name="TextBox 7">
            <a:extLst>
              <a:ext uri="{FF2B5EF4-FFF2-40B4-BE49-F238E27FC236}">
                <a16:creationId xmlns:a16="http://schemas.microsoft.com/office/drawing/2014/main" id="{E143A73D-BC11-784C-91CA-D338A5444653}"/>
              </a:ext>
            </a:extLst>
          </p:cNvPr>
          <p:cNvSpPr txBox="1"/>
          <p:nvPr userDrawn="1"/>
        </p:nvSpPr>
        <p:spPr>
          <a:xfrm rot="16200000">
            <a:off x="-2391618" y="3266444"/>
            <a:ext cx="5420930" cy="400110"/>
          </a:xfrm>
          <a:prstGeom prst="rect">
            <a:avLst/>
          </a:prstGeom>
          <a:noFill/>
        </p:spPr>
        <p:txBody>
          <a:bodyPr wrap="square" rtlCol="0">
            <a:spAutoFit/>
          </a:bodyPr>
          <a:lstStyle/>
          <a:p>
            <a:r>
              <a:rPr lang="en-AU" sz="2000">
                <a:solidFill>
                  <a:schemeClr val="bg1">
                    <a:lumMod val="95000"/>
                    <a:lumOff val="5000"/>
                  </a:schemeClr>
                </a:solidFill>
                <a:latin typeface="+mj-lt"/>
              </a:rPr>
              <a:t>ICT40120 Certificate IV in Programming</a:t>
            </a:r>
          </a:p>
        </p:txBody>
      </p:sp>
    </p:spTree>
    <p:extLst>
      <p:ext uri="{BB962C8B-B14F-4D97-AF65-F5344CB8AC3E}">
        <p14:creationId xmlns:p14="http://schemas.microsoft.com/office/powerpoint/2010/main" val="3883497437"/>
      </p:ext>
    </p:extLst>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spd="slow">
    <p:fade/>
  </p:transition>
  <p:txStyles>
    <p:titleStyle>
      <a:lvl1pPr algn="l" defTabSz="914400" rtl="0" eaLnBrk="1" latinLnBrk="0" hangingPunct="1">
        <a:lnSpc>
          <a:spcPct val="90000"/>
        </a:lnSpc>
        <a:spcBef>
          <a:spcPct val="0"/>
        </a:spcBef>
        <a:buNone/>
        <a:defRPr sz="4400" kern="1200">
          <a:solidFill>
            <a:schemeClr val="tx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chemeClr val="bg1"/>
            </a:gs>
            <a:gs pos="43000">
              <a:srgbClr val="1E0000"/>
            </a:gs>
            <a:gs pos="0">
              <a:srgbClr val="440000"/>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8" name="Picture 7" descr="Shape, rectangle&#10;&#10;Description automatically generated">
            <a:extLst>
              <a:ext uri="{FF2B5EF4-FFF2-40B4-BE49-F238E27FC236}">
                <a16:creationId xmlns:a16="http://schemas.microsoft.com/office/drawing/2014/main" id="{5733F300-0A4E-72B7-DE64-0D266581486E}"/>
              </a:ext>
            </a:extLst>
          </p:cNvPr>
          <p:cNvPicPr>
            <a:picLocks noChangeAspect="1"/>
          </p:cNvPicPr>
          <p:nvPr/>
        </p:nvPicPr>
        <p:blipFill rotWithShape="1">
          <a:blip r:embed="rId13"/>
          <a:srcRect l="622" t="-1" b="90593"/>
          <a:stretch/>
        </p:blipFill>
        <p:spPr>
          <a:xfrm>
            <a:off x="0" y="0"/>
            <a:ext cx="12192000" cy="769434"/>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AU" noProof="0"/>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endParaRPr lang="en-AU"/>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0E973E00-A12D-4309-BB0C-5DBFA5830906}" type="slidenum">
              <a:rPr lang="en-AU" smtClean="0"/>
              <a:t>‹#›</a:t>
            </a:fld>
            <a:endParaRPr lang="en-AU"/>
          </a:p>
        </p:txBody>
      </p:sp>
      <p:sp>
        <p:nvSpPr>
          <p:cNvPr id="4" name="TextBox 3">
            <a:extLst>
              <a:ext uri="{FF2B5EF4-FFF2-40B4-BE49-F238E27FC236}">
                <a16:creationId xmlns:a16="http://schemas.microsoft.com/office/drawing/2014/main" id="{9D205152-70D5-811E-385A-E03732D71908}"/>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10" name="Picture 9">
            <a:extLst>
              <a:ext uri="{FF2B5EF4-FFF2-40B4-BE49-F238E27FC236}">
                <a16:creationId xmlns:a16="http://schemas.microsoft.com/office/drawing/2014/main" id="{98C820FA-D10F-B52A-49E6-ADA3FA488BA9}"/>
              </a:ext>
            </a:extLst>
          </p:cNvPr>
          <p:cNvPicPr>
            <a:picLocks noChangeAspect="1"/>
          </p:cNvPicPr>
          <p:nvPr/>
        </p:nvPicPr>
        <p:blipFill>
          <a:blip r:embed="rId14">
            <a:alphaModFix amt="30000"/>
            <a:biLevel thresh="75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3254022010"/>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ransition spd="slow">
    <p:fade/>
  </p:transition>
  <p:txStyles>
    <p:titleStyle>
      <a:lvl1pPr algn="l" defTabSz="914400" rtl="0" eaLnBrk="1" latinLnBrk="0" hangingPunct="1">
        <a:lnSpc>
          <a:spcPct val="90000"/>
        </a:lnSpc>
        <a:spcBef>
          <a:spcPct val="0"/>
        </a:spcBef>
        <a:buNone/>
        <a:defRPr sz="4400" kern="1200">
          <a:solidFill>
            <a:schemeClr val="tx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hape, rectangle&#10;&#10;Description automatically generated">
            <a:extLst>
              <a:ext uri="{FF2B5EF4-FFF2-40B4-BE49-F238E27FC236}">
                <a16:creationId xmlns:a16="http://schemas.microsoft.com/office/drawing/2014/main" id="{36171E2D-D81E-EA46-9D5C-D0B6971A59F6}"/>
              </a:ext>
            </a:extLst>
          </p:cNvPr>
          <p:cNvPicPr>
            <a:picLocks noChangeAspect="1"/>
          </p:cNvPicPr>
          <p:nvPr/>
        </p:nvPicPr>
        <p:blipFill rotWithShape="1">
          <a:blip r:embed="rId13"/>
          <a:srcRect l="622" b="16149"/>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4" name="TextBox 3">
            <a:extLst>
              <a:ext uri="{FF2B5EF4-FFF2-40B4-BE49-F238E27FC236}">
                <a16:creationId xmlns:a16="http://schemas.microsoft.com/office/drawing/2014/main" id="{5F4C11DD-A15C-4F20-5497-445A07C596AC}"/>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8" name="Picture 7">
            <a:extLst>
              <a:ext uri="{FF2B5EF4-FFF2-40B4-BE49-F238E27FC236}">
                <a16:creationId xmlns:a16="http://schemas.microsoft.com/office/drawing/2014/main" id="{2AF5C0C4-2700-5C2E-E243-A32AC6D7823C}"/>
              </a:ext>
            </a:extLst>
          </p:cNvPr>
          <p:cNvPicPr>
            <a:picLocks noChangeAspect="1"/>
          </p:cNvPicPr>
          <p:nvPr/>
        </p:nvPicPr>
        <p:blipFill>
          <a:blip r:embed="rId14">
            <a:biLevel thresh="50000"/>
            <a:alphaModFix amt="16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2105546016"/>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a:extLst>
              <a:ext uri="{FF2B5EF4-FFF2-40B4-BE49-F238E27FC236}">
                <a16:creationId xmlns:a16="http://schemas.microsoft.com/office/drawing/2014/main" id="{07A723EB-BC03-DD4E-9F7E-B3288E0DD892}"/>
              </a:ext>
            </a:extLst>
          </p:cNvPr>
          <p:cNvPicPr>
            <a:picLocks noChangeAspect="1"/>
          </p:cNvPicPr>
          <p:nvPr/>
        </p:nvPicPr>
        <p:blipFill rotWithShape="1">
          <a:blip r:embed="rId13"/>
          <a:srcRect r="98" b="15708"/>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4" name="TextBox 3">
            <a:extLst>
              <a:ext uri="{FF2B5EF4-FFF2-40B4-BE49-F238E27FC236}">
                <a16:creationId xmlns:a16="http://schemas.microsoft.com/office/drawing/2014/main" id="{15E11DD5-AE95-6FD5-F8ED-581EC2126623}"/>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7" name="Picture 6">
            <a:extLst>
              <a:ext uri="{FF2B5EF4-FFF2-40B4-BE49-F238E27FC236}">
                <a16:creationId xmlns:a16="http://schemas.microsoft.com/office/drawing/2014/main" id="{1CB93067-C2A8-9188-F67D-1811D395F548}"/>
              </a:ext>
            </a:extLst>
          </p:cNvPr>
          <p:cNvPicPr>
            <a:picLocks noChangeAspect="1"/>
          </p:cNvPicPr>
          <p:nvPr/>
        </p:nvPicPr>
        <p:blipFill>
          <a:blip r:embed="rId14">
            <a:biLevel thresh="50000"/>
            <a:alphaModFix amt="16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2926734998"/>
      </p:ext>
    </p:extLst>
  </p:cSld>
  <p:clrMap bg1="dk1" tx1="lt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pic>
        <p:nvPicPr>
          <p:cNvPr id="7" name="Picture 6" descr="Shape&#10;&#10;Description automatically generated with low confidence">
            <a:extLst>
              <a:ext uri="{FF2B5EF4-FFF2-40B4-BE49-F238E27FC236}">
                <a16:creationId xmlns:a16="http://schemas.microsoft.com/office/drawing/2014/main" id="{A7CC75FF-9724-8147-A0FC-729B7F641822}"/>
              </a:ext>
            </a:extLst>
          </p:cNvPr>
          <p:cNvPicPr>
            <a:picLocks noChangeAspect="1"/>
          </p:cNvPicPr>
          <p:nvPr/>
        </p:nvPicPr>
        <p:blipFill rotWithShape="1">
          <a:blip r:embed="rId13"/>
          <a:srcRect/>
          <a:stretch/>
        </p:blipFill>
        <p:spPr>
          <a:xfrm>
            <a:off x="1905000" y="0"/>
            <a:ext cx="10287000" cy="6858000"/>
          </a:xfrm>
          <a:prstGeom prst="rect">
            <a:avLst/>
          </a:prstGeom>
        </p:spPr>
      </p:pic>
      <p:sp>
        <p:nvSpPr>
          <p:cNvPr id="4" name="TextBox 3">
            <a:extLst>
              <a:ext uri="{FF2B5EF4-FFF2-40B4-BE49-F238E27FC236}">
                <a16:creationId xmlns:a16="http://schemas.microsoft.com/office/drawing/2014/main" id="{D763C976-4323-BEC4-D794-29DE4A658554}"/>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8" name="Picture 7">
            <a:extLst>
              <a:ext uri="{FF2B5EF4-FFF2-40B4-BE49-F238E27FC236}">
                <a16:creationId xmlns:a16="http://schemas.microsoft.com/office/drawing/2014/main" id="{40561454-5231-CD4C-E25B-2A0FBF4C7721}"/>
              </a:ext>
            </a:extLst>
          </p:cNvPr>
          <p:cNvPicPr>
            <a:picLocks noChangeAspect="1"/>
          </p:cNvPicPr>
          <p:nvPr/>
        </p:nvPicPr>
        <p:blipFill>
          <a:blip r:embed="rId14">
            <a:alphaModFix amt="16000"/>
            <a:biLevel thresh="25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3599558550"/>
      </p:ext>
    </p:extLst>
  </p:cSld>
  <p:clrMap bg1="dk1" tx1="lt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tx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51AD53CD-BBDA-9043-A0EF-5709EA63C29B}"/>
              </a:ext>
            </a:extLst>
          </p:cNvPr>
          <p:cNvPicPr>
            <a:picLocks noChangeAspect="1"/>
          </p:cNvPicPr>
          <p:nvPr/>
        </p:nvPicPr>
        <p:blipFill rotWithShape="1">
          <a:blip r:embed="rId13"/>
          <a:srcRect l="1" r="786" b="15625"/>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A6338CD-FB51-C544-9C7B-5E5A4109094C}" type="slidenum">
              <a:rPr lang="en-AU" smtClean="0"/>
              <a:t>‹#›</a:t>
            </a:fld>
            <a:endParaRPr lang="en-AU"/>
          </a:p>
        </p:txBody>
      </p:sp>
      <p:sp>
        <p:nvSpPr>
          <p:cNvPr id="4" name="TextBox 3">
            <a:extLst>
              <a:ext uri="{FF2B5EF4-FFF2-40B4-BE49-F238E27FC236}">
                <a16:creationId xmlns:a16="http://schemas.microsoft.com/office/drawing/2014/main" id="{EACC2F6B-FCEF-2A83-9D11-F99C242B3A0E}"/>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7" name="Picture 6">
            <a:extLst>
              <a:ext uri="{FF2B5EF4-FFF2-40B4-BE49-F238E27FC236}">
                <a16:creationId xmlns:a16="http://schemas.microsoft.com/office/drawing/2014/main" id="{44DCD787-14C6-1E61-13ED-101927EA526B}"/>
              </a:ext>
            </a:extLst>
          </p:cNvPr>
          <p:cNvPicPr>
            <a:picLocks noChangeAspect="1"/>
          </p:cNvPicPr>
          <p:nvPr/>
        </p:nvPicPr>
        <p:blipFill>
          <a:blip r:embed="rId14">
            <a:alphaModFix amt="16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250197403"/>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hape, rectangle&#10;&#10;Description automatically generated">
            <a:extLst>
              <a:ext uri="{FF2B5EF4-FFF2-40B4-BE49-F238E27FC236}">
                <a16:creationId xmlns:a16="http://schemas.microsoft.com/office/drawing/2014/main" id="{36171E2D-D81E-EA46-9D5C-D0B6971A59F6}"/>
              </a:ext>
            </a:extLst>
          </p:cNvPr>
          <p:cNvPicPr>
            <a:picLocks noChangeAspect="1"/>
          </p:cNvPicPr>
          <p:nvPr/>
        </p:nvPicPr>
        <p:blipFill rotWithShape="1">
          <a:blip r:embed="rId13"/>
          <a:srcRect l="622" b="16149"/>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4" name="TextBox 3">
            <a:extLst>
              <a:ext uri="{FF2B5EF4-FFF2-40B4-BE49-F238E27FC236}">
                <a16:creationId xmlns:a16="http://schemas.microsoft.com/office/drawing/2014/main" id="{72ED6E24-8DEC-3744-9360-4F74DC4CCB8F}"/>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8" name="Picture 7">
            <a:extLst>
              <a:ext uri="{FF2B5EF4-FFF2-40B4-BE49-F238E27FC236}">
                <a16:creationId xmlns:a16="http://schemas.microsoft.com/office/drawing/2014/main" id="{523C2C9F-DCB7-A316-B061-B71274F85B8F}"/>
              </a:ext>
            </a:extLst>
          </p:cNvPr>
          <p:cNvPicPr>
            <a:picLocks noChangeAspect="1"/>
          </p:cNvPicPr>
          <p:nvPr/>
        </p:nvPicPr>
        <p:blipFill>
          <a:blip r:embed="rId14">
            <a:alphaModFix amt="16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4130079859"/>
      </p:ext>
    </p:extLst>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a:extLst>
              <a:ext uri="{FF2B5EF4-FFF2-40B4-BE49-F238E27FC236}">
                <a16:creationId xmlns:a16="http://schemas.microsoft.com/office/drawing/2014/main" id="{07A723EB-BC03-DD4E-9F7E-B3288E0DD892}"/>
              </a:ext>
            </a:extLst>
          </p:cNvPr>
          <p:cNvPicPr>
            <a:picLocks noChangeAspect="1"/>
          </p:cNvPicPr>
          <p:nvPr/>
        </p:nvPicPr>
        <p:blipFill rotWithShape="1">
          <a:blip r:embed="rId13"/>
          <a:srcRect r="98" b="15708"/>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4" name="TextBox 3">
            <a:extLst>
              <a:ext uri="{FF2B5EF4-FFF2-40B4-BE49-F238E27FC236}">
                <a16:creationId xmlns:a16="http://schemas.microsoft.com/office/drawing/2014/main" id="{B5AF743F-302A-D5A5-923F-4E3553F2D647}"/>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pic>
        <p:nvPicPr>
          <p:cNvPr id="7" name="Picture 6">
            <a:extLst>
              <a:ext uri="{FF2B5EF4-FFF2-40B4-BE49-F238E27FC236}">
                <a16:creationId xmlns:a16="http://schemas.microsoft.com/office/drawing/2014/main" id="{AABE2B0E-C479-8999-813C-931896F81869}"/>
              </a:ext>
            </a:extLst>
          </p:cNvPr>
          <p:cNvPicPr>
            <a:picLocks noChangeAspect="1"/>
          </p:cNvPicPr>
          <p:nvPr/>
        </p:nvPicPr>
        <p:blipFill>
          <a:blip r:embed="rId14">
            <a:alphaModFix amt="16000"/>
          </a:blip>
          <a:stretch>
            <a:fillRect/>
          </a:stretch>
        </p:blipFill>
        <p:spPr>
          <a:xfrm>
            <a:off x="8942050" y="819947"/>
            <a:ext cx="3249950" cy="5268619"/>
          </a:xfrm>
          <a:prstGeom prst="rect">
            <a:avLst/>
          </a:prstGeom>
          <a:noFill/>
        </p:spPr>
      </p:pic>
    </p:spTree>
    <p:extLst>
      <p:ext uri="{BB962C8B-B14F-4D97-AF65-F5344CB8AC3E}">
        <p14:creationId xmlns:p14="http://schemas.microsoft.com/office/powerpoint/2010/main" val="2795962782"/>
      </p:ext>
    </p:extLst>
  </p:cSld>
  <p:clrMap bg1="dk1" tx1="lt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ransition spd="slow">
    <p:fade/>
  </p:transition>
  <p:hf hdr="0" dt="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51AD53CD-BBDA-9043-A0EF-5709EA63C29B}"/>
              </a:ext>
            </a:extLst>
          </p:cNvPr>
          <p:cNvPicPr>
            <a:picLocks noChangeAspect="1"/>
          </p:cNvPicPr>
          <p:nvPr/>
        </p:nvPicPr>
        <p:blipFill rotWithShape="1">
          <a:blip r:embed="rId13"/>
          <a:srcRect l="1" r="786" b="15625"/>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endParaRPr lang="en-US"/>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4854181D-6920-4594-9A5D-6CE56DC9F8B2}" type="slidenum">
              <a:rPr lang="en-US" smtClean="0"/>
              <a:pPr/>
              <a:t>‹#›</a:t>
            </a:fld>
            <a:endParaRPr lang="en-US"/>
          </a:p>
        </p:txBody>
      </p:sp>
      <p:sp>
        <p:nvSpPr>
          <p:cNvPr id="7" name="TextBox 6">
            <a:extLst>
              <a:ext uri="{FF2B5EF4-FFF2-40B4-BE49-F238E27FC236}">
                <a16:creationId xmlns:a16="http://schemas.microsoft.com/office/drawing/2014/main" id="{B835D370-27CE-1543-DE20-99096E7ED373}"/>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1791760107"/>
      </p:ext>
    </p:extLst>
  </p:cSld>
  <p:clrMap bg1="dk1" tx1="lt1" bg2="dk2" tx2="lt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ransition spd="slow">
    <p:fade/>
  </p:transition>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hape, rectangle&#10;&#10;Description automatically generated">
            <a:extLst>
              <a:ext uri="{FF2B5EF4-FFF2-40B4-BE49-F238E27FC236}">
                <a16:creationId xmlns:a16="http://schemas.microsoft.com/office/drawing/2014/main" id="{36171E2D-D81E-EA46-9D5C-D0B6971A59F6}"/>
              </a:ext>
            </a:extLst>
          </p:cNvPr>
          <p:cNvPicPr>
            <a:picLocks noChangeAspect="1"/>
          </p:cNvPicPr>
          <p:nvPr/>
        </p:nvPicPr>
        <p:blipFill rotWithShape="1">
          <a:blip r:embed="rId12"/>
          <a:srcRect l="622" b="16149"/>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 Perth, Western Australia</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8" name="TextBox 7">
            <a:extLst>
              <a:ext uri="{FF2B5EF4-FFF2-40B4-BE49-F238E27FC236}">
                <a16:creationId xmlns:a16="http://schemas.microsoft.com/office/drawing/2014/main" id="{BDCA7F89-7143-E432-6480-FB158F149B80}"/>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2678496307"/>
      </p:ext>
    </p:extLst>
  </p:cSld>
  <p:clrMap bg1="dk1" tx1="lt1" bg2="dk2" tx2="lt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Lst>
  <p:hf hdr="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a:extLst>
              <a:ext uri="{FF2B5EF4-FFF2-40B4-BE49-F238E27FC236}">
                <a16:creationId xmlns:a16="http://schemas.microsoft.com/office/drawing/2014/main" id="{07A723EB-BC03-DD4E-9F7E-B3288E0DD892}"/>
              </a:ext>
            </a:extLst>
          </p:cNvPr>
          <p:cNvPicPr>
            <a:picLocks noChangeAspect="1"/>
          </p:cNvPicPr>
          <p:nvPr/>
        </p:nvPicPr>
        <p:blipFill rotWithShape="1">
          <a:blip r:embed="rId12"/>
          <a:srcRect r="98" b="15708"/>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 Perth, Western Australia</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7" name="TextBox 6">
            <a:extLst>
              <a:ext uri="{FF2B5EF4-FFF2-40B4-BE49-F238E27FC236}">
                <a16:creationId xmlns:a16="http://schemas.microsoft.com/office/drawing/2014/main" id="{D235C7F7-5515-9DD4-EE0B-1026F29427E5}"/>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1442744572"/>
      </p:ext>
    </p:extLst>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Lst>
  <p:hf hdr="0"/>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7A723EB-BC03-DD4E-9F7E-B3288E0DD892}"/>
              </a:ext>
            </a:extLst>
          </p:cNvPr>
          <p:cNvPicPr>
            <a:picLocks noChangeAspect="1"/>
          </p:cNvPicPr>
          <p:nvPr/>
        </p:nvPicPr>
        <p:blipFill rotWithShape="1">
          <a:blip r:embed="rId12"/>
          <a:srcRect l="680" t="15106" r="9315" b="9369"/>
          <a:stretch/>
        </p:blipFill>
        <p:spPr>
          <a:xfrm>
            <a:off x="-57876" y="0"/>
            <a:ext cx="12249875"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r>
              <a:rPr lang="en-AU"/>
              <a:t>© Copyright North Metropolitan TAFE, Perth, Western Australia</a:t>
            </a:r>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327F613D-7A8E-3A48-AF4E-A19DD3719B48}" type="slidenum">
              <a:rPr lang="en-AU" smtClean="0"/>
              <a:pPr/>
              <a:t>‹#›</a:t>
            </a:fld>
            <a:endParaRPr lang="en-AU"/>
          </a:p>
        </p:txBody>
      </p:sp>
      <p:sp>
        <p:nvSpPr>
          <p:cNvPr id="7" name="TextBox 6">
            <a:extLst>
              <a:ext uri="{FF2B5EF4-FFF2-40B4-BE49-F238E27FC236}">
                <a16:creationId xmlns:a16="http://schemas.microsoft.com/office/drawing/2014/main" id="{7234ABB8-7D50-6384-C614-FB8D78343DD8}"/>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3686878163"/>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Lst>
  <p:hf hdr="0"/>
  <p:txStyles>
    <p:titleStyle>
      <a:lvl1pPr algn="l" defTabSz="914400" rtl="0" eaLnBrk="1" latinLnBrk="0" hangingPunct="1">
        <a:lnSpc>
          <a:spcPct val="90000"/>
        </a:lnSpc>
        <a:spcBef>
          <a:spcPct val="0"/>
        </a:spcBef>
        <a:buNone/>
        <a:defRPr sz="4400" kern="1200">
          <a:solidFill>
            <a:schemeClr val="tx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51AD53CD-BBDA-9043-A0EF-5709EA63C29B}"/>
              </a:ext>
            </a:extLst>
          </p:cNvPr>
          <p:cNvPicPr>
            <a:picLocks noChangeAspect="1"/>
          </p:cNvPicPr>
          <p:nvPr/>
        </p:nvPicPr>
        <p:blipFill rotWithShape="1">
          <a:blip r:embed="rId13"/>
          <a:srcRect l="1" r="786" b="15625"/>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60B23FD3-C42A-5049-BED4-6D597AAF1D0D}"/>
              </a:ext>
            </a:extLst>
          </p:cNvPr>
          <p:cNvSpPr>
            <a:spLocks noGrp="1"/>
          </p:cNvSpPr>
          <p:nvPr>
            <p:ph type="title"/>
          </p:nvPr>
        </p:nvSpPr>
        <p:spPr>
          <a:xfrm>
            <a:off x="838200" y="769434"/>
            <a:ext cx="10515600" cy="921254"/>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B78AADD-B94A-7449-A94D-F4B994CD2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Footer Placeholder 4">
            <a:extLst>
              <a:ext uri="{FF2B5EF4-FFF2-40B4-BE49-F238E27FC236}">
                <a16:creationId xmlns:a16="http://schemas.microsoft.com/office/drawing/2014/main" id="{5D105BCA-FC40-2D43-8148-E17F20FFACBC}"/>
              </a:ext>
            </a:extLst>
          </p:cNvPr>
          <p:cNvSpPr>
            <a:spLocks noGrp="1"/>
          </p:cNvSpPr>
          <p:nvPr>
            <p:ph type="ftr" sz="quarter" idx="3"/>
          </p:nvPr>
        </p:nvSpPr>
        <p:spPr>
          <a:xfrm>
            <a:off x="838200" y="6240875"/>
            <a:ext cx="4114800" cy="504000"/>
          </a:xfrm>
          <a:prstGeom prst="rect">
            <a:avLst/>
          </a:prstGeom>
        </p:spPr>
        <p:txBody>
          <a:bodyPr vert="horz" lIns="91440" tIns="45720" rIns="91440" bIns="45720" rtlCol="0" anchor="ctr"/>
          <a:lstStyle>
            <a:lvl1pPr algn="l">
              <a:defRPr sz="1000">
                <a:solidFill>
                  <a:schemeClr val="tx1">
                    <a:lumMod val="75000"/>
                  </a:schemeClr>
                </a:solidFill>
              </a:defRPr>
            </a:lvl1pPr>
          </a:lstStyle>
          <a:p>
            <a:endParaRPr lang="en-US"/>
          </a:p>
        </p:txBody>
      </p:sp>
      <p:sp>
        <p:nvSpPr>
          <p:cNvPr id="6" name="Slide Number Placeholder 5">
            <a:extLst>
              <a:ext uri="{FF2B5EF4-FFF2-40B4-BE49-F238E27FC236}">
                <a16:creationId xmlns:a16="http://schemas.microsoft.com/office/drawing/2014/main" id="{524BC871-57B4-0845-886F-69B6961E9359}"/>
              </a:ext>
            </a:extLst>
          </p:cNvPr>
          <p:cNvSpPr>
            <a:spLocks noGrp="1" noChangeAspect="1"/>
          </p:cNvSpPr>
          <p:nvPr>
            <p:ph type="sldNum" sz="quarter" idx="4"/>
          </p:nvPr>
        </p:nvSpPr>
        <p:spPr>
          <a:xfrm>
            <a:off x="10273800" y="6240875"/>
            <a:ext cx="1080000" cy="504000"/>
          </a:xfrm>
          <a:prstGeom prst="rect">
            <a:avLst/>
          </a:prstGeom>
        </p:spPr>
        <p:txBody>
          <a:bodyPr vert="horz" lIns="91440" tIns="45720" rIns="91440" bIns="45720" rtlCol="0" anchor="ctr"/>
          <a:lstStyle>
            <a:lvl1pPr algn="r">
              <a:defRPr sz="2000">
                <a:solidFill>
                  <a:schemeClr val="tx1">
                    <a:lumMod val="75000"/>
                  </a:schemeClr>
                </a:solidFill>
                <a:latin typeface="Fira Code" panose="020B0809050000020004" pitchFamily="49" charset="0"/>
                <a:ea typeface="Fira Code" panose="020B0809050000020004" pitchFamily="49" charset="0"/>
                <a:cs typeface="Fira Code" panose="020B0809050000020004" pitchFamily="49" charset="0"/>
              </a:defRPr>
            </a:lvl1pPr>
          </a:lstStyle>
          <a:p>
            <a:fld id="{4854181D-6920-4594-9A5D-6CE56DC9F8B2}" type="slidenum">
              <a:rPr lang="en-US" smtClean="0"/>
              <a:pPr/>
              <a:t>‹#›</a:t>
            </a:fld>
            <a:endParaRPr lang="en-US"/>
          </a:p>
        </p:txBody>
      </p:sp>
      <p:sp>
        <p:nvSpPr>
          <p:cNvPr id="7" name="TextBox 6">
            <a:extLst>
              <a:ext uri="{FF2B5EF4-FFF2-40B4-BE49-F238E27FC236}">
                <a16:creationId xmlns:a16="http://schemas.microsoft.com/office/drawing/2014/main" id="{325329E7-8084-71E1-C3DE-7E44BA3F9BDB}"/>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3536819188"/>
      </p:ext>
    </p:extLst>
  </p:cSld>
  <p:clrMap bg1="dk1" tx1="lt1" bg2="dk2" tx2="lt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ransition spd="slow">
    <p:fade/>
  </p:transition>
  <p:txStyles>
    <p:titleStyle>
      <a:lvl1pPr algn="l" defTabSz="914400" rtl="0" eaLnBrk="1" latinLnBrk="0" hangingPunct="1">
        <a:lnSpc>
          <a:spcPct val="90000"/>
        </a:lnSpc>
        <a:spcBef>
          <a:spcPct val="0"/>
        </a:spcBef>
        <a:buNone/>
        <a:defRPr sz="4400" kern="1200">
          <a:solidFill>
            <a:schemeClr val="bg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bg1">
              <a:lumMod val="95000"/>
              <a:lumOff val="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bg1">
              <a:lumMod val="95000"/>
              <a:lumOff val="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bg1">
              <a:lumMod val="95000"/>
              <a:lumOff val="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bg1">
              <a:lumMod val="95000"/>
              <a:lumOff val="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65F1D14-4430-FC90-3C26-E7C64BE29869}"/>
              </a:ext>
            </a:extLst>
          </p:cNvPr>
          <p:cNvSpPr>
            <a:spLocks noGrp="1"/>
          </p:cNvSpPr>
          <p:nvPr>
            <p:ph type="ctrTitle"/>
          </p:nvPr>
        </p:nvSpPr>
        <p:spPr/>
        <p:txBody>
          <a:bodyPr anchor="b">
            <a:normAutofit fontScale="90000"/>
          </a:bodyPr>
          <a:lstStyle/>
          <a:p>
            <a:br>
              <a:rPr lang="en-AU"/>
            </a:br>
            <a:r>
              <a:rPr lang="en-AU"/>
              <a:t>Web Technologies: Introduction</a:t>
            </a:r>
          </a:p>
        </p:txBody>
      </p:sp>
      <p:sp>
        <p:nvSpPr>
          <p:cNvPr id="29" name="Subtitle 28">
            <a:extLst>
              <a:ext uri="{FF2B5EF4-FFF2-40B4-BE49-F238E27FC236}">
                <a16:creationId xmlns:a16="http://schemas.microsoft.com/office/drawing/2014/main" id="{1C085F66-B097-8E41-C65E-FB613CEF61D0}"/>
              </a:ext>
            </a:extLst>
          </p:cNvPr>
          <p:cNvSpPr>
            <a:spLocks noGrp="1"/>
          </p:cNvSpPr>
          <p:nvPr>
            <p:ph type="subTitle" idx="1"/>
          </p:nvPr>
        </p:nvSpPr>
        <p:spPr/>
        <p:txBody>
          <a:bodyPr>
            <a:normAutofit/>
          </a:bodyPr>
          <a:lstStyle/>
          <a:p>
            <a:r>
              <a:rPr lang="en-AU"/>
              <a:t>ICT40120 Certificate IV in Information Technology (Programming)</a:t>
            </a:r>
          </a:p>
        </p:txBody>
      </p:sp>
      <p:graphicFrame>
        <p:nvGraphicFramePr>
          <p:cNvPr id="36" name="Table 36">
            <a:extLst>
              <a:ext uri="{FF2B5EF4-FFF2-40B4-BE49-F238E27FC236}">
                <a16:creationId xmlns:a16="http://schemas.microsoft.com/office/drawing/2014/main" id="{740E6E62-3521-150E-78A6-322B5A2C9487}"/>
              </a:ext>
            </a:extLst>
          </p:cNvPr>
          <p:cNvGraphicFramePr>
            <a:graphicFrameLocks noGrp="1"/>
          </p:cNvGraphicFramePr>
          <p:nvPr>
            <p:ph type="tbl" sz="quarter" idx="13"/>
            <p:extLst>
              <p:ext uri="{D42A27DB-BD31-4B8C-83A1-F6EECF244321}">
                <p14:modId xmlns:p14="http://schemas.microsoft.com/office/powerpoint/2010/main" val="476761145"/>
              </p:ext>
            </p:extLst>
          </p:nvPr>
        </p:nvGraphicFramePr>
        <p:xfrm>
          <a:off x="1524000" y="3771900"/>
          <a:ext cx="9144000" cy="1112520"/>
        </p:xfrm>
        <a:graphic>
          <a:graphicData uri="http://schemas.openxmlformats.org/drawingml/2006/table">
            <a:tbl>
              <a:tblPr firstRow="1" bandRow="1">
                <a:tableStyleId>{37CE84F3-28C3-443E-9E96-99CF82512B78}</a:tableStyleId>
              </a:tblPr>
              <a:tblGrid>
                <a:gridCol w="1681537">
                  <a:extLst>
                    <a:ext uri="{9D8B030D-6E8A-4147-A177-3AD203B41FA5}">
                      <a16:colId xmlns:a16="http://schemas.microsoft.com/office/drawing/2014/main" val="3907653306"/>
                    </a:ext>
                  </a:extLst>
                </a:gridCol>
                <a:gridCol w="7462463">
                  <a:extLst>
                    <a:ext uri="{9D8B030D-6E8A-4147-A177-3AD203B41FA5}">
                      <a16:colId xmlns:a16="http://schemas.microsoft.com/office/drawing/2014/main" val="3038254839"/>
                    </a:ext>
                  </a:extLst>
                </a:gridCol>
              </a:tblGrid>
              <a:tr h="370840">
                <a:tc>
                  <a:txBody>
                    <a:bodyPr/>
                    <a:lstStyle/>
                    <a:p>
                      <a:r>
                        <a:rPr lang="en-AU">
                          <a:solidFill>
                            <a:schemeClr val="tx1">
                              <a:lumMod val="50000"/>
                            </a:schemeClr>
                          </a:solidFill>
                        </a:rPr>
                        <a:t>Code</a:t>
                      </a:r>
                    </a:p>
                  </a:txBody>
                  <a:tcPr>
                    <a:solidFill>
                      <a:schemeClr val="bg1"/>
                    </a:solidFill>
                  </a:tcPr>
                </a:tc>
                <a:tc>
                  <a:txBody>
                    <a:bodyPr/>
                    <a:lstStyle/>
                    <a:p>
                      <a:r>
                        <a:rPr lang="en-AU">
                          <a:solidFill>
                            <a:schemeClr val="tx1">
                              <a:lumMod val="50000"/>
                            </a:schemeClr>
                          </a:solidFill>
                        </a:rPr>
                        <a:t>Title</a:t>
                      </a:r>
                    </a:p>
                  </a:txBody>
                  <a:tcPr>
                    <a:solidFill>
                      <a:schemeClr val="bg1"/>
                    </a:solidFill>
                  </a:tcPr>
                </a:tc>
                <a:extLst>
                  <a:ext uri="{0D108BD9-81ED-4DB2-BD59-A6C34878D82A}">
                    <a16:rowId xmlns:a16="http://schemas.microsoft.com/office/drawing/2014/main" val="2936324399"/>
                  </a:ext>
                </a:extLst>
              </a:tr>
              <a:tr h="370840">
                <a:tc>
                  <a:txBody>
                    <a:bodyPr/>
                    <a:lstStyle/>
                    <a:p>
                      <a:r>
                        <a:rPr lang="en-AU"/>
                        <a:t>ICTWEB441</a:t>
                      </a:r>
                    </a:p>
                  </a:txBody>
                  <a:tcPr>
                    <a:noFill/>
                  </a:tcPr>
                </a:tc>
                <a:tc>
                  <a:txBody>
                    <a:bodyPr/>
                    <a:lstStyle/>
                    <a:p>
                      <a:r>
                        <a:rPr lang="en-AU"/>
                        <a:t>Produce basic client-side script</a:t>
                      </a:r>
                    </a:p>
                  </a:txBody>
                  <a:tcPr>
                    <a:noFill/>
                  </a:tcPr>
                </a:tc>
                <a:extLst>
                  <a:ext uri="{0D108BD9-81ED-4DB2-BD59-A6C34878D82A}">
                    <a16:rowId xmlns:a16="http://schemas.microsoft.com/office/drawing/2014/main" val="3761864603"/>
                  </a:ext>
                </a:extLst>
              </a:tr>
              <a:tr h="370840">
                <a:tc>
                  <a:txBody>
                    <a:bodyPr/>
                    <a:lstStyle/>
                    <a:p>
                      <a:r>
                        <a:rPr lang="en-AU"/>
                        <a:t>ICTWEB452</a:t>
                      </a:r>
                    </a:p>
                  </a:txBody>
                  <a:tcPr>
                    <a:noFill/>
                  </a:tcPr>
                </a:tc>
                <a:tc>
                  <a:txBody>
                    <a:bodyPr/>
                    <a:lstStyle/>
                    <a:p>
                      <a:r>
                        <a:rPr lang="en-AU"/>
                        <a:t>Create a markup language document</a:t>
                      </a:r>
                    </a:p>
                  </a:txBody>
                  <a:tcPr>
                    <a:noFill/>
                  </a:tcPr>
                </a:tc>
                <a:extLst>
                  <a:ext uri="{0D108BD9-81ED-4DB2-BD59-A6C34878D82A}">
                    <a16:rowId xmlns:a16="http://schemas.microsoft.com/office/drawing/2014/main" val="2434588808"/>
                  </a:ext>
                </a:extLst>
              </a:tr>
            </a:tbl>
          </a:graphicData>
        </a:graphic>
      </p:graphicFrame>
    </p:spTree>
    <p:extLst>
      <p:ext uri="{BB962C8B-B14F-4D97-AF65-F5344CB8AC3E}">
        <p14:creationId xmlns:p14="http://schemas.microsoft.com/office/powerpoint/2010/main" val="1480433223"/>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3157-7D4C-4413-9455-A6DCBBD2F825}"/>
              </a:ext>
            </a:extLst>
          </p:cNvPr>
          <p:cNvSpPr>
            <a:spLocks noGrp="1"/>
          </p:cNvSpPr>
          <p:nvPr>
            <p:ph type="title"/>
          </p:nvPr>
        </p:nvSpPr>
        <p:spPr/>
        <p:txBody>
          <a:bodyPr/>
          <a:lstStyle/>
          <a:p>
            <a:r>
              <a:rPr lang="en-AU" dirty="0"/>
              <a:t>Overview</a:t>
            </a:r>
          </a:p>
        </p:txBody>
      </p:sp>
      <p:sp>
        <p:nvSpPr>
          <p:cNvPr id="3" name="Content Placeholder 2">
            <a:extLst>
              <a:ext uri="{FF2B5EF4-FFF2-40B4-BE49-F238E27FC236}">
                <a16:creationId xmlns:a16="http://schemas.microsoft.com/office/drawing/2014/main" id="{561FA502-DEA4-4E56-A1A3-DFE5B334A597}"/>
              </a:ext>
            </a:extLst>
          </p:cNvPr>
          <p:cNvSpPr>
            <a:spLocks noGrp="1"/>
          </p:cNvSpPr>
          <p:nvPr>
            <p:ph idx="1"/>
          </p:nvPr>
        </p:nvSpPr>
        <p:spPr/>
        <p:txBody>
          <a:bodyPr vert="horz" lIns="91440" tIns="45720" rIns="91440" bIns="45720" rtlCol="0" anchor="t">
            <a:normAutofit/>
          </a:bodyPr>
          <a:lstStyle/>
          <a:p>
            <a:r>
              <a:rPr lang="en-AU" dirty="0"/>
              <a:t>This session may include:</a:t>
            </a:r>
            <a:endParaRPr lang="en-AU" dirty="0">
              <a:cs typeface="Calibri"/>
            </a:endParaRPr>
          </a:p>
          <a:p>
            <a:pPr lvl="2">
              <a:buFont typeface="Courier New" panose="020B0604020202020204" pitchFamily="34" charset="0"/>
              <a:buChar char="o"/>
            </a:pPr>
            <a:r>
              <a:rPr lang="en-AU" dirty="0"/>
              <a:t> CSS Grids</a:t>
            </a:r>
          </a:p>
          <a:p>
            <a:pPr lvl="2">
              <a:buFont typeface="Courier New" panose="020B0604020202020204" pitchFamily="34" charset="0"/>
              <a:buChar char="o"/>
            </a:pPr>
            <a:r>
              <a:rPr lang="en-AU" dirty="0">
                <a:cs typeface="Calibri"/>
              </a:rPr>
              <a:t> CSS Flexbox</a:t>
            </a:r>
          </a:p>
          <a:p>
            <a:pPr lvl="2">
              <a:buFont typeface="Courier New" panose="020B0604020202020204" pitchFamily="34" charset="0"/>
              <a:buChar char="o"/>
            </a:pPr>
            <a:r>
              <a:rPr lang="en-AU" dirty="0"/>
              <a:t> Challenges</a:t>
            </a:r>
            <a:endParaRPr lang="en-AU" dirty="0">
              <a:cs typeface="Calibri" panose="020F0502020204030204"/>
            </a:endParaRPr>
          </a:p>
          <a:p>
            <a:pPr lvl="2">
              <a:buFont typeface="Courier New" panose="020B0604020202020204" pitchFamily="34" charset="0"/>
              <a:buChar char="o"/>
            </a:pPr>
            <a:r>
              <a:rPr lang="en-AU" dirty="0"/>
              <a:t> Assessment Portfolio (Pt 1) Overview</a:t>
            </a:r>
            <a:endParaRPr lang="en-AU" dirty="0">
              <a:cs typeface="Calibri" panose="020F0502020204030204"/>
            </a:endParaRPr>
          </a:p>
        </p:txBody>
      </p:sp>
    </p:spTree>
    <p:extLst>
      <p:ext uri="{BB962C8B-B14F-4D97-AF65-F5344CB8AC3E}">
        <p14:creationId xmlns:p14="http://schemas.microsoft.com/office/powerpoint/2010/main" val="3220252422"/>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65F1D14-4430-FC90-3C26-E7C64BE29869}"/>
              </a:ext>
            </a:extLst>
          </p:cNvPr>
          <p:cNvSpPr>
            <a:spLocks noGrp="1"/>
          </p:cNvSpPr>
          <p:nvPr>
            <p:ph type="title"/>
          </p:nvPr>
        </p:nvSpPr>
        <p:spPr/>
        <p:txBody>
          <a:bodyPr anchor="b">
            <a:normAutofit/>
          </a:bodyPr>
          <a:lstStyle/>
          <a:p>
            <a:br>
              <a:rPr lang="en-AU" dirty="0"/>
            </a:br>
            <a:r>
              <a:rPr lang="en-AU" dirty="0"/>
              <a:t>CSS3 Grids</a:t>
            </a:r>
          </a:p>
        </p:txBody>
      </p:sp>
      <p:sp>
        <p:nvSpPr>
          <p:cNvPr id="29" name="Subtitle 28">
            <a:extLst>
              <a:ext uri="{FF2B5EF4-FFF2-40B4-BE49-F238E27FC236}">
                <a16:creationId xmlns:a16="http://schemas.microsoft.com/office/drawing/2014/main" id="{1C085F66-B097-8E41-C65E-FB613CEF61D0}"/>
              </a:ext>
            </a:extLst>
          </p:cNvPr>
          <p:cNvSpPr>
            <a:spLocks noGrp="1"/>
          </p:cNvSpPr>
          <p:nvPr>
            <p:ph type="body" idx="1"/>
          </p:nvPr>
        </p:nvSpPr>
        <p:spPr/>
        <p:txBody>
          <a:bodyPr>
            <a:normAutofit/>
          </a:bodyPr>
          <a:lstStyle/>
          <a:p>
            <a:r>
              <a:rPr lang="en-AU"/>
              <a:t>ICT40120 Certificate IV in Information Technology (Programming)</a:t>
            </a:r>
          </a:p>
        </p:txBody>
      </p:sp>
    </p:spTree>
    <p:extLst>
      <p:ext uri="{BB962C8B-B14F-4D97-AF65-F5344CB8AC3E}">
        <p14:creationId xmlns:p14="http://schemas.microsoft.com/office/powerpoint/2010/main" val="24860795"/>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lstStyle/>
          <a:p>
            <a:r>
              <a:rPr lang="en-AU" dirty="0"/>
              <a:t>CSS Grid Layout</a:t>
            </a:r>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838200" y="1825625"/>
            <a:ext cx="10515600" cy="4351338"/>
          </a:xfrm>
        </p:spPr>
        <p:txBody>
          <a:bodyPr>
            <a:normAutofit fontScale="92500" lnSpcReduction="20000"/>
          </a:bodyPr>
          <a:lstStyle/>
          <a:p>
            <a:pPr marL="0" indent="0">
              <a:buNone/>
            </a:pPr>
            <a:endParaRPr lang="en-AU" dirty="0"/>
          </a:p>
          <a:p>
            <a:r>
              <a:rPr lang="en-AU" dirty="0"/>
              <a:t>creates two-dimensional grid, defining rows &amp; columns within a grid container.</a:t>
            </a:r>
          </a:p>
          <a:p>
            <a:r>
              <a:rPr lang="en-AU" dirty="0"/>
              <a:t>control both rows and columns(number &amp; size)</a:t>
            </a:r>
          </a:p>
          <a:p>
            <a:r>
              <a:rPr lang="en-AU" dirty="0"/>
              <a:t>position items anywhere within the grid using line numbers or named grid areas.</a:t>
            </a:r>
          </a:p>
          <a:p>
            <a:r>
              <a:rPr lang="en-AU" dirty="0"/>
              <a:t>ideal for creating complex layouts,  like multi-column form</a:t>
            </a:r>
          </a:p>
        </p:txBody>
      </p:sp>
    </p:spTree>
    <p:extLst>
      <p:ext uri="{BB962C8B-B14F-4D97-AF65-F5344CB8AC3E}">
        <p14:creationId xmlns:p14="http://schemas.microsoft.com/office/powerpoint/2010/main" val="410078282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normAutofit/>
          </a:bodyPr>
          <a:lstStyle/>
          <a:p>
            <a:r>
              <a:rPr lang="en-AU" dirty="0"/>
              <a:t>Grid, tracks &amp; lines</a:t>
            </a:r>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838200" y="1825625"/>
            <a:ext cx="10515600" cy="4351338"/>
          </a:xfrm>
        </p:spPr>
        <p:txBody>
          <a:bodyPr>
            <a:normAutofit fontScale="85000" lnSpcReduction="10000"/>
          </a:bodyPr>
          <a:lstStyle/>
          <a:p>
            <a:pPr marL="0" indent="0">
              <a:buNone/>
            </a:pPr>
            <a:endParaRPr lang="en-AU" dirty="0"/>
          </a:p>
          <a:p>
            <a:r>
              <a:rPr lang="en-AU" dirty="0"/>
              <a:t>both rows and columns are treated as equals. </a:t>
            </a:r>
          </a:p>
          <a:p>
            <a:r>
              <a:rPr lang="en-AU" dirty="0"/>
              <a:t>Grid Lines: define the boundaries of rows and columns. </a:t>
            </a:r>
          </a:p>
          <a:p>
            <a:r>
              <a:rPr lang="en-AU" dirty="0"/>
              <a:t>Grid Tracks: spaces between adjacent grid lines</a:t>
            </a:r>
          </a:p>
          <a:p>
            <a:r>
              <a:rPr lang="en-AU" dirty="0"/>
              <a:t>Grid Cells: intersections of grid lines form grid cells</a:t>
            </a:r>
          </a:p>
          <a:p>
            <a:pPr marL="0" indent="0">
              <a:buNone/>
            </a:pPr>
            <a:endParaRPr lang="en-AU" dirty="0"/>
          </a:p>
          <a:p>
            <a:pPr marL="0" indent="0">
              <a:buNone/>
            </a:pPr>
            <a:r>
              <a:rPr lang="en-AU" dirty="0"/>
              <a:t>NOTE: place grid items into cells using line numbers or naming grid areas</a:t>
            </a:r>
          </a:p>
        </p:txBody>
      </p:sp>
    </p:spTree>
    <p:extLst>
      <p:ext uri="{BB962C8B-B14F-4D97-AF65-F5344CB8AC3E}">
        <p14:creationId xmlns:p14="http://schemas.microsoft.com/office/powerpoint/2010/main" val="167315483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normAutofit/>
          </a:bodyPr>
          <a:lstStyle/>
          <a:p>
            <a:r>
              <a:rPr lang="en-AU" dirty="0"/>
              <a:t>Grid cell placement</a:t>
            </a:r>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838200" y="1825625"/>
            <a:ext cx="10515600" cy="4351338"/>
          </a:xfrm>
        </p:spPr>
        <p:txBody>
          <a:bodyPr>
            <a:normAutofit/>
          </a:bodyPr>
          <a:lstStyle/>
          <a:p>
            <a:pPr marL="0" indent="0">
              <a:buNone/>
            </a:pPr>
            <a:endParaRPr lang="en-AU" dirty="0"/>
          </a:p>
          <a:p>
            <a:r>
              <a:rPr lang="en-AU" dirty="0"/>
              <a:t>The intersections of grid lines form grid cells. </a:t>
            </a:r>
          </a:p>
          <a:p>
            <a:r>
              <a:rPr lang="en-AU" dirty="0"/>
              <a:t>You can place grid items directly into these cells using line numbers or by naming grid areas. </a:t>
            </a:r>
          </a:p>
        </p:txBody>
      </p:sp>
    </p:spTree>
    <p:extLst>
      <p:ext uri="{BB962C8B-B14F-4D97-AF65-F5344CB8AC3E}">
        <p14:creationId xmlns:p14="http://schemas.microsoft.com/office/powerpoint/2010/main" val="2997659393"/>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6907924" cy="921254"/>
          </a:xfrm>
        </p:spPr>
        <p:txBody>
          <a:bodyPr>
            <a:normAutofit/>
          </a:bodyPr>
          <a:lstStyle/>
          <a:p>
            <a:r>
              <a:rPr lang="en-AU" dirty="0"/>
              <a:t>Grids, tracks &amp; lines </a:t>
            </a:r>
            <a:r>
              <a:rPr lang="en-AU" dirty="0" err="1"/>
              <a:t>contd</a:t>
            </a:r>
            <a:r>
              <a:rPr lang="en-AU" dirty="0"/>
              <a:t>…</a:t>
            </a:r>
          </a:p>
        </p:txBody>
      </p:sp>
      <p:pic>
        <p:nvPicPr>
          <p:cNvPr id="4" name="Content Placeholder 3" descr="A grid of squares with different colors&#10;&#10;Description automatically generated">
            <a:extLst>
              <a:ext uri="{FF2B5EF4-FFF2-40B4-BE49-F238E27FC236}">
                <a16:creationId xmlns:a16="http://schemas.microsoft.com/office/drawing/2014/main" id="{69FC0FB9-C33B-F50C-A53C-1B95D931C8BE}"/>
              </a:ext>
            </a:extLst>
          </p:cNvPr>
          <p:cNvPicPr>
            <a:picLocks noGrp="1" noChangeAspect="1"/>
          </p:cNvPicPr>
          <p:nvPr>
            <p:ph idx="1"/>
          </p:nvPr>
        </p:nvPicPr>
        <p:blipFill>
          <a:blip r:embed="rId2"/>
          <a:stretch>
            <a:fillRect/>
          </a:stretch>
        </p:blipFill>
        <p:spPr>
          <a:xfrm>
            <a:off x="2489570" y="1690688"/>
            <a:ext cx="6725682" cy="4346128"/>
          </a:xfrm>
        </p:spPr>
      </p:pic>
      <p:sp>
        <p:nvSpPr>
          <p:cNvPr id="7" name="TextBox 6">
            <a:extLst>
              <a:ext uri="{FF2B5EF4-FFF2-40B4-BE49-F238E27FC236}">
                <a16:creationId xmlns:a16="http://schemas.microsoft.com/office/drawing/2014/main" id="{294C71BD-6F99-414C-C549-D9ACC37BE626}"/>
              </a:ext>
            </a:extLst>
          </p:cNvPr>
          <p:cNvSpPr txBox="1"/>
          <p:nvPr/>
        </p:nvSpPr>
        <p:spPr>
          <a:xfrm>
            <a:off x="3238176" y="6274283"/>
            <a:ext cx="6097978" cy="369332"/>
          </a:xfrm>
          <a:prstGeom prst="rect">
            <a:avLst/>
          </a:prstGeom>
          <a:noFill/>
        </p:spPr>
        <p:txBody>
          <a:bodyPr wrap="square">
            <a:spAutoFit/>
          </a:bodyPr>
          <a:lstStyle/>
          <a:p>
            <a:r>
              <a:rPr lang="en-US" dirty="0"/>
              <a:t>https://</a:t>
            </a:r>
            <a:r>
              <a:rPr lang="en-US" dirty="0" err="1"/>
              <a:t>dev.to</a:t>
            </a:r>
            <a:r>
              <a:rPr lang="en-US" dirty="0"/>
              <a:t>/</a:t>
            </a:r>
            <a:r>
              <a:rPr lang="en-US" dirty="0" err="1"/>
              <a:t>busramemis</a:t>
            </a:r>
            <a:r>
              <a:rPr lang="en-US" dirty="0"/>
              <a:t>/css-grid-layout-3kc1</a:t>
            </a:r>
          </a:p>
        </p:txBody>
      </p:sp>
    </p:spTree>
    <p:extLst>
      <p:ext uri="{BB962C8B-B14F-4D97-AF65-F5344CB8AC3E}">
        <p14:creationId xmlns:p14="http://schemas.microsoft.com/office/powerpoint/2010/main" val="102307904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normAutofit/>
          </a:bodyPr>
          <a:lstStyle/>
          <a:p>
            <a:r>
              <a:rPr lang="en-AU" b="1" dirty="0"/>
              <a:t>Grid Container &amp; Items</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743607" y="2105569"/>
            <a:ext cx="5594130" cy="3492609"/>
          </a:xfrm>
        </p:spPr>
        <p:txBody>
          <a:bodyPr>
            <a:normAutofit fontScale="77500" lnSpcReduction="20000"/>
          </a:bodyPr>
          <a:lstStyle/>
          <a:p>
            <a:r>
              <a:rPr lang="en-AU" dirty="0"/>
              <a:t>the container establishes a grid format</a:t>
            </a:r>
          </a:p>
          <a:p>
            <a:r>
              <a:rPr lang="en-AU" dirty="0"/>
              <a:t>defined using the </a:t>
            </a:r>
            <a:r>
              <a:rPr lang="en-AU" b="1" i="1" dirty="0"/>
              <a:t>display: grid; </a:t>
            </a:r>
          </a:p>
          <a:p>
            <a:r>
              <a:rPr lang="en-AU" dirty="0"/>
              <a:t>container contains both rows and columns, </a:t>
            </a:r>
          </a:p>
          <a:p>
            <a:r>
              <a:rPr lang="en-AU" dirty="0"/>
              <a:t>forming the grid structure for its child elements (grid items)</a:t>
            </a:r>
          </a:p>
        </p:txBody>
      </p:sp>
      <p:sp>
        <p:nvSpPr>
          <p:cNvPr id="4" name="TextBox 3">
            <a:extLst>
              <a:ext uri="{FF2B5EF4-FFF2-40B4-BE49-F238E27FC236}">
                <a16:creationId xmlns:a16="http://schemas.microsoft.com/office/drawing/2014/main" id="{0676150F-AEB1-31B7-9EDB-408711AF0623}"/>
              </a:ext>
            </a:extLst>
          </p:cNvPr>
          <p:cNvSpPr txBox="1"/>
          <p:nvPr/>
        </p:nvSpPr>
        <p:spPr>
          <a:xfrm>
            <a:off x="6429704" y="2413337"/>
            <a:ext cx="5594130" cy="1754326"/>
          </a:xfrm>
          <a:prstGeom prst="rect">
            <a:avLst/>
          </a:prstGeom>
          <a:noFill/>
        </p:spPr>
        <p:txBody>
          <a:bodyPr wrap="square">
            <a:spAutoFit/>
          </a:bodyPr>
          <a:lstStyle/>
          <a:p>
            <a:r>
              <a:rPr lang="en-AU" b="0" dirty="0">
                <a:solidFill>
                  <a:srgbClr val="D7BA7D"/>
                </a:solidFill>
                <a:effectLst/>
                <a:latin typeface="Menlo" panose="020B0609030804020204" pitchFamily="49" charset="0"/>
              </a:rPr>
              <a:t>.container</a:t>
            </a:r>
            <a:r>
              <a:rPr lang="en-AU" b="0" dirty="0">
                <a:solidFill>
                  <a:srgbClr val="D4D4D4"/>
                </a:solidFill>
                <a:effectLst/>
                <a:latin typeface="Menlo" panose="020B0609030804020204" pitchFamily="49" charset="0"/>
              </a:rPr>
              <a:t> {</a:t>
            </a:r>
          </a:p>
          <a:p>
            <a:r>
              <a:rPr lang="en-AU" b="0" dirty="0">
                <a:solidFill>
                  <a:srgbClr val="9CDCFE"/>
                </a:solidFill>
                <a:effectLst/>
                <a:latin typeface="Menlo" panose="020B0609030804020204" pitchFamily="49" charset="0"/>
              </a:rPr>
              <a:t>	display</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grid</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grid-template-columns</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50px</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50px</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50px</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50px</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grid-template-rows</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auto</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a:t>
            </a:r>
            <a:r>
              <a:rPr lang="en-AU" b="0" dirty="0" err="1">
                <a:solidFill>
                  <a:srgbClr val="9CDCFE"/>
                </a:solidFill>
                <a:effectLst/>
                <a:latin typeface="Menlo" panose="020B0609030804020204" pitchFamily="49" charset="0"/>
              </a:rPr>
              <a:t>grid-template-areas</a:t>
            </a:r>
            <a:r>
              <a:rPr lang="en-AU" b="0" dirty="0" err="1">
                <a:solidFill>
                  <a:srgbClr val="D4D4D4"/>
                </a:solidFill>
                <a:effectLst/>
                <a:latin typeface="Menlo" panose="020B0609030804020204" pitchFamily="49" charset="0"/>
              </a:rPr>
              <a:t>:</a:t>
            </a:r>
            <a:r>
              <a:rPr lang="en-AU" b="0" dirty="0" err="1">
                <a:solidFill>
                  <a:srgbClr val="CE9178"/>
                </a:solidFill>
                <a:effectLst/>
                <a:latin typeface="Menlo" panose="020B0609030804020204" pitchFamily="49" charset="0"/>
              </a:rPr>
              <a:t>"header</a:t>
            </a:r>
            <a:r>
              <a:rPr lang="en-AU" b="0" dirty="0">
                <a:solidFill>
                  <a:srgbClr val="CE9178"/>
                </a:solidFill>
                <a:effectLst/>
                <a:latin typeface="Menlo" panose="020B0609030804020204" pitchFamily="49" charset="0"/>
              </a:rPr>
              <a:t>”</a:t>
            </a:r>
            <a:r>
              <a:rPr lang="en-AU" b="0" dirty="0">
                <a:solidFill>
                  <a:srgbClr val="D4D4D4"/>
                </a:solidFill>
                <a:effectLst/>
                <a:latin typeface="Menlo" panose="020B0609030804020204" pitchFamily="49" charset="0"/>
              </a:rPr>
              <a:t>;</a:t>
            </a:r>
          </a:p>
          <a:p>
            <a:r>
              <a:rPr lang="en-AU"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2892881806"/>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normAutofit/>
          </a:bodyPr>
          <a:lstStyle/>
          <a:p>
            <a:r>
              <a:rPr lang="en-AU" b="1" dirty="0"/>
              <a:t>Grid Item Placement</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5368157" y="1999064"/>
            <a:ext cx="6498021" cy="4089502"/>
          </a:xfrm>
        </p:spPr>
        <p:txBody>
          <a:bodyPr>
            <a:normAutofit fontScale="85000" lnSpcReduction="10000"/>
          </a:bodyPr>
          <a:lstStyle/>
          <a:p>
            <a:pPr>
              <a:buFont typeface="Arial" panose="020B0604020202020204" pitchFamily="34" charset="0"/>
              <a:buChar char="•"/>
            </a:pPr>
            <a:r>
              <a:rPr lang="en-AU" dirty="0"/>
              <a:t>"grid items"  - child elements of the grid container.</a:t>
            </a:r>
          </a:p>
          <a:p>
            <a:pPr>
              <a:buFont typeface="Arial" panose="020B0604020202020204" pitchFamily="34" charset="0"/>
              <a:buChar char="•"/>
            </a:pPr>
            <a:r>
              <a:rPr lang="en-AU" dirty="0"/>
              <a:t>items are positioned by specifying the row and column</a:t>
            </a:r>
          </a:p>
          <a:p>
            <a:pPr>
              <a:buFont typeface="Arial" panose="020B0604020202020204" pitchFamily="34" charset="0"/>
              <a:buChar char="•"/>
            </a:pPr>
            <a:r>
              <a:rPr lang="en-AU" dirty="0"/>
              <a:t>items are placed using properties like </a:t>
            </a:r>
            <a:r>
              <a:rPr lang="en-AU" b="1" i="1" dirty="0"/>
              <a:t>grid-row </a:t>
            </a:r>
            <a:r>
              <a:rPr lang="en-AU" dirty="0"/>
              <a:t>and </a:t>
            </a:r>
            <a:r>
              <a:rPr lang="en-AU" b="1" i="1" dirty="0"/>
              <a:t>grid-column</a:t>
            </a:r>
          </a:p>
          <a:p>
            <a:pPr>
              <a:buFont typeface="Arial" panose="020B0604020202020204" pitchFamily="34" charset="0"/>
              <a:buChar char="•"/>
            </a:pPr>
            <a:r>
              <a:rPr lang="en-AU" dirty="0"/>
              <a:t>specify the start and end lines in both row &amp; column dimensions.</a:t>
            </a:r>
          </a:p>
        </p:txBody>
      </p:sp>
      <p:sp>
        <p:nvSpPr>
          <p:cNvPr id="4" name="TextBox 3">
            <a:extLst>
              <a:ext uri="{FF2B5EF4-FFF2-40B4-BE49-F238E27FC236}">
                <a16:creationId xmlns:a16="http://schemas.microsoft.com/office/drawing/2014/main" id="{0676150F-AEB1-31B7-9EDB-408711AF0623}"/>
              </a:ext>
            </a:extLst>
          </p:cNvPr>
          <p:cNvSpPr txBox="1"/>
          <p:nvPr/>
        </p:nvSpPr>
        <p:spPr>
          <a:xfrm>
            <a:off x="838200" y="2729707"/>
            <a:ext cx="4529958" cy="2031325"/>
          </a:xfrm>
          <a:prstGeom prst="rect">
            <a:avLst/>
          </a:prstGeom>
          <a:noFill/>
        </p:spPr>
        <p:txBody>
          <a:bodyPr wrap="square">
            <a:spAutoFit/>
          </a:bodyPr>
          <a:lstStyle/>
          <a:p>
            <a:r>
              <a:rPr lang="en-AU" b="0" dirty="0">
                <a:solidFill>
                  <a:srgbClr val="6A9955"/>
                </a:solidFill>
                <a:effectLst/>
                <a:latin typeface="Menlo" panose="020B0609030804020204" pitchFamily="49" charset="0"/>
              </a:rPr>
              <a:t>/* Placing Grid Items */</a:t>
            </a:r>
            <a:endParaRPr lang="en-AU" b="0" dirty="0">
              <a:solidFill>
                <a:srgbClr val="D4D4D4"/>
              </a:solidFill>
              <a:effectLst/>
              <a:latin typeface="Menlo" panose="020B0609030804020204" pitchFamily="49" charset="0"/>
            </a:endParaRPr>
          </a:p>
          <a:p>
            <a:r>
              <a:rPr lang="en-AU" b="0" dirty="0">
                <a:solidFill>
                  <a:srgbClr val="D7BA7D"/>
                </a:solidFill>
                <a:effectLst/>
                <a:latin typeface="Menlo" panose="020B0609030804020204" pitchFamily="49" charset="0"/>
              </a:rPr>
              <a:t>.item-1</a:t>
            </a:r>
            <a:r>
              <a:rPr lang="en-AU" b="0" dirty="0">
                <a:solidFill>
                  <a:srgbClr val="D4D4D4"/>
                </a:solidFill>
                <a:effectLst/>
                <a:latin typeface="Menlo" panose="020B0609030804020204" pitchFamily="49" charset="0"/>
              </a:rPr>
              <a:t> {</a:t>
            </a:r>
          </a:p>
          <a:p>
            <a:r>
              <a:rPr lang="en-AU" b="0" dirty="0">
                <a:solidFill>
                  <a:srgbClr val="6A9955"/>
                </a:solidFill>
                <a:effectLst/>
                <a:latin typeface="Menlo" panose="020B0609030804020204" pitchFamily="49" charset="0"/>
              </a:rPr>
              <a:t>	/* Place in row 1 */</a:t>
            </a:r>
            <a:endParaRPr lang="en-AU" b="0" dirty="0">
              <a:solidFill>
                <a:srgbClr val="D4D4D4"/>
              </a:solidFill>
              <a:effectLst/>
              <a:latin typeface="Menlo" panose="020B0609030804020204" pitchFamily="49" charset="0"/>
            </a:endParaRPr>
          </a:p>
          <a:p>
            <a:r>
              <a:rPr lang="en-AU" b="0" dirty="0">
                <a:solidFill>
                  <a:srgbClr val="9CDCFE"/>
                </a:solidFill>
                <a:effectLst/>
                <a:latin typeface="Menlo" panose="020B0609030804020204" pitchFamily="49" charset="0"/>
              </a:rPr>
              <a:t>	grid-row</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a:t>
            </a:r>
            <a:r>
              <a:rPr lang="en-AU" b="0" dirty="0">
                <a:solidFill>
                  <a:srgbClr val="D4D4D4"/>
                </a:solidFill>
                <a:effectLst/>
                <a:latin typeface="Menlo" panose="020B0609030804020204" pitchFamily="49" charset="0"/>
              </a:rPr>
              <a:t>;</a:t>
            </a:r>
          </a:p>
          <a:p>
            <a:r>
              <a:rPr lang="en-AU" b="0" dirty="0">
                <a:solidFill>
                  <a:srgbClr val="6A9955"/>
                </a:solidFill>
                <a:effectLst/>
                <a:latin typeface="Menlo" panose="020B0609030804020204" pitchFamily="49" charset="0"/>
              </a:rPr>
              <a:t>	/* Place in column 1 */</a:t>
            </a:r>
            <a:endParaRPr lang="en-AU" b="0" dirty="0">
              <a:solidFill>
                <a:srgbClr val="D4D4D4"/>
              </a:solidFill>
              <a:effectLst/>
              <a:latin typeface="Menlo" panose="020B0609030804020204" pitchFamily="49" charset="0"/>
            </a:endParaRPr>
          </a:p>
          <a:p>
            <a:r>
              <a:rPr lang="en-AU" b="0" dirty="0">
                <a:solidFill>
                  <a:srgbClr val="9CDCFE"/>
                </a:solidFill>
                <a:effectLst/>
                <a:latin typeface="Menlo" panose="020B0609030804020204" pitchFamily="49" charset="0"/>
              </a:rPr>
              <a:t>	grid-column</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a:t>
            </a:r>
            <a:r>
              <a:rPr lang="en-AU" b="0" dirty="0">
                <a:solidFill>
                  <a:srgbClr val="D4D4D4"/>
                </a:solidFill>
                <a:effectLst/>
                <a:latin typeface="Menlo" panose="020B0609030804020204" pitchFamily="49" charset="0"/>
              </a:rPr>
              <a:t>;</a:t>
            </a:r>
          </a:p>
          <a:p>
            <a:r>
              <a:rPr lang="en-AU"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59035668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838200" y="769434"/>
            <a:ext cx="10515600" cy="921254"/>
          </a:xfrm>
        </p:spPr>
        <p:txBody>
          <a:bodyPr>
            <a:normAutofit/>
          </a:bodyPr>
          <a:lstStyle/>
          <a:p>
            <a:r>
              <a:rPr lang="en-AU" b="1" dirty="0"/>
              <a:t>Grid Rows &amp; Columns</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838199" y="2126590"/>
            <a:ext cx="6025055" cy="3801244"/>
          </a:xfrm>
        </p:spPr>
        <p:txBody>
          <a:bodyPr>
            <a:normAutofit fontScale="77500" lnSpcReduction="20000"/>
          </a:bodyPr>
          <a:lstStyle/>
          <a:p>
            <a:r>
              <a:rPr lang="en-AU" dirty="0"/>
              <a:t>define rows and columns using the </a:t>
            </a:r>
            <a:r>
              <a:rPr lang="en-AU" b="1" i="1" dirty="0"/>
              <a:t>grid-template-rows</a:t>
            </a:r>
            <a:r>
              <a:rPr lang="en-AU" dirty="0"/>
              <a:t> and </a:t>
            </a:r>
            <a:r>
              <a:rPr lang="en-AU" b="1" i="1" dirty="0"/>
              <a:t>grid-template-columns</a:t>
            </a:r>
            <a:r>
              <a:rPr lang="en-AU" dirty="0"/>
              <a:t> properties</a:t>
            </a:r>
          </a:p>
          <a:p>
            <a:r>
              <a:rPr lang="en-AU" b="1" dirty="0"/>
              <a:t>template values </a:t>
            </a:r>
            <a:r>
              <a:rPr lang="en-AU" dirty="0"/>
              <a:t>define the size and behaviour of grid tracks </a:t>
            </a:r>
          </a:p>
          <a:p>
            <a:r>
              <a:rPr lang="en-AU" dirty="0"/>
              <a:t>you can use various units like pixels, percentages, and the </a:t>
            </a:r>
            <a:r>
              <a:rPr lang="en-AU" dirty="0" err="1"/>
              <a:t>fr</a:t>
            </a:r>
            <a:r>
              <a:rPr lang="en-AU" dirty="0"/>
              <a:t> unit (fractional unit)</a:t>
            </a:r>
          </a:p>
        </p:txBody>
      </p:sp>
      <p:sp>
        <p:nvSpPr>
          <p:cNvPr id="4" name="TextBox 3">
            <a:extLst>
              <a:ext uri="{FF2B5EF4-FFF2-40B4-BE49-F238E27FC236}">
                <a16:creationId xmlns:a16="http://schemas.microsoft.com/office/drawing/2014/main" id="{0676150F-AEB1-31B7-9EDB-408711AF0623}"/>
              </a:ext>
            </a:extLst>
          </p:cNvPr>
          <p:cNvSpPr txBox="1"/>
          <p:nvPr/>
        </p:nvSpPr>
        <p:spPr>
          <a:xfrm>
            <a:off x="6863255" y="2581502"/>
            <a:ext cx="5770179" cy="2031325"/>
          </a:xfrm>
          <a:prstGeom prst="rect">
            <a:avLst/>
          </a:prstGeom>
          <a:noFill/>
        </p:spPr>
        <p:txBody>
          <a:bodyPr wrap="square">
            <a:spAutoFit/>
          </a:bodyPr>
          <a:lstStyle/>
          <a:p>
            <a:r>
              <a:rPr lang="en-AU" b="0" dirty="0">
                <a:solidFill>
                  <a:srgbClr val="D7BA7D"/>
                </a:solidFill>
                <a:effectLst/>
                <a:latin typeface="Menlo" panose="020B0609030804020204" pitchFamily="49" charset="0"/>
              </a:rPr>
              <a:t>.container</a:t>
            </a:r>
            <a:r>
              <a:rPr lang="en-AU" b="0" dirty="0">
                <a:solidFill>
                  <a:srgbClr val="D4D4D4"/>
                </a:solidFill>
                <a:effectLst/>
                <a:latin typeface="Menlo" panose="020B0609030804020204" pitchFamily="49" charset="0"/>
              </a:rPr>
              <a:t> {</a:t>
            </a:r>
          </a:p>
          <a:p>
            <a:r>
              <a:rPr lang="en-AU" b="0" dirty="0">
                <a:solidFill>
                  <a:srgbClr val="9CDCFE"/>
                </a:solidFill>
                <a:effectLst/>
                <a:latin typeface="Menlo" panose="020B0609030804020204" pitchFamily="49" charset="0"/>
              </a:rPr>
              <a:t>	display</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grid</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grid-template-columns</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1fr</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2fr</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1fr</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grid-template-rows</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auto</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grid-template-areas</a:t>
            </a:r>
            <a:r>
              <a:rPr lang="en-AU" b="0" dirty="0">
                <a:solidFill>
                  <a:srgbClr val="D4D4D4"/>
                </a:solidFill>
                <a:effectLst/>
                <a:latin typeface="Menlo" panose="020B0609030804020204" pitchFamily="49" charset="0"/>
              </a:rPr>
              <a:t>: </a:t>
            </a:r>
          </a:p>
          <a:p>
            <a:r>
              <a:rPr lang="en-AU" b="0" dirty="0">
                <a:solidFill>
                  <a:srgbClr val="CE9178"/>
                </a:solidFill>
                <a:effectLst/>
                <a:latin typeface="Menlo" panose="020B0609030804020204" pitchFamily="49" charset="0"/>
              </a:rPr>
              <a:t>	"header"</a:t>
            </a:r>
            <a:r>
              <a:rPr lang="en-AU" b="0" dirty="0">
                <a:solidFill>
                  <a:srgbClr val="D4D4D4"/>
                </a:solidFill>
                <a:effectLst/>
                <a:latin typeface="Menlo" panose="020B0609030804020204" pitchFamily="49" charset="0"/>
              </a:rPr>
              <a:t>;</a:t>
            </a:r>
          </a:p>
          <a:p>
            <a:r>
              <a:rPr lang="en-AU"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6743067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533399" y="851296"/>
            <a:ext cx="10515600" cy="921254"/>
          </a:xfrm>
        </p:spPr>
        <p:txBody>
          <a:bodyPr>
            <a:normAutofit/>
          </a:bodyPr>
          <a:lstStyle/>
          <a:p>
            <a:r>
              <a:rPr lang="en-AU" b="1" dirty="0"/>
              <a:t>Grid Rows &amp; Columns</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5284076" y="2201578"/>
            <a:ext cx="6624146" cy="3295332"/>
          </a:xfrm>
        </p:spPr>
        <p:txBody>
          <a:bodyPr>
            <a:normAutofit fontScale="70000" lnSpcReduction="20000"/>
          </a:bodyPr>
          <a:lstStyle/>
          <a:p>
            <a:pPr>
              <a:buFont typeface="Arial" panose="020B0604020202020204" pitchFamily="34" charset="0"/>
              <a:buChar char="•"/>
            </a:pPr>
            <a:r>
              <a:rPr lang="en-AU" dirty="0"/>
              <a:t>you can specify a specific length for each track using units like </a:t>
            </a:r>
            <a:r>
              <a:rPr lang="en-AU" b="1" i="1" dirty="0" err="1"/>
              <a:t>px</a:t>
            </a:r>
            <a:r>
              <a:rPr lang="en-AU" dirty="0"/>
              <a:t> or </a:t>
            </a:r>
            <a:r>
              <a:rPr lang="en-AU" b="1" i="1" dirty="0" err="1"/>
              <a:t>em</a:t>
            </a:r>
            <a:r>
              <a:rPr lang="en-AU" dirty="0"/>
              <a:t>.</a:t>
            </a:r>
          </a:p>
          <a:p>
            <a:pPr>
              <a:buFont typeface="Arial" panose="020B0604020202020204" pitchFamily="34" charset="0"/>
              <a:buChar char="•"/>
            </a:pPr>
            <a:r>
              <a:rPr lang="en-AU" dirty="0"/>
              <a:t>the</a:t>
            </a:r>
            <a:r>
              <a:rPr lang="en-AU" b="1" dirty="0"/>
              <a:t> </a:t>
            </a:r>
            <a:r>
              <a:rPr lang="en-AU" b="1" i="1" dirty="0" err="1"/>
              <a:t>fr</a:t>
            </a:r>
            <a:r>
              <a:rPr lang="en-AU" dirty="0"/>
              <a:t> unit distributes available space (on the right you see a 1:2:1 ratio).</a:t>
            </a:r>
          </a:p>
          <a:p>
            <a:pPr>
              <a:buFont typeface="Arial" panose="020B0604020202020204" pitchFamily="34" charset="0"/>
              <a:buChar char="•"/>
            </a:pPr>
            <a:r>
              <a:rPr lang="en-AU" b="1" i="1" dirty="0"/>
              <a:t>auto</a:t>
            </a:r>
            <a:r>
              <a:rPr lang="en-AU" dirty="0"/>
              <a:t> keyword allows a track to automatically size based on its content. </a:t>
            </a:r>
          </a:p>
          <a:p>
            <a:pPr>
              <a:buFont typeface="Arial" panose="020B0604020202020204" pitchFamily="34" charset="0"/>
              <a:buChar char="•"/>
            </a:pPr>
            <a:r>
              <a:rPr lang="en-AU" dirty="0"/>
              <a:t>the</a:t>
            </a:r>
            <a:r>
              <a:rPr lang="en-AU" b="1" dirty="0"/>
              <a:t> </a:t>
            </a:r>
            <a:r>
              <a:rPr lang="en-AU" b="1" i="1" dirty="0"/>
              <a:t>minmax(min, max) </a:t>
            </a:r>
            <a:r>
              <a:rPr lang="en-AU" dirty="0"/>
              <a:t>function sets a minimum and maximum size for a track. </a:t>
            </a:r>
          </a:p>
        </p:txBody>
      </p:sp>
      <p:sp>
        <p:nvSpPr>
          <p:cNvPr id="4" name="TextBox 3">
            <a:extLst>
              <a:ext uri="{FF2B5EF4-FFF2-40B4-BE49-F238E27FC236}">
                <a16:creationId xmlns:a16="http://schemas.microsoft.com/office/drawing/2014/main" id="{0676150F-AEB1-31B7-9EDB-408711AF0623}"/>
              </a:ext>
            </a:extLst>
          </p:cNvPr>
          <p:cNvSpPr txBox="1"/>
          <p:nvPr/>
        </p:nvSpPr>
        <p:spPr>
          <a:xfrm>
            <a:off x="533399" y="2345836"/>
            <a:ext cx="4929352" cy="2308324"/>
          </a:xfrm>
          <a:prstGeom prst="rect">
            <a:avLst/>
          </a:prstGeom>
          <a:noFill/>
        </p:spPr>
        <p:txBody>
          <a:bodyPr wrap="square">
            <a:spAutoFit/>
          </a:bodyPr>
          <a:lstStyle/>
          <a:p>
            <a:r>
              <a:rPr lang="en-AU" b="0" dirty="0">
                <a:solidFill>
                  <a:srgbClr val="D7BA7D"/>
                </a:solidFill>
                <a:effectLst/>
                <a:latin typeface="Menlo" panose="020B0609030804020204" pitchFamily="49" charset="0"/>
              </a:rPr>
              <a:t>.container</a:t>
            </a:r>
            <a:r>
              <a:rPr lang="en-AU" b="0" dirty="0">
                <a:solidFill>
                  <a:srgbClr val="D4D4D4"/>
                </a:solidFill>
                <a:effectLst/>
                <a:latin typeface="Menlo" panose="020B0609030804020204" pitchFamily="49" charset="0"/>
              </a:rPr>
              <a:t> {</a:t>
            </a:r>
          </a:p>
          <a:p>
            <a:r>
              <a:rPr lang="en-AU" b="0" dirty="0">
                <a:solidFill>
                  <a:srgbClr val="9CDCFE"/>
                </a:solidFill>
                <a:effectLst/>
                <a:latin typeface="Menlo" panose="020B0609030804020204" pitchFamily="49" charset="0"/>
              </a:rPr>
              <a:t>	display</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grid</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grid-template-columns</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1fr</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2fr</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1fr</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grid-template-rows</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auto</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grid-template-areas</a:t>
            </a:r>
            <a:r>
              <a:rPr lang="en-AU" b="0" dirty="0">
                <a:solidFill>
                  <a:srgbClr val="D4D4D4"/>
                </a:solidFill>
                <a:effectLst/>
                <a:latin typeface="Menlo" panose="020B0609030804020204" pitchFamily="49" charset="0"/>
              </a:rPr>
              <a:t>: </a:t>
            </a:r>
          </a:p>
          <a:p>
            <a:r>
              <a:rPr lang="en-AU" b="0" dirty="0">
                <a:solidFill>
                  <a:srgbClr val="CE9178"/>
                </a:solidFill>
                <a:effectLst/>
                <a:latin typeface="Menlo" panose="020B0609030804020204" pitchFamily="49" charset="0"/>
              </a:rPr>
              <a:t>	"header"</a:t>
            </a:r>
            <a:r>
              <a:rPr lang="en-AU" b="0" dirty="0">
                <a:solidFill>
                  <a:srgbClr val="D4D4D4"/>
                </a:solidFill>
                <a:effectLst/>
                <a:latin typeface="Menlo" panose="020B0609030804020204" pitchFamily="49" charset="0"/>
              </a:rPr>
              <a:t>;</a:t>
            </a:r>
          </a:p>
          <a:p>
            <a:r>
              <a:rPr lang="en-AU"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1419723"/>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480846" y="776228"/>
            <a:ext cx="6466491" cy="921254"/>
          </a:xfrm>
        </p:spPr>
        <p:txBody>
          <a:bodyPr>
            <a:normAutofit/>
          </a:bodyPr>
          <a:lstStyle/>
          <a:p>
            <a:r>
              <a:rPr lang="en-AU" b="1" dirty="0"/>
              <a:t>Grid Naming - Example</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480846" y="1840910"/>
            <a:ext cx="6466491" cy="4220811"/>
          </a:xfrm>
        </p:spPr>
        <p:txBody>
          <a:bodyPr>
            <a:normAutofit fontScale="62500" lnSpcReduction="20000"/>
          </a:bodyPr>
          <a:lstStyle/>
          <a:p>
            <a:pPr>
              <a:buFont typeface="Arial" panose="020B0604020202020204" pitchFamily="34" charset="0"/>
              <a:buChar char="•"/>
            </a:pPr>
            <a:r>
              <a:rPr lang="en-AU" b="1" i="1" dirty="0">
                <a:solidFill>
                  <a:schemeClr val="accent3"/>
                </a:solidFill>
              </a:rPr>
              <a:t>grid-template-columns: 1fr </a:t>
            </a:r>
            <a:r>
              <a:rPr lang="en-AU" dirty="0">
                <a:solidFill>
                  <a:schemeClr val="tx1"/>
                </a:solidFill>
              </a:rPr>
              <a:t>to create one column </a:t>
            </a:r>
          </a:p>
          <a:p>
            <a:pPr>
              <a:buFont typeface="Arial" panose="020B0604020202020204" pitchFamily="34" charset="0"/>
              <a:buChar char="•"/>
            </a:pPr>
            <a:r>
              <a:rPr lang="en-AU" b="1" i="1" dirty="0">
                <a:solidFill>
                  <a:schemeClr val="accent3"/>
                </a:solidFill>
              </a:rPr>
              <a:t>grid-template-rows: repeat(3, 100px): </a:t>
            </a:r>
            <a:r>
              <a:rPr lang="en-AU" dirty="0">
                <a:solidFill>
                  <a:schemeClr val="tx1"/>
                </a:solidFill>
              </a:rPr>
              <a:t>defines 3 rows, each with a fixed height of 100px.</a:t>
            </a:r>
          </a:p>
          <a:p>
            <a:pPr>
              <a:buFont typeface="Arial" panose="020B0604020202020204" pitchFamily="34" charset="0"/>
              <a:buChar char="•"/>
            </a:pPr>
            <a:r>
              <a:rPr lang="en-AU" b="1" i="1" dirty="0">
                <a:solidFill>
                  <a:schemeClr val="accent3"/>
                </a:solidFill>
              </a:rPr>
              <a:t>grid-template-areas</a:t>
            </a:r>
            <a:r>
              <a:rPr lang="en-AU" b="1" i="1" dirty="0">
                <a:solidFill>
                  <a:schemeClr val="tx1"/>
                </a:solidFill>
              </a:rPr>
              <a:t>:</a:t>
            </a:r>
            <a:r>
              <a:rPr lang="en-AU" dirty="0">
                <a:solidFill>
                  <a:schemeClr val="tx1"/>
                </a:solidFill>
              </a:rPr>
              <a:t> defines named areas for the single column and 3 rows: "header," "main," and "footer.”</a:t>
            </a:r>
          </a:p>
          <a:p>
            <a:pPr>
              <a:buFont typeface="Arial" panose="020B0604020202020204" pitchFamily="34" charset="0"/>
              <a:buChar char="•"/>
            </a:pPr>
            <a:r>
              <a:rPr lang="en-AU" b="1" i="1" dirty="0">
                <a:solidFill>
                  <a:schemeClr val="accent3"/>
                </a:solidFill>
              </a:rPr>
              <a:t>.header, .main, </a:t>
            </a:r>
            <a:r>
              <a:rPr lang="en-AU" dirty="0">
                <a:solidFill>
                  <a:schemeClr val="accent3"/>
                </a:solidFill>
              </a:rPr>
              <a:t>and </a:t>
            </a:r>
            <a:r>
              <a:rPr lang="en-AU" b="1" i="1" dirty="0">
                <a:solidFill>
                  <a:schemeClr val="accent3"/>
                </a:solidFill>
              </a:rPr>
              <a:t>.footer </a:t>
            </a:r>
            <a:r>
              <a:rPr lang="en-AU" dirty="0">
                <a:solidFill>
                  <a:schemeClr val="tx1"/>
                </a:solidFill>
              </a:rPr>
              <a:t>classes are used to name the grid areas.</a:t>
            </a:r>
          </a:p>
          <a:p>
            <a:pPr>
              <a:buFont typeface="Arial" panose="020B0604020202020204" pitchFamily="34" charset="0"/>
              <a:buChar char="•"/>
            </a:pPr>
            <a:r>
              <a:rPr lang="en-AU" b="1" i="1" dirty="0">
                <a:solidFill>
                  <a:schemeClr val="accent3"/>
                </a:solidFill>
              </a:rPr>
              <a:t>grid-area:</a:t>
            </a:r>
            <a:r>
              <a:rPr lang="en-AU" dirty="0">
                <a:solidFill>
                  <a:schemeClr val="tx1"/>
                </a:solidFill>
              </a:rPr>
              <a:t> property is used to place each item</a:t>
            </a:r>
          </a:p>
        </p:txBody>
      </p:sp>
      <p:sp>
        <p:nvSpPr>
          <p:cNvPr id="4" name="TextBox 3">
            <a:extLst>
              <a:ext uri="{FF2B5EF4-FFF2-40B4-BE49-F238E27FC236}">
                <a16:creationId xmlns:a16="http://schemas.microsoft.com/office/drawing/2014/main" id="{0676150F-AEB1-31B7-9EDB-408711AF0623}"/>
              </a:ext>
            </a:extLst>
          </p:cNvPr>
          <p:cNvSpPr txBox="1"/>
          <p:nvPr/>
        </p:nvSpPr>
        <p:spPr>
          <a:xfrm>
            <a:off x="6947337" y="632799"/>
            <a:ext cx="5013435" cy="5755422"/>
          </a:xfrm>
          <a:prstGeom prst="rect">
            <a:avLst/>
          </a:prstGeom>
          <a:noFill/>
        </p:spPr>
        <p:txBody>
          <a:bodyPr wrap="square">
            <a:spAutoFit/>
          </a:bodyPr>
          <a:lstStyle/>
          <a:p>
            <a:r>
              <a:rPr lang="en-AU" sz="1600" b="0" dirty="0">
                <a:solidFill>
                  <a:srgbClr val="6A9955"/>
                </a:solidFill>
                <a:effectLst/>
                <a:latin typeface="Menlo" panose="020B0609030804020204" pitchFamily="49" charset="0"/>
              </a:rPr>
              <a:t>/* Grid Container */</a:t>
            </a:r>
            <a:endParaRPr lang="en-AU" sz="1600" b="0" dirty="0">
              <a:solidFill>
                <a:srgbClr val="D4D4D4"/>
              </a:solidFill>
              <a:effectLst/>
              <a:latin typeface="Menlo" panose="020B0609030804020204" pitchFamily="49" charset="0"/>
            </a:endParaRPr>
          </a:p>
          <a:p>
            <a:r>
              <a:rPr lang="en-AU" sz="1600" b="0" dirty="0">
                <a:solidFill>
                  <a:srgbClr val="D7BA7D"/>
                </a:solidFill>
                <a:effectLst/>
                <a:latin typeface="Menlo" panose="020B0609030804020204" pitchFamily="49" charset="0"/>
              </a:rPr>
              <a:t>.grid-container</a:t>
            </a:r>
            <a:r>
              <a:rPr lang="en-AU" sz="1600" b="0" dirty="0">
                <a:solidFill>
                  <a:srgbClr val="D4D4D4"/>
                </a:solidFill>
                <a:effectLst/>
                <a:latin typeface="Menlo" panose="020B0609030804020204" pitchFamily="49" charset="0"/>
              </a:rPr>
              <a:t> {</a:t>
            </a:r>
          </a:p>
          <a:p>
            <a:r>
              <a:rPr lang="en-AU" sz="1600" b="0" dirty="0">
                <a:solidFill>
                  <a:srgbClr val="9CDCFE"/>
                </a:solidFill>
                <a:effectLst/>
                <a:latin typeface="Menlo" panose="020B0609030804020204" pitchFamily="49" charset="0"/>
              </a:rPr>
              <a:t>	display</a:t>
            </a:r>
            <a:r>
              <a:rPr lang="en-AU" sz="1600" b="0" dirty="0">
                <a:solidFill>
                  <a:srgbClr val="D4D4D4"/>
                </a:solidFill>
                <a:effectLst/>
                <a:latin typeface="Menlo" panose="020B0609030804020204" pitchFamily="49" charset="0"/>
              </a:rPr>
              <a:t>: </a:t>
            </a:r>
            <a:r>
              <a:rPr lang="en-AU" sz="1600" b="0" dirty="0">
                <a:solidFill>
                  <a:srgbClr val="CE9178"/>
                </a:solidFill>
                <a:effectLst/>
                <a:latin typeface="Menlo" panose="020B0609030804020204" pitchFamily="49" charset="0"/>
              </a:rPr>
              <a:t>grid</a:t>
            </a:r>
            <a:r>
              <a:rPr lang="en-AU" sz="1600" b="0" dirty="0">
                <a:solidFill>
                  <a:srgbClr val="D4D4D4"/>
                </a:solidFill>
                <a:effectLst/>
                <a:latin typeface="Menlo" panose="020B0609030804020204" pitchFamily="49" charset="0"/>
              </a:rPr>
              <a:t>;</a:t>
            </a:r>
          </a:p>
          <a:p>
            <a:r>
              <a:rPr lang="en-AU" sz="1600" b="0" dirty="0">
                <a:solidFill>
                  <a:srgbClr val="9CDCFE"/>
                </a:solidFill>
                <a:effectLst/>
                <a:latin typeface="Menlo" panose="020B0609030804020204" pitchFamily="49" charset="0"/>
              </a:rPr>
              <a:t>	grid-template-columns</a:t>
            </a:r>
            <a:r>
              <a:rPr lang="en-AU" sz="1600" b="0" dirty="0">
                <a:solidFill>
                  <a:srgbClr val="D4D4D4"/>
                </a:solidFill>
                <a:effectLst/>
                <a:latin typeface="Menlo" panose="020B0609030804020204" pitchFamily="49" charset="0"/>
              </a:rPr>
              <a:t>: </a:t>
            </a:r>
            <a:r>
              <a:rPr lang="en-AU" sz="1600" b="0" dirty="0">
                <a:solidFill>
                  <a:srgbClr val="B5CEA8"/>
                </a:solidFill>
                <a:effectLst/>
                <a:latin typeface="Menlo" panose="020B0609030804020204" pitchFamily="49" charset="0"/>
              </a:rPr>
              <a:t>1fr</a:t>
            </a:r>
            <a:r>
              <a:rPr lang="en-AU" sz="1600" b="0" dirty="0">
                <a:solidFill>
                  <a:srgbClr val="D4D4D4"/>
                </a:solidFill>
                <a:effectLst/>
                <a:latin typeface="Menlo" panose="020B0609030804020204" pitchFamily="49" charset="0"/>
              </a:rPr>
              <a:t>;</a:t>
            </a:r>
          </a:p>
          <a:p>
            <a:r>
              <a:rPr lang="en-AU" sz="1600" b="0" dirty="0">
                <a:solidFill>
                  <a:srgbClr val="9CDCFE"/>
                </a:solidFill>
                <a:effectLst/>
                <a:latin typeface="Menlo" panose="020B0609030804020204" pitchFamily="49" charset="0"/>
              </a:rPr>
              <a:t>	grid-template-rows</a:t>
            </a:r>
            <a:r>
              <a:rPr lang="en-AU" sz="1600" b="0" dirty="0">
                <a:solidFill>
                  <a:srgbClr val="D4D4D4"/>
                </a:solidFill>
                <a:effectLst/>
                <a:latin typeface="Menlo" panose="020B0609030804020204" pitchFamily="49" charset="0"/>
              </a:rPr>
              <a:t>: </a:t>
            </a:r>
            <a:r>
              <a:rPr lang="en-AU" sz="1600" b="0" dirty="0">
                <a:solidFill>
                  <a:srgbClr val="DCDCAA"/>
                </a:solidFill>
                <a:effectLst/>
                <a:latin typeface="Menlo" panose="020B0609030804020204" pitchFamily="49" charset="0"/>
              </a:rPr>
              <a:t>repeat</a:t>
            </a:r>
            <a:r>
              <a:rPr lang="en-AU" sz="1600" b="0" dirty="0">
                <a:solidFill>
                  <a:srgbClr val="D4D4D4"/>
                </a:solidFill>
                <a:effectLst/>
                <a:latin typeface="Menlo" panose="020B0609030804020204" pitchFamily="49" charset="0"/>
              </a:rPr>
              <a:t>(</a:t>
            </a:r>
            <a:r>
              <a:rPr lang="en-AU" sz="1600" b="0" dirty="0">
                <a:solidFill>
                  <a:srgbClr val="B5CEA8"/>
                </a:solidFill>
                <a:effectLst/>
                <a:latin typeface="Menlo" panose="020B0609030804020204" pitchFamily="49" charset="0"/>
              </a:rPr>
              <a:t>3</a:t>
            </a:r>
            <a:r>
              <a:rPr lang="en-AU" sz="1600" b="0" dirty="0">
                <a:solidFill>
                  <a:srgbClr val="D4D4D4"/>
                </a:solidFill>
                <a:effectLst/>
                <a:latin typeface="Menlo" panose="020B0609030804020204" pitchFamily="49" charset="0"/>
              </a:rPr>
              <a:t>,</a:t>
            </a:r>
            <a:r>
              <a:rPr lang="en-AU" sz="1600" b="0" dirty="0">
                <a:solidFill>
                  <a:srgbClr val="B5CEA8"/>
                </a:solidFill>
                <a:effectLst/>
                <a:latin typeface="Menlo" panose="020B0609030804020204" pitchFamily="49" charset="0"/>
              </a:rPr>
              <a:t>100px</a:t>
            </a:r>
            <a:r>
              <a:rPr lang="en-AU" sz="1600" b="0" dirty="0">
                <a:solidFill>
                  <a:srgbClr val="D4D4D4"/>
                </a:solidFill>
                <a:effectLst/>
                <a:latin typeface="Menlo" panose="020B0609030804020204" pitchFamily="49" charset="0"/>
              </a:rPr>
              <a:t>);</a:t>
            </a:r>
          </a:p>
          <a:p>
            <a:r>
              <a:rPr lang="en-AU" sz="1600" b="0" dirty="0">
                <a:solidFill>
                  <a:srgbClr val="9CDCFE"/>
                </a:solidFill>
                <a:effectLst/>
                <a:latin typeface="Menlo" panose="020B0609030804020204" pitchFamily="49" charset="0"/>
              </a:rPr>
              <a:t>	grid-gap</a:t>
            </a:r>
            <a:r>
              <a:rPr lang="en-AU" sz="1600" b="0" dirty="0">
                <a:solidFill>
                  <a:srgbClr val="D4D4D4"/>
                </a:solidFill>
                <a:effectLst/>
                <a:latin typeface="Menlo" panose="020B0609030804020204" pitchFamily="49" charset="0"/>
              </a:rPr>
              <a:t>: </a:t>
            </a:r>
            <a:r>
              <a:rPr lang="en-AU" sz="1600" b="0" dirty="0">
                <a:solidFill>
                  <a:srgbClr val="B5CEA8"/>
                </a:solidFill>
                <a:effectLst/>
                <a:latin typeface="Menlo" panose="020B0609030804020204" pitchFamily="49" charset="0"/>
              </a:rPr>
              <a:t>10px</a:t>
            </a:r>
            <a:r>
              <a:rPr lang="en-AU" sz="1600" b="0" dirty="0">
                <a:solidFill>
                  <a:srgbClr val="D4D4D4"/>
                </a:solidFill>
                <a:effectLst/>
                <a:latin typeface="Menlo" panose="020B0609030804020204" pitchFamily="49" charset="0"/>
              </a:rPr>
              <a:t>;</a:t>
            </a:r>
          </a:p>
          <a:p>
            <a:r>
              <a:rPr lang="en-AU" sz="1600" b="0" dirty="0">
                <a:solidFill>
                  <a:srgbClr val="9CDCFE"/>
                </a:solidFill>
                <a:effectLst/>
                <a:latin typeface="Menlo" panose="020B0609030804020204" pitchFamily="49" charset="0"/>
              </a:rPr>
              <a:t>	width</a:t>
            </a:r>
            <a:r>
              <a:rPr lang="en-AU" sz="1600" b="0" dirty="0">
                <a:solidFill>
                  <a:srgbClr val="D4D4D4"/>
                </a:solidFill>
                <a:effectLst/>
                <a:latin typeface="Menlo" panose="020B0609030804020204" pitchFamily="49" charset="0"/>
              </a:rPr>
              <a:t>: </a:t>
            </a:r>
            <a:r>
              <a:rPr lang="en-AU" sz="1600" b="0" dirty="0">
                <a:solidFill>
                  <a:srgbClr val="B5CEA8"/>
                </a:solidFill>
                <a:effectLst/>
                <a:latin typeface="Menlo" panose="020B0609030804020204" pitchFamily="49" charset="0"/>
              </a:rPr>
              <a:t>300px</a:t>
            </a:r>
            <a:r>
              <a:rPr lang="en-AU" sz="1600" b="0" dirty="0">
                <a:solidFill>
                  <a:srgbClr val="D4D4D4"/>
                </a:solidFill>
                <a:effectLst/>
                <a:latin typeface="Menlo" panose="020B0609030804020204" pitchFamily="49" charset="0"/>
              </a:rPr>
              <a:t>;</a:t>
            </a:r>
          </a:p>
          <a:p>
            <a:r>
              <a:rPr lang="en-AU" sz="1600" b="0" dirty="0">
                <a:solidFill>
                  <a:srgbClr val="9CDCFE"/>
                </a:solidFill>
                <a:effectLst/>
                <a:latin typeface="Menlo" panose="020B0609030804020204" pitchFamily="49" charset="0"/>
              </a:rPr>
              <a:t>	grid-template-areas</a:t>
            </a:r>
            <a:r>
              <a:rPr lang="en-AU" sz="1600" b="0" dirty="0">
                <a:solidFill>
                  <a:srgbClr val="D4D4D4"/>
                </a:solidFill>
                <a:effectLst/>
                <a:latin typeface="Menlo" panose="020B0609030804020204" pitchFamily="49" charset="0"/>
              </a:rPr>
              <a:t>:</a:t>
            </a:r>
          </a:p>
          <a:p>
            <a:r>
              <a:rPr lang="en-AU" sz="1600" b="0" dirty="0">
                <a:solidFill>
                  <a:srgbClr val="CE9178"/>
                </a:solidFill>
                <a:effectLst/>
                <a:latin typeface="Menlo" panose="020B0609030804020204" pitchFamily="49" charset="0"/>
              </a:rPr>
              <a:t>		"header"</a:t>
            </a:r>
            <a:endParaRPr lang="en-AU" sz="1600" b="0" dirty="0">
              <a:solidFill>
                <a:srgbClr val="D4D4D4"/>
              </a:solidFill>
              <a:effectLst/>
              <a:latin typeface="Menlo" panose="020B0609030804020204" pitchFamily="49" charset="0"/>
            </a:endParaRPr>
          </a:p>
          <a:p>
            <a:r>
              <a:rPr lang="en-AU" sz="1600" b="0" dirty="0">
                <a:solidFill>
                  <a:srgbClr val="CE9178"/>
                </a:solidFill>
                <a:effectLst/>
                <a:latin typeface="Menlo" panose="020B0609030804020204" pitchFamily="49" charset="0"/>
              </a:rPr>
              <a:t>		"main"</a:t>
            </a:r>
            <a:endParaRPr lang="en-AU" sz="1600" b="0" dirty="0">
              <a:solidFill>
                <a:srgbClr val="D4D4D4"/>
              </a:solidFill>
              <a:effectLst/>
              <a:latin typeface="Menlo" panose="020B0609030804020204" pitchFamily="49" charset="0"/>
            </a:endParaRPr>
          </a:p>
          <a:p>
            <a:r>
              <a:rPr lang="en-AU" sz="1600" b="0" dirty="0">
                <a:solidFill>
                  <a:srgbClr val="CE9178"/>
                </a:solidFill>
                <a:effectLst/>
                <a:latin typeface="Menlo" panose="020B0609030804020204" pitchFamily="49" charset="0"/>
              </a:rPr>
              <a:t>		"footer"</a:t>
            </a:r>
            <a:r>
              <a:rPr lang="en-AU" sz="1600" b="0" dirty="0">
                <a:solidFill>
                  <a:srgbClr val="D4D4D4"/>
                </a:solidFill>
                <a:effectLst/>
                <a:latin typeface="Menlo" panose="020B0609030804020204" pitchFamily="49" charset="0"/>
              </a:rPr>
              <a:t>;</a:t>
            </a:r>
          </a:p>
          <a:p>
            <a:r>
              <a:rPr lang="en-AU" sz="1600" b="0" dirty="0">
                <a:solidFill>
                  <a:srgbClr val="D4D4D4"/>
                </a:solidFill>
                <a:effectLst/>
                <a:latin typeface="Menlo" panose="020B0609030804020204" pitchFamily="49" charset="0"/>
              </a:rPr>
              <a:t>}</a:t>
            </a:r>
          </a:p>
          <a:p>
            <a:r>
              <a:rPr lang="en-AU" sz="1600" b="0" dirty="0">
                <a:solidFill>
                  <a:srgbClr val="6A9955"/>
                </a:solidFill>
                <a:effectLst/>
                <a:latin typeface="Menlo" panose="020B0609030804020204" pitchFamily="49" charset="0"/>
              </a:rPr>
              <a:t>/* Naming Grid Areas &amp; place items*/</a:t>
            </a:r>
            <a:endParaRPr lang="en-AU" sz="1600" b="0" dirty="0">
              <a:solidFill>
                <a:srgbClr val="D4D4D4"/>
              </a:solidFill>
              <a:effectLst/>
              <a:latin typeface="Menlo" panose="020B0609030804020204" pitchFamily="49" charset="0"/>
            </a:endParaRPr>
          </a:p>
          <a:p>
            <a:r>
              <a:rPr lang="en-AU" sz="1600" b="0" dirty="0">
                <a:solidFill>
                  <a:srgbClr val="D7BA7D"/>
                </a:solidFill>
                <a:effectLst/>
                <a:latin typeface="Menlo" panose="020B0609030804020204" pitchFamily="49" charset="0"/>
              </a:rPr>
              <a:t>.header</a:t>
            </a:r>
            <a:r>
              <a:rPr lang="en-AU" sz="1600" b="0" dirty="0">
                <a:solidFill>
                  <a:srgbClr val="D4D4D4"/>
                </a:solidFill>
                <a:effectLst/>
                <a:latin typeface="Menlo" panose="020B0609030804020204" pitchFamily="49" charset="0"/>
              </a:rPr>
              <a:t> {</a:t>
            </a:r>
          </a:p>
          <a:p>
            <a:r>
              <a:rPr lang="en-AU" sz="1600" b="0" dirty="0">
                <a:solidFill>
                  <a:srgbClr val="9CDCFE"/>
                </a:solidFill>
                <a:effectLst/>
                <a:latin typeface="Menlo" panose="020B0609030804020204" pitchFamily="49" charset="0"/>
              </a:rPr>
              <a:t>	grid-area</a:t>
            </a:r>
            <a:r>
              <a:rPr lang="en-AU" sz="1600" b="0" dirty="0">
                <a:solidFill>
                  <a:srgbClr val="D4D4D4"/>
                </a:solidFill>
                <a:effectLst/>
                <a:latin typeface="Menlo" panose="020B0609030804020204" pitchFamily="49" charset="0"/>
              </a:rPr>
              <a:t>: header;</a:t>
            </a:r>
          </a:p>
          <a:p>
            <a:r>
              <a:rPr lang="en-AU" sz="1600" b="0" dirty="0">
                <a:solidFill>
                  <a:srgbClr val="D4D4D4"/>
                </a:solidFill>
                <a:effectLst/>
                <a:latin typeface="Menlo" panose="020B0609030804020204" pitchFamily="49" charset="0"/>
              </a:rPr>
              <a:t>}</a:t>
            </a:r>
          </a:p>
          <a:p>
            <a:r>
              <a:rPr lang="en-AU" sz="1600" b="0" dirty="0">
                <a:solidFill>
                  <a:srgbClr val="D7BA7D"/>
                </a:solidFill>
                <a:effectLst/>
                <a:latin typeface="Menlo" panose="020B0609030804020204" pitchFamily="49" charset="0"/>
              </a:rPr>
              <a:t>.main</a:t>
            </a:r>
            <a:r>
              <a:rPr lang="en-AU" sz="1600" b="0" dirty="0">
                <a:solidFill>
                  <a:srgbClr val="D4D4D4"/>
                </a:solidFill>
                <a:effectLst/>
                <a:latin typeface="Menlo" panose="020B0609030804020204" pitchFamily="49" charset="0"/>
              </a:rPr>
              <a:t> {</a:t>
            </a:r>
          </a:p>
          <a:p>
            <a:r>
              <a:rPr lang="en-AU" sz="1600" b="0" dirty="0">
                <a:solidFill>
                  <a:srgbClr val="9CDCFE"/>
                </a:solidFill>
                <a:effectLst/>
                <a:latin typeface="Menlo" panose="020B0609030804020204" pitchFamily="49" charset="0"/>
              </a:rPr>
              <a:t>	grid-area</a:t>
            </a:r>
            <a:r>
              <a:rPr lang="en-AU" sz="1600" b="0" dirty="0">
                <a:solidFill>
                  <a:srgbClr val="D4D4D4"/>
                </a:solidFill>
                <a:effectLst/>
                <a:latin typeface="Menlo" panose="020B0609030804020204" pitchFamily="49" charset="0"/>
              </a:rPr>
              <a:t>: main;</a:t>
            </a:r>
          </a:p>
          <a:p>
            <a:r>
              <a:rPr lang="en-AU" sz="1600" b="0" dirty="0">
                <a:solidFill>
                  <a:srgbClr val="D4D4D4"/>
                </a:solidFill>
                <a:effectLst/>
                <a:latin typeface="Menlo" panose="020B0609030804020204" pitchFamily="49" charset="0"/>
              </a:rPr>
              <a:t>}</a:t>
            </a:r>
          </a:p>
          <a:p>
            <a:r>
              <a:rPr lang="en-AU" sz="1600" b="0" dirty="0">
                <a:solidFill>
                  <a:srgbClr val="D7BA7D"/>
                </a:solidFill>
                <a:effectLst/>
                <a:latin typeface="Menlo" panose="020B0609030804020204" pitchFamily="49" charset="0"/>
              </a:rPr>
              <a:t>.footer</a:t>
            </a:r>
            <a:r>
              <a:rPr lang="en-AU" sz="1600" b="0" dirty="0">
                <a:solidFill>
                  <a:srgbClr val="D4D4D4"/>
                </a:solidFill>
                <a:effectLst/>
                <a:latin typeface="Menlo" panose="020B0609030804020204" pitchFamily="49" charset="0"/>
              </a:rPr>
              <a:t> {</a:t>
            </a:r>
          </a:p>
          <a:p>
            <a:r>
              <a:rPr lang="en-AU" sz="1600" b="0" dirty="0">
                <a:solidFill>
                  <a:srgbClr val="9CDCFE"/>
                </a:solidFill>
                <a:effectLst/>
                <a:latin typeface="Menlo" panose="020B0609030804020204" pitchFamily="49" charset="0"/>
              </a:rPr>
              <a:t>	grid-area</a:t>
            </a:r>
            <a:r>
              <a:rPr lang="en-AU" sz="1600" b="0" dirty="0">
                <a:solidFill>
                  <a:srgbClr val="D4D4D4"/>
                </a:solidFill>
                <a:effectLst/>
                <a:latin typeface="Menlo" panose="020B0609030804020204" pitchFamily="49" charset="0"/>
              </a:rPr>
              <a:t>: footer;</a:t>
            </a:r>
          </a:p>
          <a:p>
            <a:r>
              <a:rPr lang="en-AU" sz="1600" b="0" dirty="0">
                <a:solidFill>
                  <a:srgbClr val="D4D4D4"/>
                </a:solidFill>
                <a:effectLst/>
                <a:latin typeface="Menlo" panose="020B0609030804020204" pitchFamily="49" charset="0"/>
              </a:rPr>
              <a:t>}</a:t>
            </a:r>
          </a:p>
          <a:p>
            <a:endParaRPr lang="en-AU" sz="16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1067894906"/>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609600" y="819765"/>
            <a:ext cx="10515600" cy="921254"/>
          </a:xfrm>
        </p:spPr>
        <p:txBody>
          <a:bodyPr>
            <a:normAutofit/>
          </a:bodyPr>
          <a:lstStyle/>
          <a:p>
            <a:r>
              <a:rPr lang="en-AU" b="1" dirty="0"/>
              <a:t>Grid Gap - </a:t>
            </a:r>
            <a:r>
              <a:rPr lang="en-AU" dirty="0"/>
              <a:t>spacing or gutter</a:t>
            </a:r>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609600" y="1938819"/>
            <a:ext cx="10636469" cy="4251774"/>
          </a:xfrm>
        </p:spPr>
        <p:txBody>
          <a:bodyPr>
            <a:normAutofit fontScale="85000" lnSpcReduction="10000"/>
          </a:bodyPr>
          <a:lstStyle/>
          <a:p>
            <a:r>
              <a:rPr lang="en-AU" b="1" i="1" dirty="0"/>
              <a:t>grid-gap</a:t>
            </a:r>
            <a:r>
              <a:rPr lang="en-AU" dirty="0"/>
              <a:t> property sets the gap between rows and columns </a:t>
            </a:r>
          </a:p>
          <a:p>
            <a:r>
              <a:rPr lang="en-AU" dirty="0"/>
              <a:t>shorthand property that combines </a:t>
            </a:r>
            <a:r>
              <a:rPr lang="en-AU" b="1" i="1" dirty="0"/>
              <a:t>grid-row-gap </a:t>
            </a:r>
            <a:r>
              <a:rPr lang="en-AU" dirty="0"/>
              <a:t>and </a:t>
            </a:r>
            <a:r>
              <a:rPr lang="en-AU" b="1" i="1" dirty="0"/>
              <a:t>grid-column-gap</a:t>
            </a:r>
            <a:r>
              <a:rPr lang="en-AU" dirty="0"/>
              <a:t>.</a:t>
            </a:r>
          </a:p>
          <a:p>
            <a:r>
              <a:rPr lang="en-AU" dirty="0"/>
              <a:t>use units like </a:t>
            </a:r>
            <a:r>
              <a:rPr lang="en-AU" b="1" i="1" dirty="0" err="1"/>
              <a:t>px</a:t>
            </a:r>
            <a:r>
              <a:rPr lang="en-AU" b="1" i="1" dirty="0"/>
              <a:t> or % </a:t>
            </a:r>
            <a:r>
              <a:rPr lang="en-AU" dirty="0"/>
              <a:t>to define the gap size. </a:t>
            </a:r>
          </a:p>
          <a:p>
            <a:r>
              <a:rPr lang="en-AU" dirty="0"/>
              <a:t>use flexible units like </a:t>
            </a:r>
            <a:r>
              <a:rPr lang="en-AU" b="1" i="1" dirty="0" err="1"/>
              <a:t>em</a:t>
            </a:r>
            <a:r>
              <a:rPr lang="en-AU" dirty="0"/>
              <a:t> for relative sizing</a:t>
            </a:r>
          </a:p>
          <a:p>
            <a:r>
              <a:rPr lang="en-AU" b="1" i="1" dirty="0"/>
              <a:t>grid-row-gap</a:t>
            </a:r>
            <a:r>
              <a:rPr lang="en-AU" dirty="0"/>
              <a:t> property sets the gap between rows</a:t>
            </a:r>
          </a:p>
          <a:p>
            <a:r>
              <a:rPr lang="en-AU" b="1" i="1" dirty="0"/>
              <a:t>grid-column-gap</a:t>
            </a:r>
            <a:r>
              <a:rPr lang="en-AU" dirty="0"/>
              <a:t> property sets the gap between columns</a:t>
            </a:r>
          </a:p>
        </p:txBody>
      </p:sp>
    </p:spTree>
    <p:extLst>
      <p:ext uri="{BB962C8B-B14F-4D97-AF65-F5344CB8AC3E}">
        <p14:creationId xmlns:p14="http://schemas.microsoft.com/office/powerpoint/2010/main" val="2829187425"/>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B17ECD-AE64-5454-AD99-83393CBAD83A}"/>
              </a:ext>
            </a:extLst>
          </p:cNvPr>
          <p:cNvSpPr>
            <a:spLocks noGrp="1"/>
          </p:cNvSpPr>
          <p:nvPr>
            <p:ph type="title"/>
          </p:nvPr>
        </p:nvSpPr>
        <p:spPr>
          <a:xfrm>
            <a:off x="480846" y="776228"/>
            <a:ext cx="6466491" cy="921254"/>
          </a:xfrm>
        </p:spPr>
        <p:txBody>
          <a:bodyPr>
            <a:normAutofit/>
          </a:bodyPr>
          <a:lstStyle/>
          <a:p>
            <a:r>
              <a:rPr lang="en-AU" b="1" dirty="0"/>
              <a:t>Grid Gap - Example</a:t>
            </a:r>
            <a:endParaRPr lang="en-AU" dirty="0"/>
          </a:p>
        </p:txBody>
      </p:sp>
      <p:sp>
        <p:nvSpPr>
          <p:cNvPr id="5" name="Content Placeholder 4">
            <a:extLst>
              <a:ext uri="{FF2B5EF4-FFF2-40B4-BE49-F238E27FC236}">
                <a16:creationId xmlns:a16="http://schemas.microsoft.com/office/drawing/2014/main" id="{0B2E595D-3841-6E9F-80CA-E7B55CE0B6A2}"/>
              </a:ext>
            </a:extLst>
          </p:cNvPr>
          <p:cNvSpPr>
            <a:spLocks noGrp="1"/>
          </p:cNvSpPr>
          <p:nvPr>
            <p:ph idx="1"/>
          </p:nvPr>
        </p:nvSpPr>
        <p:spPr>
          <a:xfrm>
            <a:off x="480846" y="1840910"/>
            <a:ext cx="6466491" cy="4220811"/>
          </a:xfrm>
        </p:spPr>
        <p:txBody>
          <a:bodyPr>
            <a:normAutofit/>
          </a:bodyPr>
          <a:lstStyle/>
          <a:p>
            <a:pPr>
              <a:buFont typeface="Arial" panose="020B0604020202020204" pitchFamily="34" charset="0"/>
              <a:buChar char="•"/>
            </a:pPr>
            <a:r>
              <a:rPr lang="en-AU" sz="3200" b="1" i="1" dirty="0">
                <a:solidFill>
                  <a:schemeClr val="accent3"/>
                </a:solidFill>
              </a:rPr>
              <a:t>.grid-container </a:t>
            </a:r>
            <a:r>
              <a:rPr lang="en-AU" sz="3200" dirty="0"/>
              <a:t>class creates a grid container with three columns and two rows. </a:t>
            </a:r>
          </a:p>
          <a:p>
            <a:pPr>
              <a:buFont typeface="Arial" panose="020B0604020202020204" pitchFamily="34" charset="0"/>
              <a:buChar char="•"/>
            </a:pPr>
            <a:r>
              <a:rPr lang="en-AU" sz="3200" b="1" i="1" dirty="0">
                <a:solidFill>
                  <a:schemeClr val="accent3"/>
                </a:solidFill>
              </a:rPr>
              <a:t>grid-column-gap</a:t>
            </a:r>
            <a:r>
              <a:rPr lang="en-AU" sz="3200" dirty="0"/>
              <a:t> property adds a 20px gap between columns</a:t>
            </a:r>
          </a:p>
          <a:p>
            <a:pPr>
              <a:buFont typeface="Arial" panose="020B0604020202020204" pitchFamily="34" charset="0"/>
              <a:buChar char="•"/>
            </a:pPr>
            <a:r>
              <a:rPr lang="en-AU" sz="3200" b="1" i="1" dirty="0">
                <a:solidFill>
                  <a:schemeClr val="accent3"/>
                </a:solidFill>
              </a:rPr>
              <a:t>grid-row-gap</a:t>
            </a:r>
            <a:r>
              <a:rPr lang="en-AU" sz="3200" dirty="0"/>
              <a:t> property adds a 10px gap between rows.</a:t>
            </a:r>
          </a:p>
        </p:txBody>
      </p:sp>
      <p:sp>
        <p:nvSpPr>
          <p:cNvPr id="2" name="TextBox 1">
            <a:extLst>
              <a:ext uri="{FF2B5EF4-FFF2-40B4-BE49-F238E27FC236}">
                <a16:creationId xmlns:a16="http://schemas.microsoft.com/office/drawing/2014/main" id="{AE697FE9-3AB6-ED7F-349C-B6969604332E}"/>
              </a:ext>
            </a:extLst>
          </p:cNvPr>
          <p:cNvSpPr txBox="1"/>
          <p:nvPr/>
        </p:nvSpPr>
        <p:spPr>
          <a:xfrm>
            <a:off x="7175937" y="1840910"/>
            <a:ext cx="4774325" cy="3693319"/>
          </a:xfrm>
          <a:prstGeom prst="rect">
            <a:avLst/>
          </a:prstGeom>
          <a:noFill/>
        </p:spPr>
        <p:txBody>
          <a:bodyPr wrap="square">
            <a:spAutoFit/>
          </a:bodyPr>
          <a:lstStyle/>
          <a:p>
            <a:r>
              <a:rPr lang="en-AU" b="0" dirty="0">
                <a:solidFill>
                  <a:srgbClr val="6A9955"/>
                </a:solidFill>
                <a:effectLst/>
                <a:latin typeface="Menlo" panose="020B0609030804020204" pitchFamily="49" charset="0"/>
              </a:rPr>
              <a:t>/* Grid Container */</a:t>
            </a:r>
            <a:endParaRPr lang="en-AU" b="0" dirty="0">
              <a:solidFill>
                <a:srgbClr val="D4D4D4"/>
              </a:solidFill>
              <a:effectLst/>
              <a:latin typeface="Menlo" panose="020B0609030804020204" pitchFamily="49" charset="0"/>
            </a:endParaRPr>
          </a:p>
          <a:p>
            <a:r>
              <a:rPr lang="en-AU" b="0" dirty="0">
                <a:solidFill>
                  <a:srgbClr val="D7BA7D"/>
                </a:solidFill>
                <a:effectLst/>
                <a:latin typeface="Menlo" panose="020B0609030804020204" pitchFamily="49" charset="0"/>
              </a:rPr>
              <a:t>.grid-container</a:t>
            </a:r>
            <a:r>
              <a:rPr lang="en-AU" b="0" dirty="0">
                <a:solidFill>
                  <a:srgbClr val="D4D4D4"/>
                </a:solidFill>
                <a:effectLst/>
                <a:latin typeface="Menlo" panose="020B0609030804020204" pitchFamily="49" charset="0"/>
              </a:rPr>
              <a:t> {</a:t>
            </a:r>
          </a:p>
          <a:p>
            <a:r>
              <a:rPr lang="en-AU" b="0" dirty="0">
                <a:solidFill>
                  <a:srgbClr val="9CDCFE"/>
                </a:solidFill>
                <a:effectLst/>
                <a:latin typeface="Menlo" panose="020B0609030804020204" pitchFamily="49" charset="0"/>
              </a:rPr>
              <a:t>	display</a:t>
            </a:r>
            <a:r>
              <a:rPr lang="en-AU" b="0" dirty="0">
                <a:solidFill>
                  <a:srgbClr val="D4D4D4"/>
                </a:solidFill>
                <a:effectLst/>
                <a:latin typeface="Menlo" panose="020B0609030804020204" pitchFamily="49" charset="0"/>
              </a:rPr>
              <a:t>: </a:t>
            </a:r>
            <a:r>
              <a:rPr lang="en-AU" b="0" dirty="0">
                <a:solidFill>
                  <a:srgbClr val="CE9178"/>
                </a:solidFill>
                <a:effectLst/>
                <a:latin typeface="Menlo" panose="020B0609030804020204" pitchFamily="49" charset="0"/>
              </a:rPr>
              <a:t>grid</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grid-template-columns</a:t>
            </a:r>
            <a:r>
              <a:rPr lang="en-AU" b="0" dirty="0">
                <a:solidFill>
                  <a:srgbClr val="D4D4D4"/>
                </a:solidFill>
                <a:effectLst/>
                <a:latin typeface="Menlo" panose="020B0609030804020204" pitchFamily="49" charset="0"/>
              </a:rPr>
              <a:t>: 		</a:t>
            </a:r>
            <a:r>
              <a:rPr lang="en-AU" b="0" dirty="0">
                <a:solidFill>
                  <a:srgbClr val="DCDCAA"/>
                </a:solidFill>
                <a:effectLst/>
                <a:latin typeface="Menlo" panose="020B0609030804020204" pitchFamily="49" charset="0"/>
              </a:rPr>
              <a:t>repeat</a:t>
            </a:r>
            <a:r>
              <a:rPr lang="en-AU" b="0" dirty="0">
                <a:solidFill>
                  <a:srgbClr val="D4D4D4"/>
                </a:solidFill>
                <a:effectLst/>
                <a:latin typeface="Menlo" panose="020B0609030804020204" pitchFamily="49" charset="0"/>
              </a:rPr>
              <a:t>(</a:t>
            </a:r>
            <a:r>
              <a:rPr lang="en-AU" b="0" dirty="0">
                <a:solidFill>
                  <a:srgbClr val="B5CEA8"/>
                </a:solidFill>
                <a:effectLst/>
                <a:latin typeface="Menlo" panose="020B0609030804020204" pitchFamily="49" charset="0"/>
              </a:rPr>
              <a:t>3</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1fr</a:t>
            </a:r>
            <a:r>
              <a:rPr lang="en-AU" b="0" dirty="0">
                <a:solidFill>
                  <a:srgbClr val="D4D4D4"/>
                </a:solidFill>
                <a:effectLst/>
                <a:latin typeface="Menlo" panose="020B0609030804020204" pitchFamily="49" charset="0"/>
              </a:rPr>
              <a:t>);</a:t>
            </a:r>
          </a:p>
          <a:p>
            <a:r>
              <a:rPr lang="en-AU" b="0" dirty="0">
                <a:solidFill>
                  <a:srgbClr val="9CDCFE"/>
                </a:solidFill>
                <a:effectLst/>
                <a:latin typeface="Menlo" panose="020B0609030804020204" pitchFamily="49" charset="0"/>
              </a:rPr>
              <a:t>	grid-template-rows</a:t>
            </a:r>
            <a:r>
              <a:rPr lang="en-AU" b="0" dirty="0">
                <a:solidFill>
                  <a:srgbClr val="D4D4D4"/>
                </a:solidFill>
                <a:effectLst/>
                <a:latin typeface="Menlo" panose="020B0609030804020204" pitchFamily="49" charset="0"/>
              </a:rPr>
              <a:t>: 		</a:t>
            </a:r>
            <a:r>
              <a:rPr lang="en-AU" b="0" dirty="0">
                <a:solidFill>
                  <a:srgbClr val="DCDCAA"/>
                </a:solidFill>
                <a:effectLst/>
                <a:latin typeface="Menlo" panose="020B0609030804020204" pitchFamily="49" charset="0"/>
              </a:rPr>
              <a:t>repeat</a:t>
            </a:r>
            <a:r>
              <a:rPr lang="en-AU" b="0" dirty="0">
                <a:solidFill>
                  <a:srgbClr val="D4D4D4"/>
                </a:solidFill>
                <a:effectLst/>
                <a:latin typeface="Menlo" panose="020B0609030804020204" pitchFamily="49" charset="0"/>
              </a:rPr>
              <a:t>(</a:t>
            </a:r>
            <a:r>
              <a:rPr lang="en-AU" b="0" dirty="0">
                <a:solidFill>
                  <a:srgbClr val="B5CEA8"/>
                </a:solidFill>
                <a:effectLst/>
                <a:latin typeface="Menlo" panose="020B0609030804020204" pitchFamily="49" charset="0"/>
              </a:rPr>
              <a:t>2</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100px</a:t>
            </a:r>
            <a:r>
              <a:rPr lang="en-AU" b="0" dirty="0">
                <a:solidFill>
                  <a:srgbClr val="D4D4D4"/>
                </a:solidFill>
                <a:effectLst/>
                <a:latin typeface="Menlo" panose="020B0609030804020204" pitchFamily="49" charset="0"/>
              </a:rPr>
              <a:t>);</a:t>
            </a:r>
          </a:p>
          <a:p>
            <a:r>
              <a:rPr lang="en-AU" b="0" dirty="0">
                <a:solidFill>
                  <a:srgbClr val="6A9955"/>
                </a:solidFill>
                <a:effectLst/>
                <a:latin typeface="Menlo" panose="020B0609030804020204" pitchFamily="49" charset="0"/>
              </a:rPr>
              <a:t>	/* Gap between columns */</a:t>
            </a:r>
            <a:endParaRPr lang="en-AU" b="0" dirty="0">
              <a:solidFill>
                <a:srgbClr val="D4D4D4"/>
              </a:solidFill>
              <a:effectLst/>
              <a:latin typeface="Menlo" panose="020B0609030804020204" pitchFamily="49" charset="0"/>
            </a:endParaRPr>
          </a:p>
          <a:p>
            <a:r>
              <a:rPr lang="en-AU" b="0" dirty="0">
                <a:solidFill>
                  <a:srgbClr val="9CDCFE"/>
                </a:solidFill>
                <a:effectLst/>
                <a:latin typeface="Menlo" panose="020B0609030804020204" pitchFamily="49" charset="0"/>
              </a:rPr>
              <a:t>	grid-column-gap</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20px</a:t>
            </a:r>
            <a:r>
              <a:rPr lang="en-AU" b="0" dirty="0">
                <a:solidFill>
                  <a:srgbClr val="D4D4D4"/>
                </a:solidFill>
                <a:effectLst/>
                <a:latin typeface="Menlo" panose="020B0609030804020204" pitchFamily="49" charset="0"/>
              </a:rPr>
              <a:t>; 	</a:t>
            </a:r>
            <a:r>
              <a:rPr lang="en-AU" b="0" dirty="0">
                <a:solidFill>
                  <a:srgbClr val="6A9955"/>
                </a:solidFill>
                <a:effectLst/>
                <a:latin typeface="Menlo" panose="020B0609030804020204" pitchFamily="49" charset="0"/>
              </a:rPr>
              <a:t>	/* Gap between rows */</a:t>
            </a:r>
            <a:endParaRPr lang="en-AU" b="0" dirty="0">
              <a:solidFill>
                <a:srgbClr val="D4D4D4"/>
              </a:solidFill>
              <a:effectLst/>
              <a:latin typeface="Menlo" panose="020B0609030804020204" pitchFamily="49" charset="0"/>
            </a:endParaRPr>
          </a:p>
          <a:p>
            <a:r>
              <a:rPr lang="en-AU" b="0" dirty="0">
                <a:solidFill>
                  <a:srgbClr val="9CDCFE"/>
                </a:solidFill>
                <a:effectLst/>
                <a:latin typeface="Menlo" panose="020B0609030804020204" pitchFamily="49" charset="0"/>
              </a:rPr>
              <a:t>	grid-row-gap</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10px</a:t>
            </a:r>
            <a:r>
              <a:rPr lang="en-AU" b="0" dirty="0">
                <a:solidFill>
                  <a:srgbClr val="D4D4D4"/>
                </a:solidFill>
                <a:effectLst/>
                <a:latin typeface="Menlo" panose="020B0609030804020204" pitchFamily="49" charset="0"/>
              </a:rPr>
              <a:t>; </a:t>
            </a:r>
          </a:p>
          <a:p>
            <a:r>
              <a:rPr lang="en-AU" dirty="0">
                <a:solidFill>
                  <a:srgbClr val="D4D4D4"/>
                </a:solidFill>
                <a:latin typeface="Menlo" panose="020B0609030804020204" pitchFamily="49" charset="0"/>
              </a:rPr>
              <a:t>	</a:t>
            </a:r>
            <a:r>
              <a:rPr lang="en-AU" b="0" dirty="0">
                <a:solidFill>
                  <a:srgbClr val="9CDCFE"/>
                </a:solidFill>
                <a:effectLst/>
                <a:latin typeface="Menlo" panose="020B0609030804020204" pitchFamily="49" charset="0"/>
              </a:rPr>
              <a:t>width</a:t>
            </a:r>
            <a:r>
              <a:rPr lang="en-AU" b="0" dirty="0">
                <a:solidFill>
                  <a:srgbClr val="D4D4D4"/>
                </a:solidFill>
                <a:effectLst/>
                <a:latin typeface="Menlo" panose="020B0609030804020204" pitchFamily="49" charset="0"/>
              </a:rPr>
              <a:t>: </a:t>
            </a:r>
            <a:r>
              <a:rPr lang="en-AU" b="0" dirty="0">
                <a:solidFill>
                  <a:srgbClr val="B5CEA8"/>
                </a:solidFill>
                <a:effectLst/>
                <a:latin typeface="Menlo" panose="020B0609030804020204" pitchFamily="49" charset="0"/>
              </a:rPr>
              <a:t>400px</a:t>
            </a:r>
            <a:r>
              <a:rPr lang="en-AU" b="0" dirty="0">
                <a:solidFill>
                  <a:srgbClr val="D4D4D4"/>
                </a:solidFill>
                <a:effectLst/>
                <a:latin typeface="Menlo" panose="020B0609030804020204" pitchFamily="49" charset="0"/>
              </a:rPr>
              <a:t>;</a:t>
            </a:r>
          </a:p>
          <a:p>
            <a:r>
              <a:rPr lang="en-AU"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122598000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lstStyle/>
          <a:p>
            <a:r>
              <a:rPr lang="en-AU" dirty="0"/>
              <a:t>Challenges – CSS Grid</a:t>
            </a:r>
          </a:p>
        </p:txBody>
      </p:sp>
      <p:sp>
        <p:nvSpPr>
          <p:cNvPr id="3" name="Text Placeholder 2">
            <a:extLst>
              <a:ext uri="{FF2B5EF4-FFF2-40B4-BE49-F238E27FC236}">
                <a16:creationId xmlns:a16="http://schemas.microsoft.com/office/drawing/2014/main" id="{75EF53E9-0170-165B-4CB9-FE94DDF7D754}"/>
              </a:ext>
            </a:extLst>
          </p:cNvPr>
          <p:cNvSpPr>
            <a:spLocks noGrp="1"/>
          </p:cNvSpPr>
          <p:nvPr>
            <p:ph type="body" idx="1"/>
          </p:nvPr>
        </p:nvSpPr>
        <p:spPr/>
        <p:txBody>
          <a:bodyPr/>
          <a:lstStyle/>
          <a:p>
            <a:r>
              <a:rPr lang="en-AU" dirty="0"/>
              <a:t>Complete these challenges as part of your learning and practice</a:t>
            </a:r>
          </a:p>
        </p:txBody>
      </p:sp>
    </p:spTree>
    <p:extLst>
      <p:ext uri="{BB962C8B-B14F-4D97-AF65-F5344CB8AC3E}">
        <p14:creationId xmlns:p14="http://schemas.microsoft.com/office/powerpoint/2010/main" val="1995148465"/>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lstStyle/>
          <a:p>
            <a:r>
              <a:rPr lang="en-AU" b="1" i="0" dirty="0">
                <a:effectLst/>
                <a:latin typeface="Söhne"/>
              </a:rPr>
              <a:t>Challenge 1 – </a:t>
            </a:r>
            <a:r>
              <a:rPr lang="en-AU" b="1" dirty="0">
                <a:latin typeface="Söhne"/>
              </a:rPr>
              <a:t>Image Gallery Grid</a:t>
            </a:r>
            <a:endParaRPr lang="en-AU" dirty="0"/>
          </a:p>
        </p:txBody>
      </p:sp>
      <p:sp>
        <p:nvSpPr>
          <p:cNvPr id="3" name="Text Placeholder 2">
            <a:extLst>
              <a:ext uri="{FF2B5EF4-FFF2-40B4-BE49-F238E27FC236}">
                <a16:creationId xmlns:a16="http://schemas.microsoft.com/office/drawing/2014/main" id="{75EF53E9-0170-165B-4CB9-FE94DDF7D754}"/>
              </a:ext>
            </a:extLst>
          </p:cNvPr>
          <p:cNvSpPr>
            <a:spLocks noGrp="1"/>
          </p:cNvSpPr>
          <p:nvPr>
            <p:ph idx="1"/>
          </p:nvPr>
        </p:nvSpPr>
        <p:spPr/>
        <p:txBody>
          <a:bodyPr/>
          <a:lstStyle/>
          <a:p>
            <a:r>
              <a:rPr lang="en-AU" dirty="0"/>
              <a:t>Create a responsive image gallery using CSS Grid.</a:t>
            </a:r>
          </a:p>
          <a:p>
            <a:r>
              <a:rPr lang="en-AU" dirty="0"/>
              <a:t>Display a grid of images that adjusts its layout based on screen size.</a:t>
            </a:r>
          </a:p>
        </p:txBody>
      </p:sp>
    </p:spTree>
    <p:extLst>
      <p:ext uri="{BB962C8B-B14F-4D97-AF65-F5344CB8AC3E}">
        <p14:creationId xmlns:p14="http://schemas.microsoft.com/office/powerpoint/2010/main" val="907708475"/>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lstStyle/>
          <a:p>
            <a:r>
              <a:rPr lang="en-AU" b="1" i="0" dirty="0">
                <a:effectLst/>
                <a:latin typeface="Söhne"/>
              </a:rPr>
              <a:t>Challenge 2 – </a:t>
            </a:r>
            <a:r>
              <a:rPr lang="en-AU" b="1" dirty="0">
                <a:latin typeface="Söhne"/>
              </a:rPr>
              <a:t>Grid </a:t>
            </a:r>
            <a:r>
              <a:rPr lang="en-AU" b="1" i="0" dirty="0">
                <a:effectLst/>
                <a:latin typeface="Söhne"/>
              </a:rPr>
              <a:t>Flexible Card Layout</a:t>
            </a:r>
            <a:endParaRPr lang="en-AU" dirty="0"/>
          </a:p>
        </p:txBody>
      </p:sp>
      <p:sp>
        <p:nvSpPr>
          <p:cNvPr id="3" name="Text Placeholder 2">
            <a:extLst>
              <a:ext uri="{FF2B5EF4-FFF2-40B4-BE49-F238E27FC236}">
                <a16:creationId xmlns:a16="http://schemas.microsoft.com/office/drawing/2014/main" id="{75EF53E9-0170-165B-4CB9-FE94DDF7D754}"/>
              </a:ext>
            </a:extLst>
          </p:cNvPr>
          <p:cNvSpPr>
            <a:spLocks noGrp="1"/>
          </p:cNvSpPr>
          <p:nvPr>
            <p:ph idx="1"/>
          </p:nvPr>
        </p:nvSpPr>
        <p:spPr/>
        <p:txBody>
          <a:bodyPr/>
          <a:lstStyle/>
          <a:p>
            <a:r>
              <a:rPr lang="en-AU" dirty="0"/>
              <a:t>Create a flexible card layout using CSS Grid</a:t>
            </a:r>
          </a:p>
          <a:p>
            <a:r>
              <a:rPr lang="en-AU" dirty="0"/>
              <a:t> Design cards that stack horizontally on desktop screens and switch to a vertical stack on smaller screens.</a:t>
            </a:r>
          </a:p>
        </p:txBody>
      </p:sp>
    </p:spTree>
    <p:extLst>
      <p:ext uri="{BB962C8B-B14F-4D97-AF65-F5344CB8AC3E}">
        <p14:creationId xmlns:p14="http://schemas.microsoft.com/office/powerpoint/2010/main" val="1367666959"/>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065F1D14-4430-FC90-3C26-E7C64BE29869}"/>
              </a:ext>
            </a:extLst>
          </p:cNvPr>
          <p:cNvSpPr>
            <a:spLocks noGrp="1"/>
          </p:cNvSpPr>
          <p:nvPr>
            <p:ph type="title"/>
          </p:nvPr>
        </p:nvSpPr>
        <p:spPr/>
        <p:txBody>
          <a:bodyPr anchor="b">
            <a:normAutofit/>
          </a:bodyPr>
          <a:lstStyle/>
          <a:p>
            <a:br>
              <a:rPr lang="en-AU" dirty="0"/>
            </a:br>
            <a:r>
              <a:rPr lang="en-AU" dirty="0"/>
              <a:t>CSS3 Flexbox</a:t>
            </a:r>
          </a:p>
        </p:txBody>
      </p:sp>
      <p:sp>
        <p:nvSpPr>
          <p:cNvPr id="29" name="Subtitle 28">
            <a:extLst>
              <a:ext uri="{FF2B5EF4-FFF2-40B4-BE49-F238E27FC236}">
                <a16:creationId xmlns:a16="http://schemas.microsoft.com/office/drawing/2014/main" id="{1C085F66-B097-8E41-C65E-FB613CEF61D0}"/>
              </a:ext>
            </a:extLst>
          </p:cNvPr>
          <p:cNvSpPr>
            <a:spLocks noGrp="1"/>
          </p:cNvSpPr>
          <p:nvPr>
            <p:ph type="body" idx="1"/>
          </p:nvPr>
        </p:nvSpPr>
        <p:spPr/>
        <p:txBody>
          <a:bodyPr>
            <a:normAutofit/>
          </a:bodyPr>
          <a:lstStyle/>
          <a:p>
            <a:r>
              <a:rPr lang="en-AU"/>
              <a:t>ICT40120 Certificate IV in Information Technology (Programming)</a:t>
            </a:r>
          </a:p>
        </p:txBody>
      </p:sp>
    </p:spTree>
    <p:extLst>
      <p:ext uri="{BB962C8B-B14F-4D97-AF65-F5344CB8AC3E}">
        <p14:creationId xmlns:p14="http://schemas.microsoft.com/office/powerpoint/2010/main" val="3004321317"/>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9FD5779-B451-DB25-8CCF-0D38C6EC5D75}"/>
              </a:ext>
            </a:extLst>
          </p:cNvPr>
          <p:cNvSpPr>
            <a:spLocks noGrp="1"/>
          </p:cNvSpPr>
          <p:nvPr>
            <p:ph type="title"/>
          </p:nvPr>
        </p:nvSpPr>
        <p:spPr>
          <a:xfrm>
            <a:off x="839788" y="457200"/>
            <a:ext cx="3932237" cy="1600200"/>
          </a:xfrm>
        </p:spPr>
        <p:txBody>
          <a:bodyPr>
            <a:normAutofit/>
          </a:bodyPr>
          <a:lstStyle/>
          <a:p>
            <a:r>
              <a:rPr lang="en-US" sz="4800" dirty="0"/>
              <a:t>CSS Flexbox</a:t>
            </a:r>
          </a:p>
        </p:txBody>
      </p:sp>
      <p:pic>
        <p:nvPicPr>
          <p:cNvPr id="5" name="Content Placeholder 4" descr="A diagram of a diagram&#10;&#10;Description automatically generated">
            <a:extLst>
              <a:ext uri="{FF2B5EF4-FFF2-40B4-BE49-F238E27FC236}">
                <a16:creationId xmlns:a16="http://schemas.microsoft.com/office/drawing/2014/main" id="{35DC5ABE-AE6D-9944-500E-46666D1E971D}"/>
              </a:ext>
            </a:extLst>
          </p:cNvPr>
          <p:cNvPicPr>
            <a:picLocks noGrp="1" noChangeAspect="1"/>
          </p:cNvPicPr>
          <p:nvPr>
            <p:ph idx="1"/>
          </p:nvPr>
        </p:nvPicPr>
        <p:blipFill>
          <a:blip r:embed="rId3"/>
          <a:stretch>
            <a:fillRect/>
          </a:stretch>
        </p:blipFill>
        <p:spPr>
          <a:xfrm>
            <a:off x="5799204" y="1808797"/>
            <a:ext cx="6172200" cy="3240405"/>
          </a:xfrm>
        </p:spPr>
      </p:pic>
      <p:sp>
        <p:nvSpPr>
          <p:cNvPr id="12" name="Text Placeholder 3">
            <a:extLst>
              <a:ext uri="{FF2B5EF4-FFF2-40B4-BE49-F238E27FC236}">
                <a16:creationId xmlns:a16="http://schemas.microsoft.com/office/drawing/2014/main" id="{1290B612-BE5B-EECC-8128-3E181C0CD6B3}"/>
              </a:ext>
            </a:extLst>
          </p:cNvPr>
          <p:cNvSpPr>
            <a:spLocks noGrp="1"/>
          </p:cNvSpPr>
          <p:nvPr>
            <p:ph type="body" sz="half" idx="2"/>
          </p:nvPr>
        </p:nvSpPr>
        <p:spPr>
          <a:xfrm>
            <a:off x="839788" y="2057400"/>
            <a:ext cx="4800616" cy="3811588"/>
          </a:xfrm>
        </p:spPr>
        <p:txBody>
          <a:bodyPr>
            <a:normAutofit/>
          </a:bodyPr>
          <a:lstStyle/>
          <a:p>
            <a:pPr marL="571500" indent="-571500" algn="l">
              <a:buFont typeface="Arial" panose="020B0604020202020204" pitchFamily="34" charset="0"/>
              <a:buChar char="•"/>
            </a:pPr>
            <a:r>
              <a:rPr lang="en-AU" sz="3600" b="0" i="0" dirty="0">
                <a:solidFill>
                  <a:schemeClr val="tx1"/>
                </a:solidFill>
                <a:effectLst/>
              </a:rPr>
              <a:t>works along a single axis known as the "main axis," </a:t>
            </a:r>
          </a:p>
          <a:p>
            <a:pPr marL="571500" indent="-571500" algn="l">
              <a:buFont typeface="Arial" panose="020B0604020202020204" pitchFamily="34" charset="0"/>
              <a:buChar char="•"/>
            </a:pPr>
            <a:r>
              <a:rPr lang="en-AU" sz="3600" b="0" i="0" dirty="0">
                <a:solidFill>
                  <a:schemeClr val="tx1"/>
                </a:solidFill>
                <a:effectLst/>
              </a:rPr>
              <a:t>orthogonal axis known as the "cross axis."</a:t>
            </a:r>
          </a:p>
          <a:p>
            <a:endParaRPr lang="en-US" dirty="0"/>
          </a:p>
        </p:txBody>
      </p:sp>
      <p:sp>
        <p:nvSpPr>
          <p:cNvPr id="6" name="TextBox 5">
            <a:extLst>
              <a:ext uri="{FF2B5EF4-FFF2-40B4-BE49-F238E27FC236}">
                <a16:creationId xmlns:a16="http://schemas.microsoft.com/office/drawing/2014/main" id="{A603C94A-F49C-1CB9-A3AA-E7C467ECF2F7}"/>
              </a:ext>
            </a:extLst>
          </p:cNvPr>
          <p:cNvSpPr txBox="1"/>
          <p:nvPr/>
        </p:nvSpPr>
        <p:spPr>
          <a:xfrm>
            <a:off x="6095999" y="5419023"/>
            <a:ext cx="5781575" cy="369332"/>
          </a:xfrm>
          <a:prstGeom prst="rect">
            <a:avLst/>
          </a:prstGeom>
          <a:noFill/>
        </p:spPr>
        <p:txBody>
          <a:bodyPr wrap="square" rtlCol="0">
            <a:spAutoFit/>
          </a:bodyPr>
          <a:lstStyle/>
          <a:p>
            <a:r>
              <a:rPr lang="en-AU" dirty="0"/>
              <a:t>https://dev.to/virensuthar/get-started-with-flexbox-3in5</a:t>
            </a:r>
          </a:p>
        </p:txBody>
      </p:sp>
    </p:spTree>
    <p:extLst>
      <p:ext uri="{BB962C8B-B14F-4D97-AF65-F5344CB8AC3E}">
        <p14:creationId xmlns:p14="http://schemas.microsoft.com/office/powerpoint/2010/main" val="3647663312"/>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lstStyle/>
          <a:p>
            <a:r>
              <a:rPr lang="en-US" dirty="0"/>
              <a:t>Flexbox - Advantages</a:t>
            </a:r>
            <a:endParaRPr lang="en-AU" dirty="0"/>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p:txBody>
          <a:bodyPr vert="horz" lIns="91440" tIns="45720" rIns="91440" bIns="45720" rtlCol="0" anchor="t">
            <a:normAutofit fontScale="92500" lnSpcReduction="10000"/>
          </a:bodyPr>
          <a:lstStyle/>
          <a:p>
            <a:pPr algn="l">
              <a:buFont typeface="Arial" panose="020B0604020202020204" pitchFamily="34" charset="0"/>
              <a:buChar char="•"/>
            </a:pPr>
            <a:r>
              <a:rPr lang="en-AU" b="0" i="0" dirty="0">
                <a:solidFill>
                  <a:schemeClr val="tx1"/>
                </a:solidFill>
                <a:effectLst/>
                <a:latin typeface="Söhne"/>
              </a:rPr>
              <a:t>adapts to different screen sizes and devices.</a:t>
            </a:r>
          </a:p>
          <a:p>
            <a:pPr algn="l">
              <a:buFont typeface="Arial" panose="020B0604020202020204" pitchFamily="34" charset="0"/>
              <a:buChar char="•"/>
            </a:pPr>
            <a:r>
              <a:rPr lang="en-AU" b="0" i="0" dirty="0">
                <a:solidFill>
                  <a:schemeClr val="tx1"/>
                </a:solidFill>
                <a:effectLst/>
                <a:latin typeface="Söhne"/>
              </a:rPr>
              <a:t>containers expand and contract as needed.</a:t>
            </a:r>
          </a:p>
          <a:p>
            <a:pPr algn="l">
              <a:buFont typeface="Arial" panose="020B0604020202020204" pitchFamily="34" charset="0"/>
              <a:buChar char="•"/>
            </a:pPr>
            <a:r>
              <a:rPr lang="en-AU" b="0" i="0" dirty="0">
                <a:solidFill>
                  <a:schemeClr val="tx1"/>
                </a:solidFill>
                <a:effectLst/>
                <a:latin typeface="Söhne"/>
              </a:rPr>
              <a:t>provides precise control over item alignment </a:t>
            </a:r>
          </a:p>
          <a:p>
            <a:pPr algn="l">
              <a:buFont typeface="Arial" panose="020B0604020202020204" pitchFamily="34" charset="0"/>
              <a:buChar char="•"/>
            </a:pPr>
            <a:r>
              <a:rPr lang="en-AU" b="0" i="0" dirty="0">
                <a:solidFill>
                  <a:schemeClr val="tx1"/>
                </a:solidFill>
                <a:effectLst/>
                <a:latin typeface="Söhne"/>
              </a:rPr>
              <a:t>complex layouts, like navigation bars are more manageable.</a:t>
            </a:r>
          </a:p>
          <a:p>
            <a:pPr algn="l">
              <a:buFont typeface="Arial" panose="020B0604020202020204" pitchFamily="34" charset="0"/>
              <a:buChar char="•"/>
            </a:pPr>
            <a:r>
              <a:rPr lang="en-AU" b="0" i="0" dirty="0">
                <a:solidFill>
                  <a:schemeClr val="tx1"/>
                </a:solidFill>
                <a:effectLst/>
                <a:latin typeface="Söhne"/>
              </a:rPr>
              <a:t>requires less CSS code </a:t>
            </a:r>
          </a:p>
          <a:p>
            <a:pPr algn="l">
              <a:buFont typeface="Arial" panose="020B0604020202020204" pitchFamily="34" charset="0"/>
              <a:buChar char="•"/>
            </a:pPr>
            <a:r>
              <a:rPr lang="en-AU" b="0" i="0" dirty="0">
                <a:solidFill>
                  <a:schemeClr val="tx1"/>
                </a:solidFill>
                <a:effectLst/>
                <a:latin typeface="Söhne"/>
              </a:rPr>
              <a:t>widely supported in modern browsers</a:t>
            </a:r>
          </a:p>
        </p:txBody>
      </p:sp>
    </p:spTree>
    <p:extLst>
      <p:ext uri="{BB962C8B-B14F-4D97-AF65-F5344CB8AC3E}">
        <p14:creationId xmlns:p14="http://schemas.microsoft.com/office/powerpoint/2010/main" val="3665652300"/>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AU" b="1" i="0" dirty="0">
                <a:solidFill>
                  <a:schemeClr val="tx1"/>
                </a:solidFill>
                <a:effectLst/>
                <a:latin typeface="Söhne"/>
              </a:rPr>
              <a:t>Flex Container and Flex Items</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838201" y="1825624"/>
            <a:ext cx="5437472" cy="3968783"/>
          </a:xfrm>
        </p:spPr>
        <p:txBody>
          <a:bodyPr vert="horz" lIns="91440" tIns="45720" rIns="91440" bIns="45720" rtlCol="0" anchor="t">
            <a:noAutofit/>
          </a:bodyPr>
          <a:lstStyle/>
          <a:p>
            <a:r>
              <a:rPr lang="en-AU" sz="3200" b="1" i="0" dirty="0">
                <a:solidFill>
                  <a:schemeClr val="tx1"/>
                </a:solidFill>
                <a:effectLst/>
              </a:rPr>
              <a:t>Container -</a:t>
            </a:r>
            <a:r>
              <a:rPr lang="en-AU" sz="3200" b="0" i="0" dirty="0">
                <a:solidFill>
                  <a:schemeClr val="tx1"/>
                </a:solidFill>
                <a:effectLst/>
              </a:rPr>
              <a:t> holds a group of child elements and establishes a flex formatting context. </a:t>
            </a:r>
          </a:p>
          <a:p>
            <a:r>
              <a:rPr lang="en-AU" sz="3200" b="1" i="0" dirty="0">
                <a:solidFill>
                  <a:schemeClr val="tx1"/>
                </a:solidFill>
                <a:effectLst/>
              </a:rPr>
              <a:t>Items -</a:t>
            </a:r>
            <a:r>
              <a:rPr lang="en-AU" sz="3200" b="0" i="0" dirty="0">
                <a:solidFill>
                  <a:schemeClr val="tx1"/>
                </a:solidFill>
                <a:effectLst/>
              </a:rPr>
              <a:t> child elements of the flex container &amp; can be configured individually or collectively</a:t>
            </a:r>
          </a:p>
        </p:txBody>
      </p:sp>
      <p:sp>
        <p:nvSpPr>
          <p:cNvPr id="4" name="Content Placeholder 2">
            <a:extLst>
              <a:ext uri="{FF2B5EF4-FFF2-40B4-BE49-F238E27FC236}">
                <a16:creationId xmlns:a16="http://schemas.microsoft.com/office/drawing/2014/main" id="{31ACDC2A-BEE8-CB30-C013-670C3D3669C2}"/>
              </a:ext>
            </a:extLst>
          </p:cNvPr>
          <p:cNvSpPr txBox="1">
            <a:spLocks/>
          </p:cNvSpPr>
          <p:nvPr/>
        </p:nvSpPr>
        <p:spPr>
          <a:xfrm>
            <a:off x="6391175" y="2653397"/>
            <a:ext cx="5573027" cy="2034106"/>
          </a:xfrm>
          <a:prstGeom prst="rect">
            <a:avLst/>
          </a:prstGeom>
        </p:spPr>
        <p:txBody>
          <a:bodyPr vert="horz" lIns="91440" tIns="45720" rIns="91440" bIns="45720" rtlCol="0" anchor="t">
            <a:norm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1800" dirty="0">
                <a:solidFill>
                  <a:schemeClr val="accent3"/>
                </a:solidFill>
                <a:latin typeface="Consolas"/>
              </a:rPr>
              <a:t>&lt;div class="flex-container"&gt;</a:t>
            </a:r>
          </a:p>
          <a:p>
            <a:pPr marL="0" indent="0">
              <a:buFont typeface="Arial" panose="020B0604020202020204" pitchFamily="34" charset="0"/>
              <a:buNone/>
            </a:pPr>
            <a:r>
              <a:rPr lang="en-AU" sz="1800" dirty="0">
                <a:solidFill>
                  <a:schemeClr val="accent3"/>
                </a:solidFill>
                <a:latin typeface="Consolas"/>
              </a:rPr>
              <a:t>      &lt;div class="flex-item"&gt;Item 1&lt;/div&gt;</a:t>
            </a:r>
          </a:p>
          <a:p>
            <a:pPr marL="0" indent="0">
              <a:buFont typeface="Arial" panose="020B0604020202020204" pitchFamily="34" charset="0"/>
              <a:buNone/>
            </a:pPr>
            <a:r>
              <a:rPr lang="en-AU" sz="1800" dirty="0">
                <a:solidFill>
                  <a:schemeClr val="accent3"/>
                </a:solidFill>
                <a:latin typeface="Consolas"/>
              </a:rPr>
              <a:t>      &lt;div class="flex-item"&gt;Item 2&lt;/div&gt;</a:t>
            </a:r>
          </a:p>
          <a:p>
            <a:pPr marL="0" indent="0">
              <a:buFont typeface="Arial" panose="020B0604020202020204" pitchFamily="34" charset="0"/>
              <a:buNone/>
            </a:pPr>
            <a:r>
              <a:rPr lang="en-AU" sz="1800" dirty="0">
                <a:solidFill>
                  <a:schemeClr val="accent3"/>
                </a:solidFill>
                <a:latin typeface="Consolas"/>
              </a:rPr>
              <a:t>      &lt;div class="flex-item"&gt;Item 3&lt;/div&gt;</a:t>
            </a:r>
          </a:p>
          <a:p>
            <a:pPr marL="0" indent="0">
              <a:buFont typeface="Arial" panose="020B0604020202020204" pitchFamily="34" charset="0"/>
              <a:buNone/>
            </a:pPr>
            <a:r>
              <a:rPr lang="en-AU" sz="1800" dirty="0">
                <a:solidFill>
                  <a:schemeClr val="accent3"/>
                </a:solidFill>
                <a:latin typeface="Consolas"/>
              </a:rPr>
              <a:t>&lt;/div&gt;</a:t>
            </a:r>
          </a:p>
        </p:txBody>
      </p:sp>
    </p:spTree>
    <p:extLst>
      <p:ext uri="{BB962C8B-B14F-4D97-AF65-F5344CB8AC3E}">
        <p14:creationId xmlns:p14="http://schemas.microsoft.com/office/powerpoint/2010/main" val="1992881996"/>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AU" b="1" i="0" dirty="0">
                <a:solidFill>
                  <a:schemeClr val="tx1"/>
                </a:solidFill>
                <a:effectLst/>
                <a:latin typeface="Söhne"/>
              </a:rPr>
              <a:t>Flex Properties</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6096000" y="2096158"/>
            <a:ext cx="5896708" cy="3303343"/>
          </a:xfrm>
        </p:spPr>
        <p:txBody>
          <a:bodyPr vert="horz" lIns="91440" tIns="45720" rIns="91440" bIns="45720" rtlCol="0" anchor="t">
            <a:noAutofit/>
          </a:bodyPr>
          <a:lstStyle/>
          <a:p>
            <a:pPr lvl="1"/>
            <a:r>
              <a:rPr lang="en-AU" sz="3200" b="0" i="0" dirty="0">
                <a:solidFill>
                  <a:schemeClr val="tx1"/>
                </a:solidFill>
                <a:effectLst/>
                <a:latin typeface="+mj-lt"/>
              </a:rPr>
              <a:t>Individual: Each flex item can have its own flex-related properties</a:t>
            </a:r>
          </a:p>
          <a:p>
            <a:pPr lvl="1"/>
            <a:r>
              <a:rPr lang="en-AU" sz="3200" b="0" i="0" dirty="0">
                <a:solidFill>
                  <a:schemeClr val="tx1"/>
                </a:solidFill>
                <a:effectLst/>
                <a:latin typeface="+mj-lt"/>
              </a:rPr>
              <a:t>Collective: Flex properties on the container alignment and spacing of flex items.</a:t>
            </a:r>
          </a:p>
        </p:txBody>
      </p:sp>
      <p:sp>
        <p:nvSpPr>
          <p:cNvPr id="4" name="Content Placeholder 2">
            <a:extLst>
              <a:ext uri="{FF2B5EF4-FFF2-40B4-BE49-F238E27FC236}">
                <a16:creationId xmlns:a16="http://schemas.microsoft.com/office/drawing/2014/main" id="{31ACDC2A-BEE8-CB30-C013-670C3D3669C2}"/>
              </a:ext>
            </a:extLst>
          </p:cNvPr>
          <p:cNvSpPr txBox="1">
            <a:spLocks/>
          </p:cNvSpPr>
          <p:nvPr/>
        </p:nvSpPr>
        <p:spPr>
          <a:xfrm>
            <a:off x="697523" y="2096158"/>
            <a:ext cx="5573027" cy="3738669"/>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0" dirty="0">
                <a:solidFill>
                  <a:srgbClr val="6A9955"/>
                </a:solidFill>
                <a:effectLst/>
                <a:latin typeface="Consolas" panose="020B0609020204030204" pitchFamily="49" charset="0"/>
              </a:rPr>
              <a:t>/* This item grows twice as much as others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7BA7D"/>
                </a:solidFill>
                <a:effectLst/>
                <a:latin typeface="Consolas" panose="020B0609020204030204" pitchFamily="49" charset="0"/>
              </a:rPr>
              <a:t>.</a:t>
            </a:r>
            <a:r>
              <a:rPr lang="en-AU" sz="2000" b="0" dirty="0" err="1">
                <a:solidFill>
                  <a:srgbClr val="D7BA7D"/>
                </a:solidFill>
                <a:effectLst/>
                <a:latin typeface="Consolas" panose="020B0609020204030204" pitchFamily="49" charset="0"/>
              </a:rPr>
              <a:t>flex-item:nth-child</a:t>
            </a:r>
            <a:r>
              <a:rPr lang="en-AU" sz="2000" b="0" dirty="0">
                <a:solidFill>
                  <a:srgbClr val="D4D4D4"/>
                </a:solidFill>
                <a:effectLst/>
                <a:latin typeface="Consolas" panose="020B0609020204030204" pitchFamily="49" charset="0"/>
              </a:rPr>
              <a:t>(</a:t>
            </a:r>
            <a:r>
              <a:rPr lang="en-AU" sz="2000" b="0" dirty="0">
                <a:solidFill>
                  <a:srgbClr val="B5CEA8"/>
                </a:solidFill>
                <a:effectLst/>
                <a:latin typeface="Consolas" panose="020B0609020204030204" pitchFamily="49" charset="0"/>
              </a:rPr>
              <a:t>2</a:t>
            </a:r>
            <a:r>
              <a:rPr lang="en-AU" sz="2000" b="0" dirty="0">
                <a:solidFill>
                  <a:srgbClr val="D4D4D4"/>
                </a:solidFill>
                <a:effectLst/>
                <a:latin typeface="Consolas" panose="020B0609020204030204" pitchFamily="49" charset="0"/>
              </a:rPr>
              <a:t>) {</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flex-grow</a:t>
            </a:r>
            <a:r>
              <a:rPr lang="en-AU" sz="2000" b="0" dirty="0">
                <a:solidFill>
                  <a:srgbClr val="D4D4D4"/>
                </a:solidFill>
                <a:effectLst/>
                <a:latin typeface="Consolas" panose="020B0609020204030204" pitchFamily="49" charset="0"/>
              </a:rPr>
              <a:t>: </a:t>
            </a:r>
            <a:r>
              <a:rPr lang="en-AU" sz="2000" b="0" dirty="0">
                <a:solidFill>
                  <a:srgbClr val="B5CEA8"/>
                </a:solidFill>
                <a:effectLst/>
                <a:latin typeface="Consolas" panose="020B0609020204030204" pitchFamily="49" charset="0"/>
              </a:rPr>
              <a:t>2</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a:t>
            </a:r>
          </a:p>
          <a:p>
            <a:pPr marL="0" indent="0">
              <a:buNone/>
            </a:pPr>
            <a:r>
              <a:rPr lang="en-AU" sz="2000" b="0" dirty="0">
                <a:solidFill>
                  <a:srgbClr val="6A9955"/>
                </a:solidFill>
                <a:effectLst/>
                <a:latin typeface="Consolas" panose="020B0609020204030204" pitchFamily="49" charset="0"/>
              </a:rPr>
              <a:t>/* This item shrinks twice as much as others */</a:t>
            </a:r>
            <a:br>
              <a:rPr lang="en-AU" sz="2000" b="0" dirty="0">
                <a:solidFill>
                  <a:srgbClr val="D4D4D4"/>
                </a:solidFill>
                <a:effectLst/>
                <a:latin typeface="Consolas" panose="020B0609020204030204" pitchFamily="49" charset="0"/>
              </a:rPr>
            </a:br>
            <a:r>
              <a:rPr lang="en-AU" sz="2000" b="0" dirty="0">
                <a:solidFill>
                  <a:srgbClr val="D7BA7D"/>
                </a:solidFill>
                <a:effectLst/>
                <a:latin typeface="Consolas" panose="020B0609020204030204" pitchFamily="49" charset="0"/>
              </a:rPr>
              <a:t>.</a:t>
            </a:r>
            <a:r>
              <a:rPr lang="en-AU" sz="2000" b="0" dirty="0" err="1">
                <a:solidFill>
                  <a:srgbClr val="D7BA7D"/>
                </a:solidFill>
                <a:effectLst/>
                <a:latin typeface="Consolas" panose="020B0609020204030204" pitchFamily="49" charset="0"/>
              </a:rPr>
              <a:t>flex-item:nth-child</a:t>
            </a:r>
            <a:r>
              <a:rPr lang="en-AU" sz="2000" b="0" dirty="0">
                <a:solidFill>
                  <a:srgbClr val="D4D4D4"/>
                </a:solidFill>
                <a:effectLst/>
                <a:latin typeface="Consolas" panose="020B0609020204030204" pitchFamily="49" charset="0"/>
              </a:rPr>
              <a:t>(</a:t>
            </a:r>
            <a:r>
              <a:rPr lang="en-AU" sz="2000" b="0" dirty="0">
                <a:solidFill>
                  <a:srgbClr val="B5CEA8"/>
                </a:solidFill>
                <a:effectLst/>
                <a:latin typeface="Consolas" panose="020B0609020204030204" pitchFamily="49" charset="0"/>
              </a:rPr>
              <a:t>3</a:t>
            </a:r>
            <a:r>
              <a:rPr lang="en-AU" sz="2000" b="0" dirty="0">
                <a:solidFill>
                  <a:srgbClr val="D4D4D4"/>
                </a:solidFill>
                <a:effectLst/>
                <a:latin typeface="Consolas" panose="020B0609020204030204" pitchFamily="49" charset="0"/>
              </a:rPr>
              <a:t>) {</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flex-shrink</a:t>
            </a:r>
            <a:r>
              <a:rPr lang="en-AU" sz="2000" b="0" dirty="0">
                <a:solidFill>
                  <a:srgbClr val="D4D4D4"/>
                </a:solidFill>
                <a:effectLst/>
                <a:latin typeface="Consolas" panose="020B0609020204030204" pitchFamily="49" charset="0"/>
              </a:rPr>
              <a:t>: </a:t>
            </a:r>
            <a:r>
              <a:rPr lang="en-AU" sz="2000" b="0" dirty="0">
                <a:solidFill>
                  <a:srgbClr val="B5CEA8"/>
                </a:solidFill>
                <a:effectLst/>
                <a:latin typeface="Consolas" panose="020B0609020204030204" pitchFamily="49" charset="0"/>
              </a:rPr>
              <a:t>2</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99523383"/>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AU" b="1" i="0" dirty="0">
                <a:solidFill>
                  <a:schemeClr val="tx1"/>
                </a:solidFill>
                <a:effectLst/>
                <a:latin typeface="Söhne"/>
              </a:rPr>
              <a:t>Distribution &amp; Auto Sizing</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658528" y="1825624"/>
            <a:ext cx="5437472" cy="4262942"/>
          </a:xfrm>
        </p:spPr>
        <p:txBody>
          <a:bodyPr vert="horz" lIns="91440" tIns="45720" rIns="91440" bIns="45720" rtlCol="0" anchor="t">
            <a:noAutofit/>
          </a:bodyPr>
          <a:lstStyle/>
          <a:p>
            <a:pPr marL="742950" lvl="1" indent="-285750" algn="l">
              <a:buFont typeface="Arial" panose="020B0604020202020204" pitchFamily="34" charset="0"/>
              <a:buChar char="•"/>
            </a:pPr>
            <a:r>
              <a:rPr lang="en-AU" sz="3200" b="1" i="0" dirty="0">
                <a:solidFill>
                  <a:schemeClr val="tx1"/>
                </a:solidFill>
                <a:effectLst/>
                <a:latin typeface="+mj-lt"/>
              </a:rPr>
              <a:t>Main Axis:</a:t>
            </a:r>
            <a:r>
              <a:rPr lang="en-AU" sz="3200" b="0" i="0" dirty="0">
                <a:solidFill>
                  <a:schemeClr val="tx1"/>
                </a:solidFill>
                <a:effectLst/>
                <a:latin typeface="+mj-lt"/>
              </a:rPr>
              <a:t> is the direction of flex items.</a:t>
            </a:r>
          </a:p>
          <a:p>
            <a:pPr marL="742950" lvl="1" indent="-285750" algn="l">
              <a:buFont typeface="Arial" panose="020B0604020202020204" pitchFamily="34" charset="0"/>
              <a:buChar char="•"/>
            </a:pPr>
            <a:r>
              <a:rPr lang="en-AU" sz="3200" b="1" i="0" dirty="0">
                <a:solidFill>
                  <a:schemeClr val="tx1"/>
                </a:solidFill>
                <a:effectLst/>
                <a:latin typeface="+mj-lt"/>
              </a:rPr>
              <a:t>Cross Axis:</a:t>
            </a:r>
            <a:r>
              <a:rPr lang="en-AU" sz="3200" b="0" i="0" dirty="0">
                <a:solidFill>
                  <a:schemeClr val="tx1"/>
                </a:solidFill>
                <a:effectLst/>
                <a:latin typeface="+mj-lt"/>
              </a:rPr>
              <a:t> used for alignment and positioning of items.</a:t>
            </a:r>
          </a:p>
          <a:p>
            <a:pPr marL="742950" lvl="1" indent="-285750" algn="l">
              <a:buFont typeface="Arial" panose="020B0604020202020204" pitchFamily="34" charset="0"/>
              <a:buChar char="•"/>
            </a:pPr>
            <a:r>
              <a:rPr lang="en-AU" sz="3200" b="1" i="0" dirty="0">
                <a:solidFill>
                  <a:schemeClr val="tx1"/>
                </a:solidFill>
                <a:effectLst/>
                <a:latin typeface="+mj-lt"/>
              </a:rPr>
              <a:t>Flexible Sizing:</a:t>
            </a:r>
            <a:r>
              <a:rPr lang="en-AU" sz="3200" b="0" i="0" dirty="0">
                <a:solidFill>
                  <a:schemeClr val="tx1"/>
                </a:solidFill>
                <a:effectLst/>
                <a:latin typeface="+mj-lt"/>
              </a:rPr>
              <a:t> Flex items can grow or shrink based on available space.</a:t>
            </a:r>
          </a:p>
        </p:txBody>
      </p:sp>
      <p:sp>
        <p:nvSpPr>
          <p:cNvPr id="4" name="Content Placeholder 2">
            <a:extLst>
              <a:ext uri="{FF2B5EF4-FFF2-40B4-BE49-F238E27FC236}">
                <a16:creationId xmlns:a16="http://schemas.microsoft.com/office/drawing/2014/main" id="{31ACDC2A-BEE8-CB30-C013-670C3D3669C2}"/>
              </a:ext>
            </a:extLst>
          </p:cNvPr>
          <p:cNvSpPr txBox="1">
            <a:spLocks/>
          </p:cNvSpPr>
          <p:nvPr/>
        </p:nvSpPr>
        <p:spPr>
          <a:xfrm>
            <a:off x="6412523" y="2087760"/>
            <a:ext cx="5573027" cy="3738669"/>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0" dirty="0">
                <a:solidFill>
                  <a:srgbClr val="D7BA7D"/>
                </a:solidFill>
                <a:effectLst/>
                <a:latin typeface="Consolas" panose="020B0609020204030204" pitchFamily="49" charset="0"/>
              </a:rPr>
              <a:t>.flex-container</a:t>
            </a:r>
            <a:r>
              <a:rPr lang="en-AU" sz="2000" b="0" dirty="0">
                <a:solidFill>
                  <a:srgbClr val="D4D4D4"/>
                </a:solidFill>
                <a:effectLst/>
                <a:latin typeface="Consolas" panose="020B0609020204030204" pitchFamily="49" charset="0"/>
              </a:rPr>
              <a:t> {</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display</a:t>
            </a:r>
            <a:r>
              <a:rPr lang="en-AU" sz="2000" b="0" dirty="0">
                <a:solidFill>
                  <a:srgbClr val="D4D4D4"/>
                </a:solidFill>
                <a:effectLst/>
                <a:latin typeface="Consolas" panose="020B0609020204030204" pitchFamily="49" charset="0"/>
              </a:rPr>
              <a:t>: </a:t>
            </a:r>
            <a:r>
              <a:rPr lang="en-AU" sz="2000" b="0" dirty="0">
                <a:solidFill>
                  <a:srgbClr val="CE9178"/>
                </a:solidFill>
                <a:effectLst/>
                <a:latin typeface="Consolas" panose="020B0609020204030204" pitchFamily="49" charset="0"/>
              </a:rPr>
              <a:t>flex</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Horizontally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justify-content</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Vertically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align-items</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Set a fixed container height*/</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height</a:t>
            </a:r>
            <a:r>
              <a:rPr lang="en-AU" sz="2000" b="0" dirty="0">
                <a:solidFill>
                  <a:srgbClr val="D4D4D4"/>
                </a:solidFill>
                <a:effectLst/>
                <a:latin typeface="Consolas" panose="020B0609020204030204" pitchFamily="49" charset="0"/>
              </a:rPr>
              <a:t>: </a:t>
            </a:r>
            <a:r>
              <a:rPr lang="en-AU" sz="2000" b="0" dirty="0">
                <a:solidFill>
                  <a:srgbClr val="B5CEA8"/>
                </a:solidFill>
                <a:effectLst/>
                <a:latin typeface="Consolas" panose="020B0609020204030204" pitchFamily="49" charset="0"/>
              </a:rPr>
              <a:t>300px</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304338632"/>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AU" b="1" i="0" dirty="0">
                <a:solidFill>
                  <a:schemeClr val="tx1"/>
                </a:solidFill>
                <a:effectLst/>
                <a:latin typeface="Söhne"/>
              </a:rPr>
              <a:t>Distribution &amp; Auto Sizing</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430924" y="1825624"/>
            <a:ext cx="6339152" cy="4711810"/>
          </a:xfrm>
        </p:spPr>
        <p:txBody>
          <a:bodyPr vert="horz" lIns="91440" tIns="45720" rIns="91440" bIns="45720" rtlCol="0" anchor="t">
            <a:noAutofit/>
          </a:bodyPr>
          <a:lstStyle/>
          <a:p>
            <a:pPr lvl="1"/>
            <a:r>
              <a:rPr lang="en-AU" sz="3200" b="1" i="0" dirty="0">
                <a:solidFill>
                  <a:schemeClr val="tx1"/>
                </a:solidFill>
                <a:effectLst/>
                <a:latin typeface="+mj-lt"/>
              </a:rPr>
              <a:t>flex-direction: row </a:t>
            </a:r>
            <a:r>
              <a:rPr lang="en-AU" sz="3200" dirty="0">
                <a:solidFill>
                  <a:schemeClr val="tx1"/>
                </a:solidFill>
                <a:latin typeface="+mj-lt"/>
              </a:rPr>
              <a:t>:</a:t>
            </a:r>
            <a:r>
              <a:rPr lang="en-AU" sz="3200" b="0" i="0" dirty="0">
                <a:solidFill>
                  <a:schemeClr val="tx1"/>
                </a:solidFill>
                <a:effectLst/>
                <a:latin typeface="+mj-lt"/>
              </a:rPr>
              <a:t> the main axis runs horizontally from left to right</a:t>
            </a:r>
          </a:p>
          <a:p>
            <a:pPr lvl="1"/>
            <a:r>
              <a:rPr lang="en-AU" sz="3200" b="1" i="0" dirty="0">
                <a:solidFill>
                  <a:schemeClr val="tx1"/>
                </a:solidFill>
                <a:effectLst/>
                <a:latin typeface="+mj-lt"/>
              </a:rPr>
              <a:t>flex-direction: column </a:t>
            </a:r>
            <a:r>
              <a:rPr lang="en-AU" sz="3200" dirty="0">
                <a:solidFill>
                  <a:schemeClr val="tx1"/>
                </a:solidFill>
                <a:latin typeface="+mj-lt"/>
              </a:rPr>
              <a:t>:</a:t>
            </a:r>
            <a:r>
              <a:rPr lang="en-AU" sz="3200" b="0" i="0" dirty="0">
                <a:solidFill>
                  <a:schemeClr val="tx1"/>
                </a:solidFill>
                <a:effectLst/>
                <a:latin typeface="+mj-lt"/>
              </a:rPr>
              <a:t> the main axis runs top to bottom</a:t>
            </a:r>
          </a:p>
          <a:p>
            <a:pPr lvl="1"/>
            <a:r>
              <a:rPr lang="en-AU" sz="3200" b="1" i="0" dirty="0">
                <a:solidFill>
                  <a:schemeClr val="tx1"/>
                </a:solidFill>
                <a:effectLst/>
                <a:latin typeface="+mj-lt"/>
              </a:rPr>
              <a:t>justify-content</a:t>
            </a:r>
            <a:r>
              <a:rPr lang="en-AU" sz="3200" b="0" i="0" dirty="0">
                <a:solidFill>
                  <a:schemeClr val="tx1"/>
                </a:solidFill>
                <a:effectLst/>
                <a:latin typeface="+mj-lt"/>
              </a:rPr>
              <a:t>: align along the main axis</a:t>
            </a:r>
          </a:p>
          <a:p>
            <a:pPr lvl="1"/>
            <a:r>
              <a:rPr lang="en-AU" sz="3200" b="1" dirty="0">
                <a:solidFill>
                  <a:schemeClr val="tx1"/>
                </a:solidFill>
                <a:latin typeface="+mj-lt"/>
              </a:rPr>
              <a:t>align-items</a:t>
            </a:r>
            <a:r>
              <a:rPr lang="en-AU" sz="3200" dirty="0">
                <a:solidFill>
                  <a:schemeClr val="tx1"/>
                </a:solidFill>
                <a:latin typeface="+mj-lt"/>
              </a:rPr>
              <a:t>: align along the cross axis</a:t>
            </a:r>
          </a:p>
          <a:p>
            <a:pPr lvl="1"/>
            <a:endParaRPr lang="en-AU" sz="3200" b="0" i="0" dirty="0">
              <a:solidFill>
                <a:schemeClr val="tx1"/>
              </a:solidFill>
              <a:effectLst/>
              <a:latin typeface="+mj-lt"/>
            </a:endParaRPr>
          </a:p>
        </p:txBody>
      </p:sp>
      <p:sp>
        <p:nvSpPr>
          <p:cNvPr id="4" name="Content Placeholder 2">
            <a:extLst>
              <a:ext uri="{FF2B5EF4-FFF2-40B4-BE49-F238E27FC236}">
                <a16:creationId xmlns:a16="http://schemas.microsoft.com/office/drawing/2014/main" id="{31ACDC2A-BEE8-CB30-C013-670C3D3669C2}"/>
              </a:ext>
            </a:extLst>
          </p:cNvPr>
          <p:cNvSpPr txBox="1">
            <a:spLocks/>
          </p:cNvSpPr>
          <p:nvPr/>
        </p:nvSpPr>
        <p:spPr>
          <a:xfrm>
            <a:off x="6980283" y="2087760"/>
            <a:ext cx="5211717" cy="3738669"/>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0" dirty="0">
                <a:solidFill>
                  <a:srgbClr val="D7BA7D"/>
                </a:solidFill>
                <a:effectLst/>
                <a:latin typeface="Consolas" panose="020B0609020204030204" pitchFamily="49" charset="0"/>
              </a:rPr>
              <a:t>.flex-container</a:t>
            </a:r>
            <a:r>
              <a:rPr lang="en-AU" sz="2000" b="0" dirty="0">
                <a:solidFill>
                  <a:srgbClr val="D4D4D4"/>
                </a:solidFill>
                <a:effectLst/>
                <a:latin typeface="Consolas" panose="020B0609020204030204" pitchFamily="49" charset="0"/>
              </a:rPr>
              <a:t> {</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display</a:t>
            </a:r>
            <a:r>
              <a:rPr lang="en-AU" sz="2000" b="0" dirty="0">
                <a:solidFill>
                  <a:srgbClr val="D4D4D4"/>
                </a:solidFill>
                <a:effectLst/>
                <a:latin typeface="Consolas" panose="020B0609020204030204" pitchFamily="49" charset="0"/>
              </a:rPr>
              <a:t>: </a:t>
            </a:r>
            <a:r>
              <a:rPr lang="en-AU" sz="2000" b="0" dirty="0">
                <a:solidFill>
                  <a:srgbClr val="CE9178"/>
                </a:solidFill>
                <a:effectLst/>
                <a:latin typeface="Consolas" panose="020B0609020204030204" pitchFamily="49" charset="0"/>
              </a:rPr>
              <a:t>flex</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flex-direction</a:t>
            </a:r>
            <a:r>
              <a:rPr lang="en-AU" sz="2000" b="0" dirty="0">
                <a:solidFill>
                  <a:srgbClr val="D4D4D4"/>
                </a:solidFill>
                <a:effectLst/>
                <a:latin typeface="Consolas" panose="020B0609020204030204" pitchFamily="49" charset="0"/>
              </a:rPr>
              <a:t>: </a:t>
            </a:r>
            <a:r>
              <a:rPr lang="en-AU" sz="2000" b="0" dirty="0">
                <a:solidFill>
                  <a:srgbClr val="CE9178"/>
                </a:solidFill>
                <a:effectLst/>
                <a:latin typeface="Consolas" panose="020B0609020204030204" pitchFamily="49" charset="0"/>
              </a:rPr>
              <a:t>column</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Horizontally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justify-content</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Vertically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align-items</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156488031"/>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AU" b="1" i="0" dirty="0">
                <a:solidFill>
                  <a:schemeClr val="tx1"/>
                </a:solidFill>
                <a:effectLst/>
                <a:latin typeface="Söhne"/>
              </a:rPr>
              <a:t>Defining the context – 4 steps</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5845989" y="2404464"/>
            <a:ext cx="6111549" cy="2465022"/>
          </a:xfrm>
        </p:spPr>
        <p:txBody>
          <a:bodyPr vert="horz" lIns="91440" tIns="45720" rIns="91440" bIns="45720" rtlCol="0" anchor="t">
            <a:noAutofit/>
          </a:bodyPr>
          <a:lstStyle/>
          <a:p>
            <a:pPr marL="971550" lvl="1" indent="-514350">
              <a:buFont typeface="+mj-lt"/>
              <a:buAutoNum type="arabicPeriod"/>
            </a:pPr>
            <a:r>
              <a:rPr lang="en-AU" sz="3200" b="0" i="0" dirty="0">
                <a:solidFill>
                  <a:schemeClr val="tx1"/>
                </a:solidFill>
                <a:effectLst/>
                <a:latin typeface="+mj-lt"/>
              </a:rPr>
              <a:t>enable the flex formatting </a:t>
            </a:r>
          </a:p>
          <a:p>
            <a:pPr marL="971550" lvl="1" indent="-514350">
              <a:buFont typeface="+mj-lt"/>
              <a:buAutoNum type="arabicPeriod"/>
            </a:pPr>
            <a:r>
              <a:rPr lang="en-AU" sz="3200" dirty="0">
                <a:solidFill>
                  <a:schemeClr val="tx1"/>
                </a:solidFill>
                <a:latin typeface="+mj-lt"/>
              </a:rPr>
              <a:t>d</a:t>
            </a:r>
            <a:r>
              <a:rPr lang="en-AU" sz="3200" i="0" dirty="0">
                <a:solidFill>
                  <a:schemeClr val="tx1"/>
                </a:solidFill>
                <a:effectLst/>
                <a:latin typeface="+mj-lt"/>
              </a:rPr>
              <a:t>efine the main </a:t>
            </a:r>
            <a:r>
              <a:rPr lang="en-AU" sz="3200" dirty="0">
                <a:solidFill>
                  <a:schemeClr val="tx1"/>
                </a:solidFill>
                <a:latin typeface="+mj-lt"/>
              </a:rPr>
              <a:t>a</a:t>
            </a:r>
            <a:r>
              <a:rPr lang="en-AU" sz="3200" i="0" dirty="0">
                <a:solidFill>
                  <a:schemeClr val="tx1"/>
                </a:solidFill>
                <a:effectLst/>
                <a:latin typeface="+mj-lt"/>
              </a:rPr>
              <a:t>xis </a:t>
            </a:r>
            <a:r>
              <a:rPr lang="en-AU" sz="3200" dirty="0">
                <a:solidFill>
                  <a:schemeClr val="tx1"/>
                </a:solidFill>
                <a:latin typeface="+mj-lt"/>
              </a:rPr>
              <a:t>d</a:t>
            </a:r>
            <a:r>
              <a:rPr lang="en-AU" sz="3200" i="0" dirty="0">
                <a:solidFill>
                  <a:schemeClr val="tx1"/>
                </a:solidFill>
                <a:effectLst/>
                <a:latin typeface="+mj-lt"/>
              </a:rPr>
              <a:t>irection </a:t>
            </a:r>
          </a:p>
          <a:p>
            <a:pPr marL="971550" lvl="1" indent="-514350">
              <a:buFont typeface="+mj-lt"/>
              <a:buAutoNum type="arabicPeriod"/>
            </a:pPr>
            <a:r>
              <a:rPr lang="en-AU" sz="3200" b="0" i="0" dirty="0">
                <a:solidFill>
                  <a:schemeClr val="tx1"/>
                </a:solidFill>
                <a:effectLst/>
                <a:latin typeface="+mj-lt"/>
              </a:rPr>
              <a:t>align along the main axis</a:t>
            </a:r>
          </a:p>
          <a:p>
            <a:pPr marL="971550" lvl="1" indent="-514350">
              <a:buFont typeface="+mj-lt"/>
              <a:buAutoNum type="arabicPeriod"/>
            </a:pPr>
            <a:r>
              <a:rPr lang="en-AU" sz="3200" dirty="0">
                <a:solidFill>
                  <a:schemeClr val="tx1"/>
                </a:solidFill>
                <a:latin typeface="+mj-lt"/>
              </a:rPr>
              <a:t>justify along the cross axis</a:t>
            </a:r>
          </a:p>
          <a:p>
            <a:pPr lvl="1"/>
            <a:endParaRPr lang="en-AU" sz="3200" b="0" i="0" dirty="0">
              <a:solidFill>
                <a:schemeClr val="tx1"/>
              </a:solidFill>
              <a:effectLst/>
              <a:latin typeface="+mj-lt"/>
            </a:endParaRPr>
          </a:p>
        </p:txBody>
      </p:sp>
      <p:sp>
        <p:nvSpPr>
          <p:cNvPr id="4" name="Content Placeholder 2">
            <a:extLst>
              <a:ext uri="{FF2B5EF4-FFF2-40B4-BE49-F238E27FC236}">
                <a16:creationId xmlns:a16="http://schemas.microsoft.com/office/drawing/2014/main" id="{31ACDC2A-BEE8-CB30-C013-670C3D3669C2}"/>
              </a:ext>
            </a:extLst>
          </p:cNvPr>
          <p:cNvSpPr txBox="1">
            <a:spLocks/>
          </p:cNvSpPr>
          <p:nvPr/>
        </p:nvSpPr>
        <p:spPr>
          <a:xfrm>
            <a:off x="697523" y="2140514"/>
            <a:ext cx="5573027" cy="3310717"/>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0" dirty="0">
                <a:solidFill>
                  <a:srgbClr val="D7BA7D"/>
                </a:solidFill>
                <a:effectLst/>
                <a:latin typeface="Consolas" panose="020B0609020204030204" pitchFamily="49" charset="0"/>
              </a:rPr>
              <a:t>.flex-container</a:t>
            </a:r>
            <a:r>
              <a:rPr lang="en-AU" sz="2000" b="0" dirty="0">
                <a:solidFill>
                  <a:srgbClr val="D4D4D4"/>
                </a:solidFill>
                <a:effectLst/>
                <a:latin typeface="Consolas" panose="020B0609020204030204" pitchFamily="49" charset="0"/>
              </a:rPr>
              <a:t> {</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display</a:t>
            </a:r>
            <a:r>
              <a:rPr lang="en-AU" sz="2000" b="0" dirty="0">
                <a:solidFill>
                  <a:srgbClr val="D4D4D4"/>
                </a:solidFill>
                <a:effectLst/>
                <a:latin typeface="Consolas" panose="020B0609020204030204" pitchFamily="49" charset="0"/>
              </a:rPr>
              <a:t>: </a:t>
            </a:r>
            <a:r>
              <a:rPr lang="en-AU" sz="2000" b="0" dirty="0">
                <a:solidFill>
                  <a:srgbClr val="CE9178"/>
                </a:solidFill>
                <a:effectLst/>
                <a:latin typeface="Consolas" panose="020B0609020204030204" pitchFamily="49" charset="0"/>
              </a:rPr>
              <a:t>flex</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flex-direction</a:t>
            </a:r>
            <a:r>
              <a:rPr lang="en-AU" sz="2000" b="0" dirty="0">
                <a:solidFill>
                  <a:srgbClr val="D4D4D4"/>
                </a:solidFill>
                <a:effectLst/>
                <a:latin typeface="Consolas" panose="020B0609020204030204" pitchFamily="49" charset="0"/>
              </a:rPr>
              <a:t>: </a:t>
            </a:r>
            <a:r>
              <a:rPr lang="en-AU" sz="2000" b="0" dirty="0">
                <a:solidFill>
                  <a:srgbClr val="CE9178"/>
                </a:solidFill>
                <a:effectLst/>
                <a:latin typeface="Consolas" panose="020B0609020204030204" pitchFamily="49" charset="0"/>
              </a:rPr>
              <a:t>column</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Horizontally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justify-content</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    </a:t>
            </a:r>
            <a:r>
              <a:rPr lang="en-AU" sz="2000" b="0" dirty="0">
                <a:solidFill>
                  <a:srgbClr val="6A9955"/>
                </a:solidFill>
                <a:effectLst/>
                <a:latin typeface="Consolas" panose="020B0609020204030204" pitchFamily="49" charset="0"/>
              </a:rPr>
              <a:t>/* Vertically </a:t>
            </a:r>
            <a:r>
              <a:rPr lang="en-AU" sz="2000" b="0" dirty="0" err="1">
                <a:solidFill>
                  <a:srgbClr val="6A9955"/>
                </a:solidFill>
                <a:effectLst/>
                <a:latin typeface="Consolas" panose="020B0609020204030204" pitchFamily="49" charset="0"/>
              </a:rPr>
              <a:t>center</a:t>
            </a:r>
            <a:r>
              <a:rPr lang="en-AU" sz="2000" b="0" dirty="0">
                <a:solidFill>
                  <a:srgbClr val="6A9955"/>
                </a:solidFill>
                <a:effectLst/>
                <a:latin typeface="Consolas" panose="020B0609020204030204" pitchFamily="49" charset="0"/>
              </a:rPr>
              <a:t> items */</a:t>
            </a:r>
            <a:endParaRPr lang="en-AU" sz="2000" b="0" dirty="0">
              <a:solidFill>
                <a:srgbClr val="D4D4D4"/>
              </a:solidFill>
              <a:effectLst/>
              <a:latin typeface="Consolas" panose="020B0609020204030204" pitchFamily="49" charset="0"/>
            </a:endParaRPr>
          </a:p>
          <a:p>
            <a:pPr marL="0" indent="0">
              <a:buNone/>
            </a:pPr>
            <a:r>
              <a:rPr lang="en-AU" sz="2000" b="0" dirty="0">
                <a:solidFill>
                  <a:srgbClr val="D4D4D4"/>
                </a:solidFill>
                <a:effectLst/>
                <a:latin typeface="Consolas" panose="020B0609020204030204" pitchFamily="49" charset="0"/>
              </a:rPr>
              <a:t>    </a:t>
            </a:r>
            <a:r>
              <a:rPr lang="en-AU" sz="2000" b="0" dirty="0">
                <a:solidFill>
                  <a:srgbClr val="9CDCFE"/>
                </a:solidFill>
                <a:effectLst/>
                <a:latin typeface="Consolas" panose="020B0609020204030204" pitchFamily="49" charset="0"/>
              </a:rPr>
              <a:t>align-items</a:t>
            </a:r>
            <a:r>
              <a:rPr lang="en-AU" sz="2000" b="0" dirty="0">
                <a:solidFill>
                  <a:srgbClr val="D4D4D4"/>
                </a:solidFill>
                <a:effectLst/>
                <a:latin typeface="Consolas" panose="020B0609020204030204" pitchFamily="49" charset="0"/>
              </a:rPr>
              <a:t>: </a:t>
            </a:r>
            <a:r>
              <a:rPr lang="en-AU" sz="2000" b="0" dirty="0" err="1">
                <a:solidFill>
                  <a:srgbClr val="CE9178"/>
                </a:solidFill>
                <a:effectLst/>
                <a:latin typeface="Consolas" panose="020B0609020204030204" pitchFamily="49" charset="0"/>
              </a:rPr>
              <a:t>center</a:t>
            </a:r>
            <a:r>
              <a:rPr lang="en-AU" sz="2000" b="0" dirty="0">
                <a:solidFill>
                  <a:srgbClr val="D4D4D4"/>
                </a:solidFill>
                <a:effectLst/>
                <a:latin typeface="Consolas" panose="020B0609020204030204" pitchFamily="49" charset="0"/>
              </a:rPr>
              <a:t>;</a:t>
            </a:r>
          </a:p>
          <a:p>
            <a:pPr marL="0" indent="0">
              <a:buNone/>
            </a:pPr>
            <a:r>
              <a:rPr lang="en-AU" sz="20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640901571"/>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US" dirty="0">
                <a:solidFill>
                  <a:schemeClr val="tx1"/>
                </a:solidFill>
              </a:rPr>
              <a:t>Step 2: </a:t>
            </a:r>
            <a:r>
              <a:rPr lang="en-AU" b="1" i="0" dirty="0">
                <a:solidFill>
                  <a:schemeClr val="tx1"/>
                </a:solidFill>
                <a:effectLst/>
                <a:latin typeface="Söhne"/>
              </a:rPr>
              <a:t>Main Axis Direction (</a:t>
            </a:r>
            <a:r>
              <a:rPr lang="en-AU" b="1" i="1" dirty="0">
                <a:solidFill>
                  <a:schemeClr val="accent3"/>
                </a:solidFill>
                <a:effectLst/>
                <a:latin typeface="Söhne"/>
              </a:rPr>
              <a:t>flex-direction</a:t>
            </a:r>
            <a:r>
              <a:rPr lang="en-AU" b="1" i="0" dirty="0">
                <a:solidFill>
                  <a:schemeClr val="tx1"/>
                </a:solidFill>
                <a:effectLst/>
                <a:latin typeface="Söhne"/>
              </a:rPr>
              <a:t>)</a:t>
            </a:r>
            <a:endParaRPr lang="en-AU"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448407" y="2276832"/>
            <a:ext cx="11295185" cy="2571982"/>
          </a:xfrm>
        </p:spPr>
        <p:txBody>
          <a:bodyPr vert="horz" lIns="91440" tIns="45720" rIns="91440" bIns="45720" rtlCol="0" anchor="t">
            <a:noAutofit/>
          </a:bodyPr>
          <a:lstStyle/>
          <a:p>
            <a:pPr marL="457200" lvl="1" indent="0">
              <a:buNone/>
            </a:pPr>
            <a:r>
              <a:rPr lang="en-AU" sz="3200" b="1" i="1" dirty="0">
                <a:solidFill>
                  <a:schemeClr val="accent3"/>
                </a:solidFill>
                <a:effectLst/>
                <a:latin typeface="+mj-lt"/>
              </a:rPr>
              <a:t>row</a:t>
            </a:r>
            <a:r>
              <a:rPr lang="en-AU" sz="3200" b="0" i="0" dirty="0">
                <a:solidFill>
                  <a:schemeClr val="tx1"/>
                </a:solidFill>
                <a:effectLst/>
                <a:latin typeface="+mj-lt"/>
              </a:rPr>
              <a:t>: items are arranged horizontally in a row (default).</a:t>
            </a:r>
          </a:p>
          <a:p>
            <a:pPr marL="457200" lvl="1" indent="0">
              <a:buNone/>
            </a:pPr>
            <a:r>
              <a:rPr lang="en-AU" sz="3200" b="1" i="1" dirty="0">
                <a:solidFill>
                  <a:schemeClr val="accent3"/>
                </a:solidFill>
                <a:effectLst/>
                <a:latin typeface="+mj-lt"/>
              </a:rPr>
              <a:t>row-reverse</a:t>
            </a:r>
            <a:r>
              <a:rPr lang="en-AU" sz="3200" b="0" i="0" dirty="0">
                <a:solidFill>
                  <a:schemeClr val="tx1"/>
                </a:solidFill>
                <a:effectLst/>
                <a:latin typeface="+mj-lt"/>
              </a:rPr>
              <a:t>: items are arranged horizontally in reverse </a:t>
            </a:r>
          </a:p>
          <a:p>
            <a:pPr marL="457200" lvl="1" indent="0">
              <a:buNone/>
            </a:pPr>
            <a:r>
              <a:rPr lang="en-AU" sz="3200" b="1" i="1" dirty="0">
                <a:solidFill>
                  <a:schemeClr val="accent3"/>
                </a:solidFill>
                <a:effectLst/>
                <a:latin typeface="+mj-lt"/>
              </a:rPr>
              <a:t>column</a:t>
            </a:r>
            <a:r>
              <a:rPr lang="en-AU" sz="3200" b="0" i="0" dirty="0">
                <a:solidFill>
                  <a:schemeClr val="tx1"/>
                </a:solidFill>
                <a:effectLst/>
                <a:latin typeface="+mj-lt"/>
              </a:rPr>
              <a:t>: items are stacked vertically.</a:t>
            </a:r>
          </a:p>
          <a:p>
            <a:pPr marL="457200" lvl="1" indent="0">
              <a:buNone/>
            </a:pPr>
            <a:r>
              <a:rPr lang="en-AU" sz="3200" b="1" i="1" dirty="0">
                <a:solidFill>
                  <a:schemeClr val="accent3"/>
                </a:solidFill>
                <a:effectLst/>
                <a:latin typeface="+mj-lt"/>
              </a:rPr>
              <a:t>column-reverse</a:t>
            </a:r>
            <a:r>
              <a:rPr lang="en-AU" sz="3200" b="0" i="0" dirty="0">
                <a:solidFill>
                  <a:schemeClr val="tx1"/>
                </a:solidFill>
                <a:effectLst/>
                <a:latin typeface="+mj-lt"/>
              </a:rPr>
              <a:t>: items are stacked vertically in reverse order.</a:t>
            </a:r>
          </a:p>
        </p:txBody>
      </p:sp>
    </p:spTree>
    <p:extLst>
      <p:ext uri="{BB962C8B-B14F-4D97-AF65-F5344CB8AC3E}">
        <p14:creationId xmlns:p14="http://schemas.microsoft.com/office/powerpoint/2010/main" val="2298317288"/>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fontScale="90000"/>
          </a:bodyPr>
          <a:lstStyle/>
          <a:p>
            <a:r>
              <a:rPr lang="en-US" dirty="0">
                <a:solidFill>
                  <a:schemeClr val="tx1"/>
                </a:solidFill>
              </a:rPr>
              <a:t>Step 3: </a:t>
            </a:r>
            <a:r>
              <a:rPr lang="en-US" b="1" dirty="0">
                <a:solidFill>
                  <a:schemeClr val="tx1"/>
                </a:solidFill>
              </a:rPr>
              <a:t>Align on the </a:t>
            </a:r>
            <a:r>
              <a:rPr lang="en-AU" b="1" i="0" dirty="0">
                <a:solidFill>
                  <a:schemeClr val="tx1"/>
                </a:solidFill>
                <a:effectLst/>
                <a:latin typeface="Söhne"/>
              </a:rPr>
              <a:t>Main Axis (</a:t>
            </a:r>
            <a:r>
              <a:rPr lang="en-AU" b="1" i="1" dirty="0">
                <a:solidFill>
                  <a:schemeClr val="accent3"/>
                </a:solidFill>
                <a:effectLst/>
                <a:latin typeface="Söhne"/>
              </a:rPr>
              <a:t>justify-content</a:t>
            </a:r>
            <a:r>
              <a:rPr lang="en-AU" b="1" i="0" dirty="0">
                <a:solidFill>
                  <a:schemeClr val="tx1"/>
                </a:solidFill>
                <a:effectLst/>
                <a:latin typeface="Söhne"/>
              </a:rPr>
              <a:t>)</a:t>
            </a:r>
            <a:endParaRPr lang="en-AU" b="1"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398584" y="1912094"/>
            <a:ext cx="11418278" cy="4176471"/>
          </a:xfrm>
        </p:spPr>
        <p:txBody>
          <a:bodyPr vert="horz" lIns="91440" tIns="45720" rIns="91440" bIns="45720" rtlCol="0" anchor="t">
            <a:noAutofit/>
          </a:bodyPr>
          <a:lstStyle/>
          <a:p>
            <a:pPr marL="457200" lvl="1" indent="0">
              <a:buNone/>
            </a:pPr>
            <a:r>
              <a:rPr lang="en-AU" sz="3200" b="1" i="1" dirty="0">
                <a:solidFill>
                  <a:schemeClr val="accent3"/>
                </a:solidFill>
                <a:effectLst/>
                <a:latin typeface="+mj-lt"/>
              </a:rPr>
              <a:t>flex-start</a:t>
            </a:r>
            <a:r>
              <a:rPr lang="en-AU" sz="3200" b="0" i="0" dirty="0">
                <a:solidFill>
                  <a:schemeClr val="tx1"/>
                </a:solidFill>
                <a:effectLst/>
                <a:latin typeface="+mj-lt"/>
              </a:rPr>
              <a:t>: items align at the start of the main axis.</a:t>
            </a:r>
          </a:p>
          <a:p>
            <a:pPr marL="457200" lvl="1" indent="0">
              <a:buNone/>
            </a:pPr>
            <a:r>
              <a:rPr lang="en-AU" sz="3200" b="1" i="1" dirty="0">
                <a:solidFill>
                  <a:schemeClr val="accent3"/>
                </a:solidFill>
                <a:effectLst/>
                <a:latin typeface="+mj-lt"/>
              </a:rPr>
              <a:t>flex-end</a:t>
            </a:r>
            <a:r>
              <a:rPr lang="en-AU" sz="3200" b="0" i="0" dirty="0">
                <a:solidFill>
                  <a:schemeClr val="tx1"/>
                </a:solidFill>
                <a:effectLst/>
                <a:latin typeface="+mj-lt"/>
              </a:rPr>
              <a:t>: items align at the end of the main axis.</a:t>
            </a:r>
          </a:p>
          <a:p>
            <a:pPr marL="457200" lvl="1" indent="0">
              <a:buNone/>
            </a:pPr>
            <a:r>
              <a:rPr lang="en-AU" sz="3200" b="1" i="1" dirty="0">
                <a:solidFill>
                  <a:schemeClr val="accent3"/>
                </a:solidFill>
                <a:effectLst/>
                <a:latin typeface="+mj-lt"/>
              </a:rPr>
              <a:t>centre</a:t>
            </a:r>
            <a:r>
              <a:rPr lang="en-AU" sz="3200" b="0" i="0" dirty="0">
                <a:solidFill>
                  <a:schemeClr val="tx1"/>
                </a:solidFill>
                <a:effectLst/>
                <a:latin typeface="+mj-lt"/>
              </a:rPr>
              <a:t>: items align at the centre along the main axis.</a:t>
            </a:r>
          </a:p>
          <a:p>
            <a:pPr marL="457200" lvl="1" indent="0">
              <a:buNone/>
            </a:pPr>
            <a:r>
              <a:rPr lang="en-AU" sz="3200" b="1" i="1" dirty="0">
                <a:solidFill>
                  <a:schemeClr val="accent3"/>
                </a:solidFill>
                <a:effectLst/>
                <a:latin typeface="+mj-lt"/>
              </a:rPr>
              <a:t>space-between</a:t>
            </a:r>
            <a:r>
              <a:rPr lang="en-AU" sz="3200" b="0" i="0" dirty="0">
                <a:solidFill>
                  <a:schemeClr val="tx1"/>
                </a:solidFill>
                <a:effectLst/>
                <a:latin typeface="+mj-lt"/>
              </a:rPr>
              <a:t>: items are spaced evenly </a:t>
            </a:r>
          </a:p>
          <a:p>
            <a:pPr marL="457200" lvl="1" indent="0">
              <a:buNone/>
            </a:pPr>
            <a:r>
              <a:rPr lang="en-AU" sz="3200" dirty="0">
                <a:solidFill>
                  <a:schemeClr val="tx1"/>
                </a:solidFill>
                <a:latin typeface="+mj-lt"/>
              </a:rPr>
              <a:t>(</a:t>
            </a:r>
            <a:r>
              <a:rPr lang="en-AU" sz="3200" b="0" i="0" dirty="0">
                <a:solidFill>
                  <a:schemeClr val="tx1"/>
                </a:solidFill>
                <a:effectLst/>
                <a:latin typeface="+mj-lt"/>
              </a:rPr>
              <a:t>first and last item at the edges)</a:t>
            </a:r>
          </a:p>
          <a:p>
            <a:pPr marL="457200" lvl="1" indent="0">
              <a:buNone/>
            </a:pPr>
            <a:r>
              <a:rPr lang="en-AU" sz="3200" b="1" i="1" dirty="0">
                <a:solidFill>
                  <a:schemeClr val="accent3"/>
                </a:solidFill>
                <a:effectLst/>
                <a:latin typeface="+mj-lt"/>
              </a:rPr>
              <a:t>space-around</a:t>
            </a:r>
            <a:r>
              <a:rPr lang="en-AU" sz="3200" b="0" i="0" dirty="0">
                <a:solidFill>
                  <a:schemeClr val="tx1"/>
                </a:solidFill>
                <a:effectLst/>
                <a:latin typeface="+mj-lt"/>
              </a:rPr>
              <a:t>: items are spaced evenly with equal space around them.</a:t>
            </a:r>
          </a:p>
        </p:txBody>
      </p:sp>
    </p:spTree>
    <p:extLst>
      <p:ext uri="{BB962C8B-B14F-4D97-AF65-F5344CB8AC3E}">
        <p14:creationId xmlns:p14="http://schemas.microsoft.com/office/powerpoint/2010/main" val="898141577"/>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A8FF-724B-4D08-A628-7FB6ADD2AA1D}"/>
              </a:ext>
            </a:extLst>
          </p:cNvPr>
          <p:cNvSpPr>
            <a:spLocks noGrp="1"/>
          </p:cNvSpPr>
          <p:nvPr>
            <p:ph type="title"/>
          </p:nvPr>
        </p:nvSpPr>
        <p:spPr/>
        <p:txBody>
          <a:bodyPr>
            <a:normAutofit/>
          </a:bodyPr>
          <a:lstStyle/>
          <a:p>
            <a:r>
              <a:rPr lang="en-US" dirty="0">
                <a:solidFill>
                  <a:schemeClr val="tx1"/>
                </a:solidFill>
              </a:rPr>
              <a:t>Step 4: </a:t>
            </a:r>
            <a:r>
              <a:rPr lang="en-US" b="1" dirty="0">
                <a:solidFill>
                  <a:schemeClr val="tx1"/>
                </a:solidFill>
              </a:rPr>
              <a:t>Align on the </a:t>
            </a:r>
            <a:r>
              <a:rPr lang="en-AU" b="1" dirty="0">
                <a:solidFill>
                  <a:schemeClr val="tx1"/>
                </a:solidFill>
                <a:latin typeface="Söhne"/>
              </a:rPr>
              <a:t>Cross</a:t>
            </a:r>
            <a:r>
              <a:rPr lang="en-AU" b="1" i="0" dirty="0">
                <a:solidFill>
                  <a:schemeClr val="tx1"/>
                </a:solidFill>
                <a:effectLst/>
                <a:latin typeface="Söhne"/>
              </a:rPr>
              <a:t> Axis(</a:t>
            </a:r>
            <a:r>
              <a:rPr lang="en-AU" b="1" i="1" dirty="0">
                <a:solidFill>
                  <a:schemeClr val="accent3"/>
                </a:solidFill>
                <a:effectLst/>
                <a:latin typeface="Söhne"/>
              </a:rPr>
              <a:t>align-items</a:t>
            </a:r>
            <a:r>
              <a:rPr lang="en-AU" b="1" i="0" dirty="0">
                <a:solidFill>
                  <a:schemeClr val="tx1"/>
                </a:solidFill>
                <a:effectLst/>
                <a:latin typeface="Söhne"/>
              </a:rPr>
              <a:t>)</a:t>
            </a:r>
            <a:endParaRPr lang="en-AU" b="1" dirty="0">
              <a:solidFill>
                <a:schemeClr val="tx1"/>
              </a:solidFill>
            </a:endParaRPr>
          </a:p>
        </p:txBody>
      </p:sp>
      <p:sp>
        <p:nvSpPr>
          <p:cNvPr id="3" name="Content Placeholder 2">
            <a:extLst>
              <a:ext uri="{FF2B5EF4-FFF2-40B4-BE49-F238E27FC236}">
                <a16:creationId xmlns:a16="http://schemas.microsoft.com/office/drawing/2014/main" id="{D5257224-6FAB-4DEC-A9DB-C4E62FE92F63}"/>
              </a:ext>
            </a:extLst>
          </p:cNvPr>
          <p:cNvSpPr>
            <a:spLocks noGrp="1"/>
          </p:cNvSpPr>
          <p:nvPr>
            <p:ph idx="1"/>
          </p:nvPr>
        </p:nvSpPr>
        <p:spPr>
          <a:xfrm>
            <a:off x="451338" y="1969138"/>
            <a:ext cx="10328031" cy="4176471"/>
          </a:xfrm>
        </p:spPr>
        <p:txBody>
          <a:bodyPr vert="horz" lIns="91440" tIns="45720" rIns="91440" bIns="45720" rtlCol="0" anchor="t">
            <a:noAutofit/>
          </a:bodyPr>
          <a:lstStyle/>
          <a:p>
            <a:pPr marL="457200" lvl="1" indent="0">
              <a:buNone/>
            </a:pPr>
            <a:r>
              <a:rPr lang="en-AU" sz="3200" b="1" i="1" dirty="0">
                <a:solidFill>
                  <a:schemeClr val="accent3"/>
                </a:solidFill>
                <a:effectLst/>
                <a:latin typeface="+mj-lt"/>
              </a:rPr>
              <a:t>flex-start</a:t>
            </a:r>
            <a:r>
              <a:rPr lang="en-AU" sz="3200" b="0" i="0" dirty="0">
                <a:solidFill>
                  <a:schemeClr val="tx1"/>
                </a:solidFill>
                <a:effectLst/>
                <a:latin typeface="+mj-lt"/>
              </a:rPr>
              <a:t>: items align at the start of the main axis.</a:t>
            </a:r>
          </a:p>
          <a:p>
            <a:pPr marL="457200" lvl="1" indent="0">
              <a:buNone/>
            </a:pPr>
            <a:r>
              <a:rPr lang="en-AU" sz="3200" b="1" i="1" dirty="0">
                <a:solidFill>
                  <a:schemeClr val="accent3"/>
                </a:solidFill>
                <a:effectLst/>
                <a:latin typeface="+mj-lt"/>
              </a:rPr>
              <a:t>flex-end</a:t>
            </a:r>
            <a:r>
              <a:rPr lang="en-AU" sz="3200" b="0" i="0" dirty="0">
                <a:solidFill>
                  <a:schemeClr val="tx1"/>
                </a:solidFill>
                <a:effectLst/>
                <a:latin typeface="+mj-lt"/>
              </a:rPr>
              <a:t>: items align at the end of the main axis.</a:t>
            </a:r>
          </a:p>
          <a:p>
            <a:pPr marL="457200" lvl="1" indent="0">
              <a:buNone/>
            </a:pPr>
            <a:r>
              <a:rPr lang="en-AU" sz="3200" b="1" i="1" dirty="0">
                <a:solidFill>
                  <a:schemeClr val="accent3"/>
                </a:solidFill>
                <a:effectLst/>
                <a:latin typeface="+mj-lt"/>
              </a:rPr>
              <a:t>baseline</a:t>
            </a:r>
            <a:r>
              <a:rPr lang="en-AU" sz="3200" b="0" i="0" dirty="0">
                <a:solidFill>
                  <a:schemeClr val="tx1"/>
                </a:solidFill>
                <a:effectLst/>
                <a:latin typeface="+mj-lt"/>
              </a:rPr>
              <a:t>: items align along their baselines.</a:t>
            </a:r>
          </a:p>
          <a:p>
            <a:pPr marL="457200" lvl="1" indent="0">
              <a:buNone/>
            </a:pPr>
            <a:r>
              <a:rPr lang="en-AU" sz="3200" b="1" i="1" dirty="0">
                <a:solidFill>
                  <a:schemeClr val="accent3"/>
                </a:solidFill>
                <a:effectLst/>
                <a:latin typeface="+mj-lt"/>
              </a:rPr>
              <a:t>stretch</a:t>
            </a:r>
            <a:r>
              <a:rPr lang="en-AU" sz="3200" b="0" i="0" dirty="0">
                <a:solidFill>
                  <a:schemeClr val="tx1"/>
                </a:solidFill>
                <a:effectLst/>
                <a:latin typeface="+mj-lt"/>
              </a:rPr>
              <a:t>: items stretch to fill the container's cross axis.</a:t>
            </a:r>
          </a:p>
        </p:txBody>
      </p:sp>
    </p:spTree>
    <p:extLst>
      <p:ext uri="{BB962C8B-B14F-4D97-AF65-F5344CB8AC3E}">
        <p14:creationId xmlns:p14="http://schemas.microsoft.com/office/powerpoint/2010/main" val="3034837750"/>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B8D7E-D5D3-796B-D5BC-EF078784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E0D9B-9AB3-D0A9-F50A-AA157A0C12CB}"/>
              </a:ext>
            </a:extLst>
          </p:cNvPr>
          <p:cNvSpPr>
            <a:spLocks noGrp="1"/>
          </p:cNvSpPr>
          <p:nvPr>
            <p:ph type="title"/>
          </p:nvPr>
        </p:nvSpPr>
        <p:spPr/>
        <p:txBody>
          <a:bodyPr>
            <a:normAutofit/>
          </a:bodyPr>
          <a:lstStyle/>
          <a:p>
            <a:r>
              <a:rPr lang="en-AU" b="1" i="0" dirty="0">
                <a:solidFill>
                  <a:schemeClr val="tx1"/>
                </a:solidFill>
                <a:effectLst/>
                <a:latin typeface="Söhne"/>
              </a:rPr>
              <a:t>Media Queries</a:t>
            </a:r>
            <a:endParaRPr lang="en-AU" dirty="0">
              <a:solidFill>
                <a:schemeClr val="tx1"/>
              </a:solidFill>
            </a:endParaRPr>
          </a:p>
        </p:txBody>
      </p:sp>
      <p:sp>
        <p:nvSpPr>
          <p:cNvPr id="3" name="Content Placeholder 2">
            <a:extLst>
              <a:ext uri="{FF2B5EF4-FFF2-40B4-BE49-F238E27FC236}">
                <a16:creationId xmlns:a16="http://schemas.microsoft.com/office/drawing/2014/main" id="{6E8D6C63-CCAC-EF75-DA99-00499F7B5C96}"/>
              </a:ext>
            </a:extLst>
          </p:cNvPr>
          <p:cNvSpPr>
            <a:spLocks noGrp="1"/>
          </p:cNvSpPr>
          <p:nvPr>
            <p:ph idx="1"/>
          </p:nvPr>
        </p:nvSpPr>
        <p:spPr>
          <a:xfrm>
            <a:off x="5562210" y="2400411"/>
            <a:ext cx="6111549" cy="3796639"/>
          </a:xfrm>
        </p:spPr>
        <p:txBody>
          <a:bodyPr vert="horz" lIns="91440" tIns="45720" rIns="91440" bIns="45720" rtlCol="0" anchor="t">
            <a:noAutofit/>
          </a:bodyPr>
          <a:lstStyle/>
          <a:p>
            <a:pPr lvl="1"/>
            <a:r>
              <a:rPr lang="en-AU" sz="2800" b="0" i="0" dirty="0">
                <a:solidFill>
                  <a:schemeClr val="tx1"/>
                </a:solidFill>
                <a:effectLst/>
                <a:latin typeface="+mj-lt"/>
              </a:rPr>
              <a:t>designing for mobile devices before scaling up </a:t>
            </a:r>
          </a:p>
          <a:p>
            <a:pPr lvl="1"/>
            <a:r>
              <a:rPr lang="en-AU" sz="2800" b="0" i="0" dirty="0">
                <a:solidFill>
                  <a:schemeClr val="tx1"/>
                </a:solidFill>
                <a:effectLst/>
                <a:latin typeface="+mj-lt"/>
              </a:rPr>
              <a:t>allows for graceful enhancement on larger devices.</a:t>
            </a:r>
          </a:p>
          <a:p>
            <a:pPr lvl="1"/>
            <a:r>
              <a:rPr lang="en-AU" sz="2800" b="0" i="0" dirty="0">
                <a:solidFill>
                  <a:schemeClr val="tx1"/>
                </a:solidFill>
                <a:effectLst/>
                <a:latin typeface="+mj-lt"/>
              </a:rPr>
              <a:t>focuses on essential content for mobile users</a:t>
            </a:r>
          </a:p>
        </p:txBody>
      </p:sp>
      <p:sp>
        <p:nvSpPr>
          <p:cNvPr id="4" name="Content Placeholder 2">
            <a:extLst>
              <a:ext uri="{FF2B5EF4-FFF2-40B4-BE49-F238E27FC236}">
                <a16:creationId xmlns:a16="http://schemas.microsoft.com/office/drawing/2014/main" id="{57C968FF-D3F8-E01C-EF62-2E46242BF5A0}"/>
              </a:ext>
            </a:extLst>
          </p:cNvPr>
          <p:cNvSpPr txBox="1">
            <a:spLocks/>
          </p:cNvSpPr>
          <p:nvPr/>
        </p:nvSpPr>
        <p:spPr>
          <a:xfrm>
            <a:off x="697524" y="2249213"/>
            <a:ext cx="5148466" cy="4099034"/>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800" b="0" dirty="0">
                <a:solidFill>
                  <a:srgbClr val="D7BA7D"/>
                </a:solidFill>
                <a:effectLst/>
                <a:latin typeface="Consolas" panose="020B0609020204030204" pitchFamily="49" charset="0"/>
              </a:rPr>
              <a:t>.container</a:t>
            </a:r>
            <a:r>
              <a:rPr lang="en-AU" sz="1800" b="0" dirty="0">
                <a:solidFill>
                  <a:srgbClr val="CCCCCC"/>
                </a:solidFill>
                <a:effectLst/>
                <a:latin typeface="Consolas" panose="020B0609020204030204" pitchFamily="49" charset="0"/>
              </a:rPr>
              <a:t> {</a:t>
            </a:r>
          </a:p>
          <a:p>
            <a:pPr marL="0" indent="0">
              <a:buNone/>
            </a:pPr>
            <a:r>
              <a:rPr lang="en-AU" sz="1800" dirty="0">
                <a:solidFill>
                  <a:srgbClr val="9CDCFE"/>
                </a:solidFill>
                <a:latin typeface="Consolas" panose="020B0609020204030204" pitchFamily="49" charset="0"/>
              </a:rPr>
              <a:t>    </a:t>
            </a:r>
            <a:r>
              <a:rPr lang="en-AU" sz="1800" b="0" dirty="0">
                <a:solidFill>
                  <a:srgbClr val="9CDCFE"/>
                </a:solidFill>
                <a:effectLst/>
                <a:latin typeface="Consolas" panose="020B0609020204030204" pitchFamily="49" charset="0"/>
              </a:rPr>
              <a:t>width</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100%</a:t>
            </a:r>
            <a:r>
              <a:rPr lang="en-AU" sz="1800" b="0" dirty="0">
                <a:solidFill>
                  <a:srgbClr val="CCCCCC"/>
                </a:solidFill>
                <a:effectLst/>
                <a:latin typeface="Consolas" panose="020B0609020204030204" pitchFamily="49" charset="0"/>
              </a:rPr>
              <a:t>;</a:t>
            </a:r>
          </a:p>
          <a:p>
            <a:pPr marL="0" indent="0">
              <a:buNone/>
            </a:pPr>
            <a:r>
              <a:rPr lang="en-AU" sz="1800" b="0" dirty="0">
                <a:solidFill>
                  <a:srgbClr val="CCCCCC"/>
                </a:solidFill>
                <a:effectLst/>
                <a:latin typeface="Consolas" panose="020B0609020204030204" pitchFamily="49" charset="0"/>
              </a:rPr>
              <a:t>}</a:t>
            </a:r>
          </a:p>
          <a:p>
            <a:pPr marL="0" indent="0">
              <a:buNone/>
            </a:pPr>
            <a:r>
              <a:rPr lang="en-AU" sz="1800" b="0" dirty="0">
                <a:solidFill>
                  <a:srgbClr val="C586C0"/>
                </a:solidFill>
                <a:effectLst/>
                <a:latin typeface="Consolas" panose="020B0609020204030204" pitchFamily="49" charset="0"/>
              </a:rPr>
              <a:t>@media</a:t>
            </a:r>
            <a:r>
              <a:rPr lang="en-AU" sz="1800" b="0" dirty="0">
                <a:solidFill>
                  <a:srgbClr val="CCCCCC"/>
                </a:solidFill>
                <a:effectLst/>
                <a:latin typeface="Consolas" panose="020B0609020204030204" pitchFamily="49" charset="0"/>
              </a:rPr>
              <a:t> (</a:t>
            </a:r>
            <a:r>
              <a:rPr lang="en-AU" sz="1800" b="0" dirty="0">
                <a:solidFill>
                  <a:srgbClr val="9CDCFE"/>
                </a:solidFill>
                <a:effectLst/>
                <a:latin typeface="Consolas" panose="020B0609020204030204" pitchFamily="49" charset="0"/>
              </a:rPr>
              <a:t>min-width</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768px</a:t>
            </a:r>
            <a:r>
              <a:rPr lang="en-AU" sz="1800" b="0" dirty="0">
                <a:solidFill>
                  <a:srgbClr val="CCCCCC"/>
                </a:solidFill>
                <a:effectLst/>
                <a:latin typeface="Consolas" panose="020B0609020204030204" pitchFamily="49" charset="0"/>
              </a:rPr>
              <a:t>) {</a:t>
            </a:r>
          </a:p>
          <a:p>
            <a:pPr marL="0" indent="0">
              <a:buNone/>
            </a:pPr>
            <a:r>
              <a:rPr lang="en-AU" sz="1800" b="0" dirty="0">
                <a:solidFill>
                  <a:srgbClr val="D7BA7D"/>
                </a:solidFill>
                <a:effectLst/>
                <a:latin typeface="Consolas" panose="020B0609020204030204" pitchFamily="49" charset="0"/>
              </a:rPr>
              <a:t>    .container</a:t>
            </a:r>
            <a:r>
              <a:rPr lang="en-AU" sz="1800" b="0" dirty="0">
                <a:solidFill>
                  <a:srgbClr val="CCCCCC"/>
                </a:solidFill>
                <a:effectLst/>
                <a:latin typeface="Consolas" panose="020B0609020204030204" pitchFamily="49" charset="0"/>
              </a:rPr>
              <a:t> {</a:t>
            </a:r>
          </a:p>
          <a:p>
            <a:pPr marL="0" indent="0">
              <a:buNone/>
            </a:pPr>
            <a:r>
              <a:rPr lang="en-AU" sz="1800" b="0" dirty="0">
                <a:solidFill>
                  <a:srgbClr val="9CDCFE"/>
                </a:solidFill>
                <a:effectLst/>
                <a:latin typeface="Consolas" panose="020B0609020204030204" pitchFamily="49" charset="0"/>
              </a:rPr>
              <a:t>        width</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75%</a:t>
            </a:r>
            <a:r>
              <a:rPr lang="en-AU" sz="1800" b="0" dirty="0">
                <a:solidFill>
                  <a:srgbClr val="CCCCCC"/>
                </a:solidFill>
                <a:effectLst/>
                <a:latin typeface="Consolas" panose="020B0609020204030204" pitchFamily="49" charset="0"/>
              </a:rPr>
              <a:t>;</a:t>
            </a:r>
          </a:p>
          <a:p>
            <a:pPr marL="0" indent="0">
              <a:buNone/>
            </a:pPr>
            <a:r>
              <a:rPr lang="en-AU" sz="1800" b="0" dirty="0">
                <a:solidFill>
                  <a:srgbClr val="9CDCFE"/>
                </a:solidFill>
                <a:effectLst/>
                <a:latin typeface="Consolas" panose="020B0609020204030204" pitchFamily="49" charset="0"/>
              </a:rPr>
              <a:t>        margin</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0</a:t>
            </a:r>
            <a:r>
              <a:rPr lang="en-AU" sz="1800" b="0" dirty="0">
                <a:solidFill>
                  <a:srgbClr val="CCCCCC"/>
                </a:solidFill>
                <a:effectLst/>
                <a:latin typeface="Consolas" panose="020B0609020204030204" pitchFamily="49" charset="0"/>
              </a:rPr>
              <a:t> </a:t>
            </a:r>
            <a:r>
              <a:rPr lang="en-AU" sz="1800" b="0" dirty="0">
                <a:solidFill>
                  <a:srgbClr val="CE9178"/>
                </a:solidFill>
                <a:effectLst/>
                <a:latin typeface="Consolas" panose="020B0609020204030204" pitchFamily="49" charset="0"/>
              </a:rPr>
              <a:t>auto</a:t>
            </a:r>
            <a:r>
              <a:rPr lang="en-AU" sz="1800" b="0" dirty="0">
                <a:solidFill>
                  <a:srgbClr val="CCCCCC"/>
                </a:solidFill>
                <a:effectLst/>
                <a:latin typeface="Consolas" panose="020B0609020204030204" pitchFamily="49" charset="0"/>
              </a:rPr>
              <a:t>;</a:t>
            </a:r>
          </a:p>
          <a:p>
            <a:pPr marL="0" indent="0">
              <a:buNone/>
            </a:pPr>
            <a:r>
              <a:rPr lang="en-AU" sz="1800" b="0" dirty="0">
                <a:solidFill>
                  <a:srgbClr val="CCCCCC"/>
                </a:solidFill>
                <a:effectLst/>
                <a:latin typeface="Consolas" panose="020B0609020204030204" pitchFamily="49" charset="0"/>
              </a:rPr>
              <a:t>    }</a:t>
            </a:r>
          </a:p>
          <a:p>
            <a:pPr marL="0" indent="0">
              <a:buNone/>
            </a:pPr>
            <a:r>
              <a:rPr lang="en-AU" sz="18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125147771"/>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BAA62-4346-BBE5-8D8A-85C82830E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53609-05C8-BA01-376F-EEDD2A0935A3}"/>
              </a:ext>
            </a:extLst>
          </p:cNvPr>
          <p:cNvSpPr>
            <a:spLocks noGrp="1"/>
          </p:cNvSpPr>
          <p:nvPr>
            <p:ph type="title"/>
          </p:nvPr>
        </p:nvSpPr>
        <p:spPr/>
        <p:txBody>
          <a:bodyPr>
            <a:normAutofit/>
          </a:bodyPr>
          <a:lstStyle/>
          <a:p>
            <a:r>
              <a:rPr lang="en-AU" b="1" i="0" dirty="0">
                <a:solidFill>
                  <a:schemeClr val="tx1"/>
                </a:solidFill>
                <a:effectLst/>
                <a:latin typeface="Söhne"/>
              </a:rPr>
              <a:t>Media Queries – mobile 1st</a:t>
            </a:r>
            <a:endParaRPr lang="en-AU" dirty="0">
              <a:solidFill>
                <a:schemeClr val="tx1"/>
              </a:solidFill>
            </a:endParaRPr>
          </a:p>
        </p:txBody>
      </p:sp>
      <p:sp>
        <p:nvSpPr>
          <p:cNvPr id="3" name="Content Placeholder 2">
            <a:extLst>
              <a:ext uri="{FF2B5EF4-FFF2-40B4-BE49-F238E27FC236}">
                <a16:creationId xmlns:a16="http://schemas.microsoft.com/office/drawing/2014/main" id="{3943BDCD-B4A4-A131-537B-1EBDDAF8163B}"/>
              </a:ext>
            </a:extLst>
          </p:cNvPr>
          <p:cNvSpPr>
            <a:spLocks noGrp="1"/>
          </p:cNvSpPr>
          <p:nvPr>
            <p:ph idx="1"/>
          </p:nvPr>
        </p:nvSpPr>
        <p:spPr>
          <a:xfrm>
            <a:off x="5562210" y="2400411"/>
            <a:ext cx="6111549" cy="3796639"/>
          </a:xfrm>
        </p:spPr>
        <p:txBody>
          <a:bodyPr vert="horz" lIns="91440" tIns="45720" rIns="91440" bIns="45720" rtlCol="0" anchor="t">
            <a:noAutofit/>
          </a:bodyPr>
          <a:lstStyle/>
          <a:p>
            <a:pPr marL="971550" lvl="1" indent="-514350">
              <a:buFont typeface="+mj-lt"/>
              <a:buAutoNum type="arabicPeriod"/>
            </a:pPr>
            <a:r>
              <a:rPr lang="en-AU" sz="2800" dirty="0">
                <a:solidFill>
                  <a:schemeClr val="tx1"/>
                </a:solidFill>
                <a:latin typeface="+mj-lt"/>
              </a:rPr>
              <a:t>s</a:t>
            </a:r>
            <a:r>
              <a:rPr lang="en-AU" sz="2800" b="0" i="0" dirty="0">
                <a:solidFill>
                  <a:schemeClr val="tx1"/>
                </a:solidFill>
                <a:effectLst/>
                <a:latin typeface="+mj-lt"/>
              </a:rPr>
              <a:t>tart with a single-column layout</a:t>
            </a:r>
          </a:p>
          <a:p>
            <a:pPr marL="971550" lvl="1" indent="-514350">
              <a:buFont typeface="+mj-lt"/>
              <a:buAutoNum type="arabicPeriod"/>
            </a:pPr>
            <a:r>
              <a:rPr lang="en-AU" sz="2800" dirty="0">
                <a:solidFill>
                  <a:schemeClr val="tx1"/>
                </a:solidFill>
                <a:latin typeface="+mj-lt"/>
              </a:rPr>
              <a:t>u</a:t>
            </a:r>
            <a:r>
              <a:rPr lang="en-AU" sz="2800" b="0" i="0" dirty="0">
                <a:solidFill>
                  <a:schemeClr val="tx1"/>
                </a:solidFill>
                <a:effectLst/>
                <a:latin typeface="+mj-lt"/>
              </a:rPr>
              <a:t>se relative units like </a:t>
            </a:r>
            <a:r>
              <a:rPr lang="en-AU" sz="2800" b="0" i="1" dirty="0" err="1">
                <a:solidFill>
                  <a:srgbClr val="FFC000"/>
                </a:solidFill>
                <a:effectLst/>
                <a:latin typeface="+mj-lt"/>
              </a:rPr>
              <a:t>ems</a:t>
            </a:r>
            <a:r>
              <a:rPr lang="en-AU" sz="2800" b="0" i="0" dirty="0">
                <a:solidFill>
                  <a:schemeClr val="tx1"/>
                </a:solidFill>
                <a:effectLst/>
                <a:latin typeface="+mj-lt"/>
              </a:rPr>
              <a:t> for layout and font </a:t>
            </a:r>
          </a:p>
          <a:p>
            <a:pPr marL="971550" lvl="1" indent="-514350">
              <a:buFont typeface="+mj-lt"/>
              <a:buAutoNum type="arabicPeriod"/>
            </a:pPr>
            <a:r>
              <a:rPr lang="en-AU" sz="2800" dirty="0">
                <a:solidFill>
                  <a:schemeClr val="tx1"/>
                </a:solidFill>
                <a:latin typeface="+mj-lt"/>
              </a:rPr>
              <a:t>u</a:t>
            </a:r>
            <a:r>
              <a:rPr lang="en-AU" sz="2800" b="0" i="0" dirty="0">
                <a:solidFill>
                  <a:schemeClr val="tx1"/>
                </a:solidFill>
                <a:effectLst/>
                <a:latin typeface="+mj-lt"/>
              </a:rPr>
              <a:t>se flexbox or grid without relying heavily on media queries.</a:t>
            </a:r>
          </a:p>
          <a:p>
            <a:pPr marL="971550" lvl="1" indent="-514350">
              <a:buFont typeface="+mj-lt"/>
              <a:buAutoNum type="arabicPeriod"/>
            </a:pPr>
            <a:r>
              <a:rPr lang="en-AU" sz="2800" dirty="0">
                <a:solidFill>
                  <a:schemeClr val="tx1"/>
                </a:solidFill>
                <a:latin typeface="+mj-lt"/>
              </a:rPr>
              <a:t>t</a:t>
            </a:r>
            <a:r>
              <a:rPr lang="en-AU" sz="2800" b="0" i="0" dirty="0">
                <a:solidFill>
                  <a:schemeClr val="tx1"/>
                </a:solidFill>
                <a:effectLst/>
                <a:latin typeface="+mj-lt"/>
              </a:rPr>
              <a:t>est designs on actual mobile devices</a:t>
            </a:r>
          </a:p>
        </p:txBody>
      </p:sp>
      <p:sp>
        <p:nvSpPr>
          <p:cNvPr id="4" name="Content Placeholder 2">
            <a:extLst>
              <a:ext uri="{FF2B5EF4-FFF2-40B4-BE49-F238E27FC236}">
                <a16:creationId xmlns:a16="http://schemas.microsoft.com/office/drawing/2014/main" id="{3514237C-D0B7-2370-F0F8-22506607E016}"/>
              </a:ext>
            </a:extLst>
          </p:cNvPr>
          <p:cNvSpPr txBox="1">
            <a:spLocks/>
          </p:cNvSpPr>
          <p:nvPr/>
        </p:nvSpPr>
        <p:spPr>
          <a:xfrm>
            <a:off x="697524" y="2249213"/>
            <a:ext cx="5148466" cy="4099034"/>
          </a:xfrm>
          <a:prstGeom prst="rect">
            <a:avLst/>
          </a:prstGeom>
        </p:spPr>
        <p:txBody>
          <a:bodyPr vert="horz" lIns="91440" tIns="45720" rIns="91440" bIns="45720" rtlCol="0" anchor="t">
            <a:noAutofit/>
          </a:bodyPr>
          <a:lstStyle>
            <a:lvl1pPr marL="228600" indent="-228600" algn="l" defTabSz="914400" rtl="0" eaLnBrk="1" latinLnBrk="0" hangingPunct="1">
              <a:lnSpc>
                <a:spcPct val="100000"/>
              </a:lnSpc>
              <a:spcBef>
                <a:spcPts val="300"/>
              </a:spcBef>
              <a:spcAft>
                <a:spcPts val="300"/>
              </a:spcAft>
              <a:buFont typeface="Arial" panose="020B0604020202020204" pitchFamily="34" charset="0"/>
              <a:buChar char="•"/>
              <a:defRPr sz="4000" kern="1200">
                <a:solidFill>
                  <a:schemeClr val="tx1">
                    <a:lumMod val="95000"/>
                  </a:schemeClr>
                </a:solidFill>
                <a:latin typeface="+mn-lt"/>
                <a:ea typeface="+mn-ea"/>
                <a:cs typeface="+mn-cs"/>
              </a:defRPr>
            </a:lvl1pPr>
            <a:lvl2pPr marL="685800" indent="-228600" algn="l" defTabSz="914400" rtl="0" eaLnBrk="1" latinLnBrk="0" hangingPunct="1">
              <a:lnSpc>
                <a:spcPct val="100000"/>
              </a:lnSpc>
              <a:spcBef>
                <a:spcPts val="300"/>
              </a:spcBef>
              <a:spcAft>
                <a:spcPts val="300"/>
              </a:spcAft>
              <a:buFont typeface="Arial" panose="020B0604020202020204" pitchFamily="34" charset="0"/>
              <a:buChar char="•"/>
              <a:defRPr sz="3600" kern="1200">
                <a:solidFill>
                  <a:schemeClr val="tx1">
                    <a:lumMod val="95000"/>
                  </a:schemeClr>
                </a:solidFill>
                <a:latin typeface="+mn-lt"/>
                <a:ea typeface="+mn-ea"/>
                <a:cs typeface="+mn-cs"/>
              </a:defRPr>
            </a:lvl2pPr>
            <a:lvl3pPr marL="1143000" indent="-228600" algn="l" defTabSz="914400" rtl="0" eaLnBrk="1" latinLnBrk="0" hangingPunct="1">
              <a:lnSpc>
                <a:spcPct val="100000"/>
              </a:lnSpc>
              <a:spcBef>
                <a:spcPts val="300"/>
              </a:spcBef>
              <a:spcAft>
                <a:spcPts val="300"/>
              </a:spcAft>
              <a:buFont typeface="Arial" panose="020B0604020202020204" pitchFamily="34" charset="0"/>
              <a:buChar char="•"/>
              <a:defRPr sz="3200" kern="1200">
                <a:solidFill>
                  <a:schemeClr val="tx1">
                    <a:lumMod val="95000"/>
                  </a:schemeClr>
                </a:solidFill>
                <a:latin typeface="+mn-lt"/>
                <a:ea typeface="+mn-ea"/>
                <a:cs typeface="+mn-cs"/>
              </a:defRPr>
            </a:lvl3pPr>
            <a:lvl4pPr marL="16002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4pPr>
            <a:lvl5pPr marL="2057400" indent="-228600" algn="l" defTabSz="914400" rtl="0" eaLnBrk="1" latinLnBrk="0" hangingPunct="1">
              <a:lnSpc>
                <a:spcPct val="100000"/>
              </a:lnSpc>
              <a:spcBef>
                <a:spcPts val="300"/>
              </a:spcBef>
              <a:spcAft>
                <a:spcPts val="300"/>
              </a:spcAft>
              <a:buFont typeface="Arial" panose="020B0604020202020204" pitchFamily="34" charset="0"/>
              <a:buChar char="•"/>
              <a:defRPr sz="2800" kern="1200">
                <a:solidFill>
                  <a:schemeClr val="tx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800" b="0" dirty="0">
                <a:solidFill>
                  <a:srgbClr val="D7BA7D"/>
                </a:solidFill>
                <a:effectLst/>
                <a:latin typeface="Consolas" panose="020B0609020204030204" pitchFamily="49" charset="0"/>
              </a:rPr>
              <a:t>.container</a:t>
            </a:r>
            <a:r>
              <a:rPr lang="en-AU" sz="1800" b="0" dirty="0">
                <a:solidFill>
                  <a:srgbClr val="CCCCCC"/>
                </a:solidFill>
                <a:effectLst/>
                <a:latin typeface="Consolas" panose="020B0609020204030204" pitchFamily="49" charset="0"/>
              </a:rPr>
              <a:t> {</a:t>
            </a:r>
          </a:p>
          <a:p>
            <a:pPr marL="0" indent="0">
              <a:buNone/>
            </a:pPr>
            <a:r>
              <a:rPr lang="en-AU" sz="1800" dirty="0">
                <a:solidFill>
                  <a:srgbClr val="9CDCFE"/>
                </a:solidFill>
                <a:latin typeface="Consolas" panose="020B0609020204030204" pitchFamily="49" charset="0"/>
              </a:rPr>
              <a:t>    </a:t>
            </a:r>
            <a:r>
              <a:rPr lang="en-AU" sz="1800" b="0" dirty="0">
                <a:solidFill>
                  <a:srgbClr val="9CDCFE"/>
                </a:solidFill>
                <a:effectLst/>
                <a:latin typeface="Consolas" panose="020B0609020204030204" pitchFamily="49" charset="0"/>
              </a:rPr>
              <a:t>width</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100%</a:t>
            </a:r>
            <a:r>
              <a:rPr lang="en-AU" sz="1800" b="0" dirty="0">
                <a:solidFill>
                  <a:srgbClr val="CCCCCC"/>
                </a:solidFill>
                <a:effectLst/>
                <a:latin typeface="Consolas" panose="020B0609020204030204" pitchFamily="49" charset="0"/>
              </a:rPr>
              <a:t>;</a:t>
            </a:r>
          </a:p>
          <a:p>
            <a:pPr marL="0" indent="0">
              <a:buNone/>
            </a:pPr>
            <a:r>
              <a:rPr lang="en-AU" sz="1800" b="0" dirty="0">
                <a:solidFill>
                  <a:srgbClr val="CCCCCC"/>
                </a:solidFill>
                <a:effectLst/>
                <a:latin typeface="Consolas" panose="020B0609020204030204" pitchFamily="49" charset="0"/>
              </a:rPr>
              <a:t>}</a:t>
            </a:r>
          </a:p>
          <a:p>
            <a:pPr marL="0" indent="0">
              <a:buNone/>
            </a:pPr>
            <a:br>
              <a:rPr lang="en-AU" sz="1800" b="0" dirty="0">
                <a:solidFill>
                  <a:srgbClr val="CCCCCC"/>
                </a:solidFill>
                <a:effectLst/>
                <a:latin typeface="Consolas" panose="020B0609020204030204" pitchFamily="49" charset="0"/>
              </a:rPr>
            </a:br>
            <a:r>
              <a:rPr lang="en-AU" sz="1800" b="0" dirty="0">
                <a:solidFill>
                  <a:srgbClr val="D7BA7D"/>
                </a:solidFill>
                <a:effectLst/>
                <a:latin typeface="Consolas" panose="020B0609020204030204" pitchFamily="49" charset="0"/>
              </a:rPr>
              <a:t>.container</a:t>
            </a:r>
            <a:r>
              <a:rPr lang="en-AU" sz="1800" b="0" dirty="0">
                <a:solidFill>
                  <a:srgbClr val="CCCCCC"/>
                </a:solidFill>
                <a:effectLst/>
                <a:latin typeface="Consolas" panose="020B0609020204030204" pitchFamily="49" charset="0"/>
              </a:rPr>
              <a:t> {</a:t>
            </a:r>
          </a:p>
          <a:p>
            <a:pPr marL="0" indent="0">
              <a:buNone/>
            </a:pPr>
            <a:r>
              <a:rPr lang="en-AU" sz="1800" b="0" dirty="0">
                <a:solidFill>
                  <a:srgbClr val="9CDCFE"/>
                </a:solidFill>
                <a:effectLst/>
                <a:latin typeface="Consolas" panose="020B0609020204030204" pitchFamily="49" charset="0"/>
              </a:rPr>
              <a:t>    display</a:t>
            </a:r>
            <a:r>
              <a:rPr lang="en-AU" sz="1800" b="0" dirty="0">
                <a:solidFill>
                  <a:srgbClr val="CCCCCC"/>
                </a:solidFill>
                <a:effectLst/>
                <a:latin typeface="Consolas" panose="020B0609020204030204" pitchFamily="49" charset="0"/>
              </a:rPr>
              <a:t>: </a:t>
            </a:r>
            <a:r>
              <a:rPr lang="en-AU" sz="1800" b="0" dirty="0">
                <a:solidFill>
                  <a:srgbClr val="CE9178"/>
                </a:solidFill>
                <a:effectLst/>
                <a:latin typeface="Consolas" panose="020B0609020204030204" pitchFamily="49" charset="0"/>
              </a:rPr>
              <a:t>flex</a:t>
            </a:r>
            <a:r>
              <a:rPr lang="en-AU" sz="1800" b="0" dirty="0">
                <a:solidFill>
                  <a:srgbClr val="CCCCCC"/>
                </a:solidFill>
                <a:effectLst/>
                <a:latin typeface="Consolas" panose="020B0609020204030204" pitchFamily="49" charset="0"/>
              </a:rPr>
              <a:t>;</a:t>
            </a:r>
          </a:p>
          <a:p>
            <a:pPr marL="0" indent="0">
              <a:buNone/>
            </a:pPr>
            <a:r>
              <a:rPr lang="en-AU" sz="1800" b="0" dirty="0">
                <a:solidFill>
                  <a:srgbClr val="9CDCFE"/>
                </a:solidFill>
                <a:effectLst/>
                <a:latin typeface="Consolas" panose="020B0609020204030204" pitchFamily="49" charset="0"/>
              </a:rPr>
              <a:t>    flex-direction</a:t>
            </a:r>
            <a:r>
              <a:rPr lang="en-AU" sz="1800" b="0" dirty="0">
                <a:solidFill>
                  <a:srgbClr val="CCCCCC"/>
                </a:solidFill>
                <a:effectLst/>
                <a:latin typeface="Consolas" panose="020B0609020204030204" pitchFamily="49" charset="0"/>
              </a:rPr>
              <a:t>: </a:t>
            </a:r>
            <a:r>
              <a:rPr lang="en-AU" sz="1800" b="0" dirty="0">
                <a:solidFill>
                  <a:srgbClr val="CE9178"/>
                </a:solidFill>
                <a:effectLst/>
                <a:latin typeface="Consolas" panose="020B0609020204030204" pitchFamily="49" charset="0"/>
              </a:rPr>
              <a:t>column</a:t>
            </a:r>
            <a:r>
              <a:rPr lang="en-AU" sz="1800" b="0" dirty="0">
                <a:solidFill>
                  <a:srgbClr val="CCCCCC"/>
                </a:solidFill>
                <a:effectLst/>
                <a:latin typeface="Consolas" panose="020B0609020204030204" pitchFamily="49" charset="0"/>
              </a:rPr>
              <a:t>;</a:t>
            </a:r>
          </a:p>
          <a:p>
            <a:pPr marL="0" indent="0">
              <a:buNone/>
            </a:pPr>
            <a:r>
              <a:rPr lang="en-AU" sz="1800" b="0" dirty="0">
                <a:solidFill>
                  <a:srgbClr val="CCCCCC"/>
                </a:solidFill>
                <a:effectLst/>
                <a:latin typeface="Consolas" panose="020B0609020204030204" pitchFamily="49" charset="0"/>
              </a:rPr>
              <a:t>}</a:t>
            </a:r>
          </a:p>
          <a:p>
            <a:pPr marL="0" indent="0">
              <a:buNone/>
            </a:pPr>
            <a:r>
              <a:rPr lang="en-AU" sz="1800" b="0" dirty="0">
                <a:solidFill>
                  <a:srgbClr val="D7BA7D"/>
                </a:solidFill>
                <a:effectLst/>
                <a:latin typeface="Consolas" panose="020B0609020204030204" pitchFamily="49" charset="0"/>
              </a:rPr>
              <a:t>.item</a:t>
            </a:r>
            <a:r>
              <a:rPr lang="en-AU" sz="1800" b="0" dirty="0">
                <a:solidFill>
                  <a:srgbClr val="CCCCCC"/>
                </a:solidFill>
                <a:effectLst/>
                <a:latin typeface="Consolas" panose="020B0609020204030204" pitchFamily="49" charset="0"/>
              </a:rPr>
              <a:t> {</a:t>
            </a:r>
          </a:p>
          <a:p>
            <a:pPr marL="0" indent="0">
              <a:buNone/>
            </a:pPr>
            <a:r>
              <a:rPr lang="en-AU" sz="1800" b="0" dirty="0">
                <a:solidFill>
                  <a:srgbClr val="9CDCFE"/>
                </a:solidFill>
                <a:effectLst/>
                <a:latin typeface="Consolas" panose="020B0609020204030204" pitchFamily="49" charset="0"/>
              </a:rPr>
              <a:t>    flex</a:t>
            </a:r>
            <a:r>
              <a:rPr lang="en-AU" sz="1800" b="0" dirty="0">
                <a:solidFill>
                  <a:srgbClr val="CCCCCC"/>
                </a:solidFill>
                <a:effectLst/>
                <a:latin typeface="Consolas" panose="020B0609020204030204" pitchFamily="49" charset="0"/>
              </a:rPr>
              <a:t>: </a:t>
            </a:r>
            <a:r>
              <a:rPr lang="en-AU" sz="1800" b="0" dirty="0">
                <a:solidFill>
                  <a:srgbClr val="B5CEA8"/>
                </a:solidFill>
                <a:effectLst/>
                <a:latin typeface="Consolas" panose="020B0609020204030204" pitchFamily="49" charset="0"/>
              </a:rPr>
              <a:t>1</a:t>
            </a:r>
            <a:r>
              <a:rPr lang="en-AU" sz="1800" b="0" dirty="0">
                <a:solidFill>
                  <a:srgbClr val="CCCCCC"/>
                </a:solidFill>
                <a:effectLst/>
                <a:latin typeface="Consolas" panose="020B0609020204030204" pitchFamily="49" charset="0"/>
              </a:rPr>
              <a:t>;</a:t>
            </a:r>
          </a:p>
          <a:p>
            <a:pPr marL="0" indent="0">
              <a:buNone/>
            </a:pPr>
            <a:r>
              <a:rPr lang="en-AU" sz="1800" b="0" dirty="0">
                <a:solidFill>
                  <a:srgbClr val="CCCCCC"/>
                </a:solidFill>
                <a:effectLst/>
                <a:latin typeface="Consolas" panose="020B0609020204030204" pitchFamily="49" charset="0"/>
              </a:rPr>
              <a:t>}</a:t>
            </a:r>
          </a:p>
          <a:p>
            <a:pPr marL="0" indent="0">
              <a:buNone/>
            </a:pPr>
            <a:br>
              <a:rPr lang="en-AU" sz="1000" b="0" dirty="0">
                <a:solidFill>
                  <a:srgbClr val="CCCCCC"/>
                </a:solidFill>
                <a:effectLst/>
                <a:latin typeface="Menlo" panose="020B0609030804020204" pitchFamily="49" charset="0"/>
              </a:rPr>
            </a:br>
            <a:endParaRPr lang="en-AU" sz="1000" b="0" dirty="0">
              <a:solidFill>
                <a:srgbClr val="CCCCCC"/>
              </a:solidFill>
              <a:effectLst/>
              <a:latin typeface="Menlo" panose="020B0609030804020204" pitchFamily="49" charset="0"/>
            </a:endParaRPr>
          </a:p>
          <a:p>
            <a:pPr marL="0" indent="0">
              <a:buNone/>
            </a:pPr>
            <a:endParaRPr lang="en-AU" sz="1800" b="0" dirty="0">
              <a:solidFill>
                <a:srgbClr val="CCCCCC"/>
              </a:solidFill>
              <a:effectLst/>
              <a:latin typeface="Menlo" panose="020B0609030804020204" pitchFamily="49" charset="0"/>
            </a:endParaRPr>
          </a:p>
        </p:txBody>
      </p:sp>
    </p:spTree>
    <p:extLst>
      <p:ext uri="{BB962C8B-B14F-4D97-AF65-F5344CB8AC3E}">
        <p14:creationId xmlns:p14="http://schemas.microsoft.com/office/powerpoint/2010/main" val="482194458"/>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lstStyle/>
          <a:p>
            <a:r>
              <a:rPr lang="en-AU" dirty="0"/>
              <a:t>Challenges - Flexbox</a:t>
            </a:r>
          </a:p>
        </p:txBody>
      </p:sp>
      <p:sp>
        <p:nvSpPr>
          <p:cNvPr id="3" name="Text Placeholder 2">
            <a:extLst>
              <a:ext uri="{FF2B5EF4-FFF2-40B4-BE49-F238E27FC236}">
                <a16:creationId xmlns:a16="http://schemas.microsoft.com/office/drawing/2014/main" id="{75EF53E9-0170-165B-4CB9-FE94DDF7D754}"/>
              </a:ext>
            </a:extLst>
          </p:cNvPr>
          <p:cNvSpPr>
            <a:spLocks noGrp="1"/>
          </p:cNvSpPr>
          <p:nvPr>
            <p:ph type="body" idx="1"/>
          </p:nvPr>
        </p:nvSpPr>
        <p:spPr/>
        <p:txBody>
          <a:bodyPr/>
          <a:lstStyle/>
          <a:p>
            <a:r>
              <a:rPr lang="en-AU" dirty="0"/>
              <a:t>Complete these challenges as part of your learning and practice</a:t>
            </a:r>
          </a:p>
        </p:txBody>
      </p:sp>
    </p:spTree>
    <p:extLst>
      <p:ext uri="{BB962C8B-B14F-4D97-AF65-F5344CB8AC3E}">
        <p14:creationId xmlns:p14="http://schemas.microsoft.com/office/powerpoint/2010/main" val="68095362"/>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normAutofit fontScale="90000"/>
          </a:bodyPr>
          <a:lstStyle/>
          <a:p>
            <a:r>
              <a:rPr lang="en-AU" b="1" i="0" dirty="0">
                <a:effectLst/>
                <a:latin typeface="Söhne"/>
              </a:rPr>
              <a:t>Challenge 3</a:t>
            </a:r>
            <a:r>
              <a:rPr lang="en-AU" b="1" dirty="0">
                <a:latin typeface="Söhne"/>
              </a:rPr>
              <a:t> </a:t>
            </a:r>
            <a:r>
              <a:rPr lang="en-AU" b="1" i="0" dirty="0">
                <a:effectLst/>
                <a:latin typeface="Söhne"/>
              </a:rPr>
              <a:t>– Flexbox Responsive Navigation</a:t>
            </a:r>
            <a:endParaRPr lang="en-AU" dirty="0"/>
          </a:p>
        </p:txBody>
      </p:sp>
      <p:sp>
        <p:nvSpPr>
          <p:cNvPr id="3" name="Text Placeholder 2">
            <a:extLst>
              <a:ext uri="{FF2B5EF4-FFF2-40B4-BE49-F238E27FC236}">
                <a16:creationId xmlns:a16="http://schemas.microsoft.com/office/drawing/2014/main" id="{75EF53E9-0170-165B-4CB9-FE94DDF7D754}"/>
              </a:ext>
            </a:extLst>
          </p:cNvPr>
          <p:cNvSpPr>
            <a:spLocks noGrp="1"/>
          </p:cNvSpPr>
          <p:nvPr>
            <p:ph idx="1"/>
          </p:nvPr>
        </p:nvSpPr>
        <p:spPr/>
        <p:txBody>
          <a:bodyPr/>
          <a:lstStyle/>
          <a:p>
            <a:r>
              <a:rPr lang="en-AU" dirty="0"/>
              <a:t>Create a responsive navigation bar using Flexbox.</a:t>
            </a:r>
          </a:p>
          <a:p>
            <a:r>
              <a:rPr lang="en-AU" dirty="0"/>
              <a:t>Design a horizontal navigation menu that adjusts to a vertical layout on smaller screens.</a:t>
            </a:r>
          </a:p>
        </p:txBody>
      </p:sp>
    </p:spTree>
    <p:extLst>
      <p:ext uri="{BB962C8B-B14F-4D97-AF65-F5344CB8AC3E}">
        <p14:creationId xmlns:p14="http://schemas.microsoft.com/office/powerpoint/2010/main" val="3066454209"/>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959D-92BE-C02E-B565-5907E61944C8}"/>
              </a:ext>
            </a:extLst>
          </p:cNvPr>
          <p:cNvSpPr>
            <a:spLocks noGrp="1"/>
          </p:cNvSpPr>
          <p:nvPr>
            <p:ph type="title"/>
          </p:nvPr>
        </p:nvSpPr>
        <p:spPr/>
        <p:txBody>
          <a:bodyPr/>
          <a:lstStyle/>
          <a:p>
            <a:r>
              <a:rPr lang="en-AU" b="1" i="0" dirty="0">
                <a:effectLst/>
                <a:latin typeface="Söhne"/>
              </a:rPr>
              <a:t>Challenge 4 – CSS Grid Flexible Card Layout</a:t>
            </a:r>
            <a:endParaRPr lang="en-AU" dirty="0"/>
          </a:p>
        </p:txBody>
      </p:sp>
      <p:sp>
        <p:nvSpPr>
          <p:cNvPr id="3" name="Text Placeholder 2">
            <a:extLst>
              <a:ext uri="{FF2B5EF4-FFF2-40B4-BE49-F238E27FC236}">
                <a16:creationId xmlns:a16="http://schemas.microsoft.com/office/drawing/2014/main" id="{75EF53E9-0170-165B-4CB9-FE94DDF7D754}"/>
              </a:ext>
            </a:extLst>
          </p:cNvPr>
          <p:cNvSpPr>
            <a:spLocks noGrp="1"/>
          </p:cNvSpPr>
          <p:nvPr>
            <p:ph idx="1"/>
          </p:nvPr>
        </p:nvSpPr>
        <p:spPr/>
        <p:txBody>
          <a:bodyPr/>
          <a:lstStyle/>
          <a:p>
            <a:r>
              <a:rPr lang="en-AU" dirty="0"/>
              <a:t>Convert your Flexbox flexible card layout to a CSS Grid layout</a:t>
            </a:r>
          </a:p>
          <a:p>
            <a:r>
              <a:rPr lang="en-AU" dirty="0"/>
              <a:t>Design cards that stack horizontally on desktop screens and switch to a vertical stack on smaller screens.</a:t>
            </a:r>
          </a:p>
        </p:txBody>
      </p:sp>
    </p:spTree>
    <p:extLst>
      <p:ext uri="{BB962C8B-B14F-4D97-AF65-F5344CB8AC3E}">
        <p14:creationId xmlns:p14="http://schemas.microsoft.com/office/powerpoint/2010/main" val="853043511"/>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08B4-527D-1AFC-12E3-73D0052E9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7B8EF-B31E-9938-C826-D75A45129323}"/>
              </a:ext>
            </a:extLst>
          </p:cNvPr>
          <p:cNvSpPr>
            <a:spLocks noGrp="1"/>
          </p:cNvSpPr>
          <p:nvPr>
            <p:ph type="title"/>
          </p:nvPr>
        </p:nvSpPr>
        <p:spPr/>
        <p:txBody>
          <a:bodyPr/>
          <a:lstStyle/>
          <a:p>
            <a:r>
              <a:rPr lang="en-AU" b="1" i="0" dirty="0">
                <a:effectLst/>
                <a:latin typeface="Söhne"/>
              </a:rPr>
              <a:t>Challenge 5 – Mobile First Design</a:t>
            </a:r>
            <a:endParaRPr lang="en-AU" dirty="0"/>
          </a:p>
        </p:txBody>
      </p:sp>
      <p:sp>
        <p:nvSpPr>
          <p:cNvPr id="3" name="Text Placeholder 2">
            <a:extLst>
              <a:ext uri="{FF2B5EF4-FFF2-40B4-BE49-F238E27FC236}">
                <a16:creationId xmlns:a16="http://schemas.microsoft.com/office/drawing/2014/main" id="{C84EBEAE-E0E7-6E50-B1AB-96A30486C12B}"/>
              </a:ext>
            </a:extLst>
          </p:cNvPr>
          <p:cNvSpPr>
            <a:spLocks noGrp="1"/>
          </p:cNvSpPr>
          <p:nvPr>
            <p:ph idx="1"/>
          </p:nvPr>
        </p:nvSpPr>
        <p:spPr>
          <a:xfrm>
            <a:off x="838200" y="1825625"/>
            <a:ext cx="9724697" cy="4351338"/>
          </a:xfrm>
        </p:spPr>
        <p:txBody>
          <a:bodyPr/>
          <a:lstStyle/>
          <a:p>
            <a:r>
              <a:rPr lang="en-AU" dirty="0"/>
              <a:t>Using using media queries change </a:t>
            </a:r>
            <a:r>
              <a:rPr lang="en-AU"/>
              <a:t>your CSS challenge(s) </a:t>
            </a:r>
            <a:r>
              <a:rPr lang="en-AU" dirty="0"/>
              <a:t>code to a mobile first design</a:t>
            </a:r>
          </a:p>
        </p:txBody>
      </p:sp>
    </p:spTree>
    <p:extLst>
      <p:ext uri="{BB962C8B-B14F-4D97-AF65-F5344CB8AC3E}">
        <p14:creationId xmlns:p14="http://schemas.microsoft.com/office/powerpoint/2010/main" val="1726656562"/>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59B867-F86C-9F53-2C09-210C6FDE683C}"/>
              </a:ext>
            </a:extLst>
          </p:cNvPr>
          <p:cNvSpPr txBox="1"/>
          <p:nvPr/>
        </p:nvSpPr>
        <p:spPr>
          <a:xfrm>
            <a:off x="1" y="1272618"/>
            <a:ext cx="12191999" cy="4031873"/>
          </a:xfrm>
          <a:prstGeom prst="rect">
            <a:avLst/>
          </a:prstGeom>
          <a:noFill/>
        </p:spPr>
        <p:txBody>
          <a:bodyPr wrap="square" rtlCol="0">
            <a:spAutoFit/>
          </a:bodyPr>
          <a:lstStyle/>
          <a:p>
            <a:pPr algn="ctr"/>
            <a:r>
              <a:rPr lang="en-AU" sz="25600" dirty="0"/>
              <a:t>🦆</a:t>
            </a:r>
          </a:p>
        </p:txBody>
      </p:sp>
    </p:spTree>
    <p:extLst>
      <p:ext uri="{BB962C8B-B14F-4D97-AF65-F5344CB8AC3E}">
        <p14:creationId xmlns:p14="http://schemas.microsoft.com/office/powerpoint/2010/main" val="1415668464"/>
      </p:ext>
    </p:extLst>
  </p:cSld>
  <p:clrMapOvr>
    <a:masterClrMapping/>
  </p:clrMapOvr>
  <p:transition spd="slow">
    <p:fade/>
  </p:transition>
</p:sld>
</file>

<file path=ppt/theme/theme1.xml><?xml version="1.0" encoding="utf-8"?>
<a:theme xmlns:a="http://schemas.openxmlformats.org/drawingml/2006/main" name="TAFE-White-BG-C">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C92A6A38-762D-4D1E-84F6-35B86993516B}"/>
    </a:ext>
  </a:extLst>
</a:theme>
</file>

<file path=ppt/theme/theme2.xml><?xml version="1.0" encoding="utf-8"?>
<a:theme xmlns:a="http://schemas.openxmlformats.org/drawingml/2006/main" name="8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D1B6720D-EE33-4432-8F34-AC78FA415D44}"/>
    </a:ext>
  </a:extLst>
</a:theme>
</file>

<file path=ppt/theme/theme3.xml><?xml version="1.0" encoding="utf-8"?>
<a:theme xmlns:a="http://schemas.openxmlformats.org/drawingml/2006/main" name="9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D1B6720D-EE33-4432-8F34-AC78FA415D44}"/>
    </a:ext>
  </a:extLst>
</a:theme>
</file>

<file path=ppt/theme/theme4.xml><?xml version="1.0" encoding="utf-8"?>
<a:theme xmlns:a="http://schemas.openxmlformats.org/drawingml/2006/main" name="3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74005428-A334-41FB-9C76-B70EADF29CBB}"/>
    </a:ext>
  </a:extLst>
</a:theme>
</file>

<file path=ppt/theme/theme5.xml><?xml version="1.0" encoding="utf-8"?>
<a:theme xmlns:a="http://schemas.openxmlformats.org/drawingml/2006/main" name="4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FB2A232E-75D7-4897-BB1C-74DF42300102}"/>
    </a:ext>
  </a:extLst>
</a:theme>
</file>

<file path=ppt/theme/theme6.xml><?xml version="1.0" encoding="utf-8"?>
<a:theme xmlns:a="http://schemas.openxmlformats.org/drawingml/2006/main" name="5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B197BA3C-52E1-452E-9ECF-A8FC308A75CB}"/>
    </a:ext>
  </a:extLst>
</a:theme>
</file>

<file path=ppt/theme/theme7.xml><?xml version="1.0" encoding="utf-8"?>
<a:theme xmlns:a="http://schemas.openxmlformats.org/drawingml/2006/main" name="TAFE-Dark-BG-animated">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091D9253-E664-4300-BB76-B0EA74ABD4E3}"/>
    </a:ext>
  </a:extLst>
</a:theme>
</file>

<file path=ppt/theme/theme8.xml><?xml version="1.0" encoding="utf-8"?>
<a:theme xmlns:a="http://schemas.openxmlformats.org/drawingml/2006/main" name="6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F5315164-D39B-4AAC-B304-B1A2B031A95B}"/>
    </a:ext>
  </a:extLst>
</a:theme>
</file>

<file path=ppt/theme/theme9.xml><?xml version="1.0" encoding="utf-8"?>
<a:theme xmlns:a="http://schemas.openxmlformats.org/drawingml/2006/main" name="7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023.potx" id="{921313E3-754C-4B0C-B337-F29123D3135B}" vid="{53110149-A4D3-4904-BBE1-036CB5C878D3}"/>
    </a:ext>
  </a:extLst>
</a:theme>
</file>

<file path=ppt/theme/theme10.xml><?xml version="1.0" encoding="utf-8"?>
<a:theme xmlns:a="http://schemas.openxmlformats.org/drawingml/2006/main" name="1_TAFE-White-BG-C">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AFE-White-BG-C" id="{512C2FDB-8C93-844A-9C7C-E16B2F56908F}" vid="{F409DB23-9C1D-2B4A-B99D-0844671217B0}"/>
    </a:ext>
  </a:extLst>
</a:theme>
</file>

<file path=ppt/theme/theme11.xml><?xml version="1.0" encoding="utf-8"?>
<a:theme xmlns:a="http://schemas.openxmlformats.org/drawingml/2006/main" name="10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Office Theme">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TAFE-White-BG-B">
  <a:themeElements>
    <a:clrScheme name="NMTAF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5D5FF"/>
      </a:hlink>
      <a:folHlink>
        <a:srgbClr val="FF89D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AFE-White-BG-B" id="{2956925C-A3E0-A44D-A1CA-96DE5E326E72}" vid="{BF725D3F-94CF-3B48-BC06-35479312206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Presentation-2023</Template>
  <TotalTime>494</TotalTime>
  <Words>3647</Words>
  <Application>Microsoft Office PowerPoint</Application>
  <PresentationFormat>Widescreen</PresentationFormat>
  <Paragraphs>378</Paragraphs>
  <Slides>35</Slides>
  <Notes>11</Notes>
  <HiddenSlides>0</HiddenSlides>
  <MMClips>0</MMClips>
  <ScaleCrop>false</ScaleCrop>
  <HeadingPairs>
    <vt:vector size="6" baseType="variant">
      <vt:variant>
        <vt:lpstr>Fonts Used</vt:lpstr>
      </vt:variant>
      <vt:variant>
        <vt:i4>8</vt:i4>
      </vt:variant>
      <vt:variant>
        <vt:lpstr>Theme</vt:lpstr>
      </vt:variant>
      <vt:variant>
        <vt:i4>14</vt:i4>
      </vt:variant>
      <vt:variant>
        <vt:lpstr>Slide Titles</vt:lpstr>
      </vt:variant>
      <vt:variant>
        <vt:i4>35</vt:i4>
      </vt:variant>
    </vt:vector>
  </HeadingPairs>
  <TitlesOfParts>
    <vt:vector size="57" baseType="lpstr">
      <vt:lpstr>Arial</vt:lpstr>
      <vt:lpstr>Calibri</vt:lpstr>
      <vt:lpstr>Calibri Light</vt:lpstr>
      <vt:lpstr>Consolas</vt:lpstr>
      <vt:lpstr>Courier New</vt:lpstr>
      <vt:lpstr>Fira Code</vt:lpstr>
      <vt:lpstr>Menlo</vt:lpstr>
      <vt:lpstr>Söhne</vt:lpstr>
      <vt:lpstr>TAFE-White-BG-C</vt:lpstr>
      <vt:lpstr>8_Office Theme</vt:lpstr>
      <vt:lpstr>9_Office Theme</vt:lpstr>
      <vt:lpstr>3_Office Theme</vt:lpstr>
      <vt:lpstr>4_Office Theme</vt:lpstr>
      <vt:lpstr>5_Office Theme</vt:lpstr>
      <vt:lpstr>TAFE-Dark-BG-animated</vt:lpstr>
      <vt:lpstr>6_Office Theme</vt:lpstr>
      <vt:lpstr>7_Office Theme</vt:lpstr>
      <vt:lpstr>1_TAFE-White-BG-C</vt:lpstr>
      <vt:lpstr>10_Office Theme</vt:lpstr>
      <vt:lpstr>11_Office Theme</vt:lpstr>
      <vt:lpstr>12_Office Theme</vt:lpstr>
      <vt:lpstr>TAFE-White-BG-B</vt:lpstr>
      <vt:lpstr> Web Technologies: Introduction</vt:lpstr>
      <vt:lpstr>Overview</vt:lpstr>
      <vt:lpstr> CSS3 Grids</vt:lpstr>
      <vt:lpstr>CSS Grid Layout</vt:lpstr>
      <vt:lpstr>Grid, tracks &amp; lines</vt:lpstr>
      <vt:lpstr>Grid cell placement</vt:lpstr>
      <vt:lpstr>Grids, tracks &amp; lines contd…</vt:lpstr>
      <vt:lpstr>Grid Container &amp; Items</vt:lpstr>
      <vt:lpstr>Grid Item Placement</vt:lpstr>
      <vt:lpstr>Grid Rows &amp; Columns</vt:lpstr>
      <vt:lpstr>Grid Rows &amp; Columns</vt:lpstr>
      <vt:lpstr>Grid Naming - Example</vt:lpstr>
      <vt:lpstr>Grid Gap - spacing or gutter</vt:lpstr>
      <vt:lpstr>Grid Gap - Example</vt:lpstr>
      <vt:lpstr>Challenges – CSS Grid</vt:lpstr>
      <vt:lpstr>Challenge 1 – Image Gallery Grid</vt:lpstr>
      <vt:lpstr>Challenge 2 – Grid Flexible Card Layout</vt:lpstr>
      <vt:lpstr> CSS3 Flexbox</vt:lpstr>
      <vt:lpstr>CSS Flexbox</vt:lpstr>
      <vt:lpstr>Flexbox - Advantages</vt:lpstr>
      <vt:lpstr>Flex Container and Flex Items</vt:lpstr>
      <vt:lpstr>Flex Properties</vt:lpstr>
      <vt:lpstr>Distribution &amp; Auto Sizing</vt:lpstr>
      <vt:lpstr>Distribution &amp; Auto Sizing</vt:lpstr>
      <vt:lpstr>Defining the context – 4 steps</vt:lpstr>
      <vt:lpstr>Step 2: Main Axis Direction (flex-direction)</vt:lpstr>
      <vt:lpstr>Step 3: Align on the Main Axis (justify-content)</vt:lpstr>
      <vt:lpstr>Step 4: Align on the Cross Axis(align-items)</vt:lpstr>
      <vt:lpstr>Media Queries</vt:lpstr>
      <vt:lpstr>Media Queries – mobile 1st</vt:lpstr>
      <vt:lpstr>Challenges - Flexbox</vt:lpstr>
      <vt:lpstr>Challenge 3 – Flexbox Responsive Navigation</vt:lpstr>
      <vt:lpstr>Challenge 4 – CSS Grid Flexible Card Layout</vt:lpstr>
      <vt:lpstr>Challenge 5 – Mobile First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 Introduction</dc:title>
  <dc:creator>Adrian Gould</dc:creator>
  <cp:lastModifiedBy>John Robertson</cp:lastModifiedBy>
  <cp:revision>12</cp:revision>
  <dcterms:created xsi:type="dcterms:W3CDTF">2023-07-07T02:00:43Z</dcterms:created>
  <dcterms:modified xsi:type="dcterms:W3CDTF">2024-08-12T06:37:11Z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2023-07-09T17:39:43Z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934bf055-5d58-4591-8f85-6de4d295ed91</vt:lpwstr>
  </property>
  <property fmtid="{D5CDD505-2E9C-101B-9397-08002B2CF9AE}" pid="8" name="MSIP_Label_f3ac7e5b-5da2-46c7-8677-8a6b50f7d886_ContentBits">
    <vt:lpwstr>1</vt:lpwstr>
  </property>
  <property fmtid="{D5CDD505-2E9C-101B-9397-08002B2CF9AE}" pid="9" name="ClassificationContentMarkingHeaderLocations">
    <vt:lpwstr>TAFE-White-BG-C:4\8_Office Theme:4\9_Office Theme:4\3_Office Theme:4\4_Office Theme:4\5_Office Theme:4\TAFE-Dark-BG-animated:4\6_Office Theme:4\7_Office Theme:4\1_TAFE-White-BG-C:7\10_Office Theme:8\11_Office Theme:7\12_Office Theme:7\TAFE-White-BG-B:7</vt:lpwstr>
  </property>
  <property fmtid="{D5CDD505-2E9C-101B-9397-08002B2CF9AE}" pid="10" name="ClassificationContentMarkingHeaderText">
    <vt:lpwstr>OFFICIAL</vt:lpwstr>
  </property>
</Properties>
</file>