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1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12.xml" ContentType="application/vnd.openxmlformats-officedocument.theme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13.xml" ContentType="application/vnd.openxmlformats-officedocument.theme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1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  <p:sldMasterId id="2147483686" r:id="rId2"/>
    <p:sldMasterId id="2147483698" r:id="rId3"/>
    <p:sldMasterId id="2147483710" r:id="rId4"/>
    <p:sldMasterId id="2147483722" r:id="rId5"/>
    <p:sldMasterId id="2147483734" r:id="rId6"/>
    <p:sldMasterId id="2147483746" r:id="rId7"/>
    <p:sldMasterId id="2147483758" r:id="rId8"/>
    <p:sldMasterId id="2147483770" r:id="rId9"/>
    <p:sldMasterId id="2147483806" r:id="rId10"/>
    <p:sldMasterId id="2147483818" r:id="rId11"/>
    <p:sldMasterId id="2147483829" r:id="rId12"/>
    <p:sldMasterId id="2147483840" r:id="rId13"/>
    <p:sldMasterId id="2147483851" r:id="rId14"/>
  </p:sldMasterIdLst>
  <p:sldIdLst>
    <p:sldId id="270" r:id="rId15"/>
    <p:sldId id="387" r:id="rId16"/>
    <p:sldId id="265" r:id="rId17"/>
    <p:sldId id="358" r:id="rId18"/>
    <p:sldId id="359" r:id="rId19"/>
    <p:sldId id="360" r:id="rId20"/>
    <p:sldId id="363" r:id="rId21"/>
    <p:sldId id="364" r:id="rId22"/>
    <p:sldId id="365" r:id="rId23"/>
    <p:sldId id="366" r:id="rId24"/>
    <p:sldId id="367" r:id="rId25"/>
    <p:sldId id="368" r:id="rId26"/>
    <p:sldId id="361" r:id="rId27"/>
    <p:sldId id="370" r:id="rId28"/>
    <p:sldId id="369" r:id="rId29"/>
    <p:sldId id="372" r:id="rId30"/>
    <p:sldId id="373" r:id="rId31"/>
    <p:sldId id="371" r:id="rId32"/>
    <p:sldId id="362" r:id="rId33"/>
    <p:sldId id="374" r:id="rId34"/>
    <p:sldId id="375" r:id="rId35"/>
    <p:sldId id="376" r:id="rId36"/>
    <p:sldId id="377" r:id="rId37"/>
    <p:sldId id="378" r:id="rId38"/>
    <p:sldId id="379" r:id="rId39"/>
    <p:sldId id="380" r:id="rId40"/>
    <p:sldId id="389" r:id="rId41"/>
    <p:sldId id="382" r:id="rId42"/>
    <p:sldId id="383" r:id="rId43"/>
    <p:sldId id="384" r:id="rId44"/>
    <p:sldId id="385" r:id="rId45"/>
    <p:sldId id="342" r:id="rId46"/>
    <p:sldId id="344" r:id="rId47"/>
    <p:sldId id="391" r:id="rId48"/>
    <p:sldId id="343" r:id="rId49"/>
    <p:sldId id="392" r:id="rId50"/>
    <p:sldId id="345" r:id="rId51"/>
    <p:sldId id="393" r:id="rId52"/>
    <p:sldId id="346" r:id="rId53"/>
    <p:sldId id="394" r:id="rId54"/>
    <p:sldId id="349" r:id="rId55"/>
    <p:sldId id="395" r:id="rId56"/>
    <p:sldId id="347" r:id="rId57"/>
    <p:sldId id="396" r:id="rId58"/>
    <p:sldId id="348" r:id="rId59"/>
    <p:sldId id="350" r:id="rId60"/>
    <p:sldId id="351" r:id="rId61"/>
    <p:sldId id="398" r:id="rId62"/>
    <p:sldId id="390" r:id="rId63"/>
    <p:sldId id="399" r:id="rId64"/>
    <p:sldId id="413" r:id="rId65"/>
    <p:sldId id="414" r:id="rId66"/>
    <p:sldId id="415" r:id="rId67"/>
    <p:sldId id="416" r:id="rId68"/>
    <p:sldId id="412" r:id="rId69"/>
    <p:sldId id="400" r:id="rId70"/>
    <p:sldId id="401" r:id="rId71"/>
    <p:sldId id="402" r:id="rId72"/>
    <p:sldId id="403" r:id="rId73"/>
    <p:sldId id="404" r:id="rId74"/>
    <p:sldId id="405" r:id="rId75"/>
    <p:sldId id="406" r:id="rId76"/>
    <p:sldId id="410" r:id="rId77"/>
    <p:sldId id="411" r:id="rId78"/>
    <p:sldId id="407" r:id="rId79"/>
    <p:sldId id="409" r:id="rId80"/>
    <p:sldId id="388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2673E5C-48F0-4880-9E5D-C1B753F526B3}">
          <p14:sldIdLst>
            <p14:sldId id="270"/>
          </p14:sldIdLst>
        </p14:section>
        <p14:section name="Overview" id="{6B305998-727F-4E0D-B590-D2FA76C3FDC2}">
          <p14:sldIdLst>
            <p14:sldId id="387"/>
          </p14:sldIdLst>
        </p14:section>
        <p14:section name="Session 03" id="{7A6F1231-030A-4098-8947-E639FD26DBF7}">
          <p14:sldIdLst>
            <p14:sldId id="265"/>
            <p14:sldId id="358"/>
            <p14:sldId id="359"/>
            <p14:sldId id="360"/>
            <p14:sldId id="363"/>
            <p14:sldId id="364"/>
            <p14:sldId id="365"/>
            <p14:sldId id="366"/>
            <p14:sldId id="367"/>
            <p14:sldId id="368"/>
            <p14:sldId id="361"/>
            <p14:sldId id="370"/>
            <p14:sldId id="369"/>
            <p14:sldId id="372"/>
            <p14:sldId id="373"/>
            <p14:sldId id="371"/>
            <p14:sldId id="362"/>
            <p14:sldId id="374"/>
            <p14:sldId id="375"/>
            <p14:sldId id="376"/>
            <p14:sldId id="377"/>
            <p14:sldId id="378"/>
            <p14:sldId id="379"/>
            <p14:sldId id="380"/>
            <p14:sldId id="389"/>
            <p14:sldId id="382"/>
            <p14:sldId id="383"/>
            <p14:sldId id="384"/>
            <p14:sldId id="385"/>
            <p14:sldId id="342"/>
            <p14:sldId id="344"/>
            <p14:sldId id="391"/>
            <p14:sldId id="343"/>
            <p14:sldId id="392"/>
            <p14:sldId id="345"/>
            <p14:sldId id="393"/>
            <p14:sldId id="346"/>
            <p14:sldId id="394"/>
            <p14:sldId id="349"/>
            <p14:sldId id="395"/>
            <p14:sldId id="347"/>
            <p14:sldId id="396"/>
            <p14:sldId id="348"/>
            <p14:sldId id="350"/>
            <p14:sldId id="351"/>
            <p14:sldId id="398"/>
            <p14:sldId id="390"/>
            <p14:sldId id="399"/>
            <p14:sldId id="413"/>
            <p14:sldId id="414"/>
            <p14:sldId id="415"/>
            <p14:sldId id="416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10"/>
            <p14:sldId id="411"/>
            <p14:sldId id="407"/>
            <p14:sldId id="409"/>
            <p14:sldId id="3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0DB720D-CB23-00BD-4BF4-8F254009EC64}" name="Adrian Gould" initials="AG" userId="S::Adrian.Gould@nmtafe.wa.edu.au::0a44525a-5416-41c1-827b-f073cee28c70" providerId="AD"/>
  <p188:author id="{CF9B4C55-2547-8E87-20F7-0B62AB1B37EA}" name="John Robertson" initials="JR" userId="S::john.robertson@nmtafe.wa.edu.au::27eef65d-0d9b-46bb-85ea-fba5d9d9135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0001"/>
    <a:srgbClr val="4C0001"/>
    <a:srgbClr val="3C3F41"/>
    <a:srgbClr val="0B0000"/>
    <a:srgbClr val="000000"/>
    <a:srgbClr val="3A0001"/>
    <a:srgbClr val="3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9" autoAdjust="0"/>
    <p:restoredTop sz="94694"/>
  </p:normalViewPr>
  <p:slideViewPr>
    <p:cSldViewPr snapToGrid="0">
      <p:cViewPr varScale="1">
        <p:scale>
          <a:sx n="106" d="100"/>
          <a:sy n="106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2.xml"/><Relationship Id="rId21" Type="http://schemas.openxmlformats.org/officeDocument/2006/relationships/slide" Target="slides/slide7.xml"/><Relationship Id="rId42" Type="http://schemas.openxmlformats.org/officeDocument/2006/relationships/slide" Target="slides/slide28.xml"/><Relationship Id="rId47" Type="http://schemas.openxmlformats.org/officeDocument/2006/relationships/slide" Target="slides/slide33.xml"/><Relationship Id="rId63" Type="http://schemas.openxmlformats.org/officeDocument/2006/relationships/slide" Target="slides/slide49.xml"/><Relationship Id="rId68" Type="http://schemas.openxmlformats.org/officeDocument/2006/relationships/slide" Target="slides/slide54.xml"/><Relationship Id="rId84" Type="http://schemas.openxmlformats.org/officeDocument/2006/relationships/theme" Target="theme/theme1.xml"/><Relationship Id="rId16" Type="http://schemas.openxmlformats.org/officeDocument/2006/relationships/slide" Target="slides/slide2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18.xml"/><Relationship Id="rId37" Type="http://schemas.openxmlformats.org/officeDocument/2006/relationships/slide" Target="slides/slide23.xml"/><Relationship Id="rId53" Type="http://schemas.openxmlformats.org/officeDocument/2006/relationships/slide" Target="slides/slide39.xml"/><Relationship Id="rId58" Type="http://schemas.openxmlformats.org/officeDocument/2006/relationships/slide" Target="slides/slide44.xml"/><Relationship Id="rId74" Type="http://schemas.openxmlformats.org/officeDocument/2006/relationships/slide" Target="slides/slide60.xml"/><Relationship Id="rId79" Type="http://schemas.openxmlformats.org/officeDocument/2006/relationships/slide" Target="slides/slide65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5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43" Type="http://schemas.openxmlformats.org/officeDocument/2006/relationships/slide" Target="slides/slide29.xml"/><Relationship Id="rId48" Type="http://schemas.openxmlformats.org/officeDocument/2006/relationships/slide" Target="slides/slide34.xml"/><Relationship Id="rId56" Type="http://schemas.openxmlformats.org/officeDocument/2006/relationships/slide" Target="slides/slide42.xml"/><Relationship Id="rId64" Type="http://schemas.openxmlformats.org/officeDocument/2006/relationships/slide" Target="slides/slide50.xml"/><Relationship Id="rId69" Type="http://schemas.openxmlformats.org/officeDocument/2006/relationships/slide" Target="slides/slide55.xml"/><Relationship Id="rId77" Type="http://schemas.openxmlformats.org/officeDocument/2006/relationships/slide" Target="slides/slide63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7.xml"/><Relationship Id="rId72" Type="http://schemas.openxmlformats.org/officeDocument/2006/relationships/slide" Target="slides/slide58.xml"/><Relationship Id="rId80" Type="http://schemas.openxmlformats.org/officeDocument/2006/relationships/slide" Target="slides/slide66.xml"/><Relationship Id="rId85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slide" Target="slides/slide19.xml"/><Relationship Id="rId38" Type="http://schemas.openxmlformats.org/officeDocument/2006/relationships/slide" Target="slides/slide24.xml"/><Relationship Id="rId46" Type="http://schemas.openxmlformats.org/officeDocument/2006/relationships/slide" Target="slides/slide32.xml"/><Relationship Id="rId59" Type="http://schemas.openxmlformats.org/officeDocument/2006/relationships/slide" Target="slides/slide45.xml"/><Relationship Id="rId67" Type="http://schemas.openxmlformats.org/officeDocument/2006/relationships/slide" Target="slides/slide53.xml"/><Relationship Id="rId20" Type="http://schemas.openxmlformats.org/officeDocument/2006/relationships/slide" Target="slides/slide6.xml"/><Relationship Id="rId41" Type="http://schemas.openxmlformats.org/officeDocument/2006/relationships/slide" Target="slides/slide27.xml"/><Relationship Id="rId54" Type="http://schemas.openxmlformats.org/officeDocument/2006/relationships/slide" Target="slides/slide40.xml"/><Relationship Id="rId62" Type="http://schemas.openxmlformats.org/officeDocument/2006/relationships/slide" Target="slides/slide48.xml"/><Relationship Id="rId70" Type="http://schemas.openxmlformats.org/officeDocument/2006/relationships/slide" Target="slides/slide56.xml"/><Relationship Id="rId75" Type="http://schemas.openxmlformats.org/officeDocument/2006/relationships/slide" Target="slides/slide61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slide" Target="slides/slide22.xml"/><Relationship Id="rId49" Type="http://schemas.openxmlformats.org/officeDocument/2006/relationships/slide" Target="slides/slide35.xml"/><Relationship Id="rId57" Type="http://schemas.openxmlformats.org/officeDocument/2006/relationships/slide" Target="slides/slide43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7.xml"/><Relationship Id="rId44" Type="http://schemas.openxmlformats.org/officeDocument/2006/relationships/slide" Target="slides/slide30.xml"/><Relationship Id="rId52" Type="http://schemas.openxmlformats.org/officeDocument/2006/relationships/slide" Target="slides/slide38.xml"/><Relationship Id="rId60" Type="http://schemas.openxmlformats.org/officeDocument/2006/relationships/slide" Target="slides/slide46.xml"/><Relationship Id="rId65" Type="http://schemas.openxmlformats.org/officeDocument/2006/relationships/slide" Target="slides/slide51.xml"/><Relationship Id="rId73" Type="http://schemas.openxmlformats.org/officeDocument/2006/relationships/slide" Target="slides/slide59.xml"/><Relationship Id="rId78" Type="http://schemas.openxmlformats.org/officeDocument/2006/relationships/slide" Target="slides/slide64.xml"/><Relationship Id="rId81" Type="http://schemas.openxmlformats.org/officeDocument/2006/relationships/slide" Target="slides/slide67.xml"/><Relationship Id="rId86" Type="http://schemas.microsoft.com/office/2018/10/relationships/authors" Target="author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4.xml"/><Relationship Id="rId39" Type="http://schemas.openxmlformats.org/officeDocument/2006/relationships/slide" Target="slides/slide25.xml"/><Relationship Id="rId34" Type="http://schemas.openxmlformats.org/officeDocument/2006/relationships/slide" Target="slides/slide20.xml"/><Relationship Id="rId50" Type="http://schemas.openxmlformats.org/officeDocument/2006/relationships/slide" Target="slides/slide36.xml"/><Relationship Id="rId55" Type="http://schemas.openxmlformats.org/officeDocument/2006/relationships/slide" Target="slides/slide41.xml"/><Relationship Id="rId76" Type="http://schemas.openxmlformats.org/officeDocument/2006/relationships/slide" Target="slides/slide62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5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4" Type="http://schemas.openxmlformats.org/officeDocument/2006/relationships/slide" Target="slides/slide10.xml"/><Relationship Id="rId40" Type="http://schemas.openxmlformats.org/officeDocument/2006/relationships/slide" Target="slides/slide26.xml"/><Relationship Id="rId45" Type="http://schemas.openxmlformats.org/officeDocument/2006/relationships/slide" Target="slides/slide31.xml"/><Relationship Id="rId66" Type="http://schemas.openxmlformats.org/officeDocument/2006/relationships/slide" Target="slides/slide52.xml"/><Relationship Id="rId61" Type="http://schemas.openxmlformats.org/officeDocument/2006/relationships/slide" Target="slides/slide47.xml"/><Relationship Id="rId8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97172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22132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08213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77524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0742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49472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65863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86759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5211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912073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45813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7852940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58343247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5235436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5075545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4416204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446637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6902548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8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951281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2910913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01532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E7EB-D192-4D2E-8D51-DD57575EA4B4}" type="datetimeFigureOut">
              <a:rPr lang="en-AU" smtClean="0"/>
              <a:t>30/07/2024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5914329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639090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326711071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454972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5091054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8094653"/>
      </p:ext>
    </p:extLst>
  </p:cSld>
  <p:clrMapOvr>
    <a:masterClrMapping/>
  </p:clrMapOvr>
  <p:transition spd="slow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3124391"/>
      </p:ext>
    </p:extLst>
  </p:cSld>
  <p:clrMapOvr>
    <a:masterClrMapping/>
  </p:clrMapOvr>
  <p:transition spd="slow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677842"/>
      </p:ext>
    </p:extLst>
  </p:cSld>
  <p:clrMapOvr>
    <a:masterClrMapping/>
  </p:clrMapOvr>
  <p:transition spd="slow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439502"/>
      </p:ext>
    </p:extLst>
  </p:cSld>
  <p:clrMapOvr>
    <a:masterClrMapping/>
  </p:clrMapOvr>
  <p:transition spd="slow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7761409"/>
      </p:ext>
    </p:extLst>
  </p:cSld>
  <p:clrMapOvr>
    <a:masterClrMapping/>
  </p:clrMapOvr>
  <p:transition spd="slow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4551233"/>
      </p:ext>
    </p:extLst>
  </p:cSld>
  <p:clrMapOvr>
    <a:masterClrMapping/>
  </p:clrMapOvr>
  <p:transition spd="slow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E7EB-D192-4D2E-8D51-DD57575EA4B4}" type="datetimeFigureOut">
              <a:rPr lang="en-AU" smtClean="0"/>
              <a:t>30/07/2024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7872616"/>
      </p:ext>
    </p:extLst>
  </p:cSld>
  <p:clrMapOvr>
    <a:masterClrMapping/>
  </p:clrMapOvr>
  <p:transition spd="slow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7325809"/>
      </p:ext>
    </p:extLst>
  </p:cSld>
  <p:clrMapOvr>
    <a:masterClrMapping/>
  </p:clrMapOvr>
  <p:transition spd="slow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009829"/>
      </p:ext>
    </p:extLst>
  </p:cSld>
  <p:clrMapOvr>
    <a:masterClrMapping/>
  </p:clrMapOvr>
  <p:transition spd="slow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5945563"/>
      </p:ext>
    </p:extLst>
  </p:cSld>
  <p:clrMapOvr>
    <a:masterClrMapping/>
  </p:clrMapOvr>
  <p:transition spd="slow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744494"/>
      </p:ext>
    </p:extLst>
  </p:cSld>
  <p:clrMapOvr>
    <a:masterClrMapping/>
  </p:clrMapOvr>
  <p:transition spd="slow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2350594"/>
      </p:ext>
    </p:extLst>
  </p:cSld>
  <p:clrMapOvr>
    <a:masterClrMapping/>
  </p:clrMapOvr>
  <p:transition spd="slow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9059109"/>
      </p:ext>
    </p:extLst>
  </p:cSld>
  <p:clrMapOvr>
    <a:masterClrMapping/>
  </p:clrMapOvr>
  <p:transition spd="slow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440938"/>
      </p:ext>
    </p:extLst>
  </p:cSld>
  <p:clrMapOvr>
    <a:masterClrMapping/>
  </p:clrMapOvr>
  <p:transition spd="slow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4279959"/>
      </p:ext>
    </p:extLst>
  </p:cSld>
  <p:clrMapOvr>
    <a:masterClrMapping/>
  </p:clrMapOvr>
  <p:transition spd="slow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590441"/>
      </p:ext>
    </p:extLst>
  </p:cSld>
  <p:clrMapOvr>
    <a:masterClrMapping/>
  </p:clrMapOvr>
  <p:transition spd="slow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9257663"/>
      </p:ext>
    </p:extLst>
  </p:cSld>
  <p:clrMapOvr>
    <a:masterClrMapping/>
  </p:clrMapOvr>
  <p:transition spd="slow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646541"/>
      </p:ext>
    </p:extLst>
  </p:cSld>
  <p:clrMapOvr>
    <a:masterClrMapping/>
  </p:clrMapOvr>
  <p:transition spd="slow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842572"/>
      </p:ext>
    </p:extLst>
  </p:cSld>
  <p:clrMapOvr>
    <a:masterClrMapping/>
  </p:clrMapOvr>
  <p:transition spd="slow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037543"/>
      </p:ext>
    </p:extLst>
  </p:cSld>
  <p:clrMapOvr>
    <a:masterClrMapping/>
  </p:clrMapOvr>
  <p:transition spd="slow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5812088"/>
      </p:ext>
    </p:extLst>
  </p:cSld>
  <p:clrMapOvr>
    <a:masterClrMapping/>
  </p:clrMapOvr>
  <p:transition spd="slow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0765084"/>
      </p:ext>
    </p:extLst>
  </p:cSld>
  <p:clrMapOvr>
    <a:masterClrMapping/>
  </p:clrMapOvr>
  <p:transition spd="slow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7664379"/>
      </p:ext>
    </p:extLst>
  </p:cSld>
  <p:clrMapOvr>
    <a:masterClrMapping/>
  </p:clrMapOvr>
  <p:transition spd="slow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9627324"/>
      </p:ext>
    </p:extLst>
  </p:cSld>
  <p:clrMapOvr>
    <a:masterClrMapping/>
  </p:clrMapOvr>
  <p:transition spd="slow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146778"/>
      </p:ext>
    </p:extLst>
  </p:cSld>
  <p:clrMapOvr>
    <a:masterClrMapping/>
  </p:clrMapOvr>
  <p:transition spd="slow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8866695"/>
      </p:ext>
    </p:extLst>
  </p:cSld>
  <p:clrMapOvr>
    <a:masterClrMapping/>
  </p:clrMapOvr>
  <p:transition spd="slow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941442"/>
      </p:ext>
    </p:extLst>
  </p:cSld>
  <p:clrMapOvr>
    <a:masterClrMapping/>
  </p:clrMapOvr>
  <p:transition spd="slow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2579322"/>
      </p:ext>
    </p:extLst>
  </p:cSld>
  <p:clrMapOvr>
    <a:masterClrMapping/>
  </p:clrMapOvr>
  <p:transition spd="slow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2395453"/>
      </p:ext>
    </p:extLst>
  </p:cSld>
  <p:clrMapOvr>
    <a:masterClrMapping/>
  </p:clrMapOvr>
  <p:transition spd="slow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220297"/>
      </p:ext>
    </p:extLst>
  </p:cSld>
  <p:clrMapOvr>
    <a:masterClrMapping/>
  </p:clrMapOvr>
  <p:transition spd="slow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9710051"/>
      </p:ext>
    </p:extLst>
  </p:cSld>
  <p:clrMapOvr>
    <a:masterClrMapping/>
  </p:clrMapOvr>
  <p:transition spd="slow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7095686"/>
      </p:ext>
    </p:extLst>
  </p:cSld>
  <p:clrMapOvr>
    <a:masterClrMapping/>
  </p:clrMapOvr>
  <p:transition spd="slow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082501"/>
      </p:ext>
    </p:extLst>
  </p:cSld>
  <p:clrMapOvr>
    <a:masterClrMapping/>
  </p:clrMapOvr>
  <p:transition spd="slow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6643192"/>
      </p:ext>
    </p:extLst>
  </p:cSld>
  <p:clrMapOvr>
    <a:masterClrMapping/>
  </p:clrMapOvr>
  <p:transition spd="slow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5730182"/>
      </p:ext>
    </p:extLst>
  </p:cSld>
  <p:clrMapOvr>
    <a:masterClrMapping/>
  </p:clrMapOvr>
  <p:transition spd="slow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384613"/>
      </p:ext>
    </p:extLst>
  </p:cSld>
  <p:clrMapOvr>
    <a:masterClrMapping/>
  </p:clrMapOvr>
  <p:transition spd="slow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113288"/>
      </p:ext>
    </p:extLst>
  </p:cSld>
  <p:clrMapOvr>
    <a:masterClrMapping/>
  </p:clrMapOvr>
  <p:transition spd="slow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045618"/>
      </p:ext>
    </p:extLst>
  </p:cSld>
  <p:clrMapOvr>
    <a:masterClrMapping/>
  </p:clrMapOvr>
  <p:transition spd="slow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9998777"/>
      </p:ext>
    </p:extLst>
  </p:cSld>
  <p:clrMapOvr>
    <a:masterClrMapping/>
  </p:clrMapOvr>
  <p:transition spd="slow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9052585"/>
      </p:ext>
    </p:extLst>
  </p:cSld>
  <p:clrMapOvr>
    <a:masterClrMapping/>
  </p:clrMapOvr>
  <p:transition spd="slow"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4099411"/>
      </p:ext>
    </p:extLst>
  </p:cSld>
  <p:clrMapOvr>
    <a:masterClrMapping/>
  </p:clrMapOvr>
  <p:transition spd="slow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0144768"/>
      </p:ext>
    </p:extLst>
  </p:cSld>
  <p:clrMapOvr>
    <a:masterClrMapping/>
  </p:clrMapOvr>
  <p:transition spd="slow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7102047"/>
      </p:ext>
    </p:extLst>
  </p:cSld>
  <p:clrMapOvr>
    <a:masterClrMapping/>
  </p:clrMapOvr>
  <p:transition spd="slow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389621"/>
      </p:ext>
    </p:extLst>
  </p:cSld>
  <p:clrMapOvr>
    <a:masterClrMapping/>
  </p:clrMapOvr>
  <p:transition spd="slow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9817362"/>
      </p:ext>
    </p:extLst>
  </p:cSld>
  <p:clrMapOvr>
    <a:masterClrMapping/>
  </p:clrMapOvr>
  <p:transition spd="slow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3219357"/>
      </p:ext>
    </p:extLst>
  </p:cSld>
  <p:clrMapOvr>
    <a:masterClrMapping/>
  </p:clrMapOvr>
  <p:transition spd="slow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2639140"/>
      </p:ext>
    </p:extLst>
  </p:cSld>
  <p:clrMapOvr>
    <a:masterClrMapping/>
  </p:clrMapOvr>
  <p:transition spd="slow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8202440"/>
      </p:ext>
    </p:extLst>
  </p:cSld>
  <p:clrMapOvr>
    <a:masterClrMapping/>
  </p:clrMapOvr>
  <p:transition spd="slow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6118706"/>
      </p:ext>
    </p:extLst>
  </p:cSld>
  <p:clrMapOvr>
    <a:masterClrMapping/>
  </p:clrMapOvr>
  <p:transition spd="slow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8297514"/>
      </p:ext>
    </p:extLst>
  </p:cSld>
  <p:clrMapOvr>
    <a:masterClrMapping/>
  </p:clrMapOvr>
  <p:transition spd="slow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6331379"/>
      </p:ext>
    </p:extLst>
  </p:cSld>
  <p:clrMapOvr>
    <a:masterClrMapping/>
  </p:clrMapOvr>
  <p:transition spd="slow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500825"/>
      </p:ext>
    </p:extLst>
  </p:cSld>
  <p:clrMapOvr>
    <a:masterClrMapping/>
  </p:clrMapOvr>
  <p:transition spd="slow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379820"/>
      </p:ext>
    </p:extLst>
  </p:cSld>
  <p:clrMapOvr>
    <a:masterClrMapping/>
  </p:clrMapOvr>
  <p:transition spd="slow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1786074"/>
      </p:ext>
    </p:extLst>
  </p:cSld>
  <p:clrMapOvr>
    <a:masterClrMapping/>
  </p:clrMapOvr>
  <p:transition spd="slow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2273943"/>
      </p:ext>
    </p:extLst>
  </p:cSld>
  <p:clrMapOvr>
    <a:masterClrMapping/>
  </p:clrMapOvr>
  <p:transition spd="slow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8435440"/>
      </p:ext>
    </p:extLst>
  </p:cSld>
  <p:clrMapOvr>
    <a:masterClrMapping/>
  </p:clrMapOvr>
  <p:transition spd="slow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95935"/>
      </p:ext>
    </p:extLst>
  </p:cSld>
  <p:clrMapOvr>
    <a:masterClrMapping/>
  </p:clrMapOvr>
  <p:transition spd="slow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0185332"/>
      </p:ext>
    </p:extLst>
  </p:cSld>
  <p:clrMapOvr>
    <a:masterClrMapping/>
  </p:clrMapOvr>
  <p:transition spd="slow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5765892"/>
      </p:ext>
    </p:extLst>
  </p:cSld>
  <p:clrMapOvr>
    <a:masterClrMapping/>
  </p:clrMapOvr>
  <p:transition spd="slow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3031487"/>
      </p:ext>
    </p:extLst>
  </p:cSld>
  <p:clrMapOvr>
    <a:masterClrMapping/>
  </p:clrMapOvr>
  <p:transition spd="slow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6082134"/>
      </p:ext>
    </p:extLst>
  </p:cSld>
  <p:clrMapOvr>
    <a:masterClrMapping/>
  </p:clrMapOvr>
  <p:transition spd="slow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5485142"/>
      </p:ext>
    </p:extLst>
  </p:cSld>
  <p:clrMapOvr>
    <a:masterClrMapping/>
  </p:clrMapOvr>
  <p:transition spd="slow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1969938"/>
      </p:ext>
    </p:extLst>
  </p:cSld>
  <p:clrMapOvr>
    <a:masterClrMapping/>
  </p:clrMapOvr>
  <p:transition spd="slow"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2283881"/>
      </p:ext>
    </p:extLst>
  </p:cSld>
  <p:clrMapOvr>
    <a:masterClrMapping/>
  </p:clrMapOvr>
  <p:transition spd="slow"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006424"/>
      </p:ext>
    </p:extLst>
  </p:cSld>
  <p:clrMapOvr>
    <a:masterClrMapping/>
  </p:clrMapOvr>
  <p:transition spd="slow"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1959658"/>
      </p:ext>
    </p:extLst>
  </p:cSld>
  <p:clrMapOvr>
    <a:masterClrMapping/>
  </p:clrMapOvr>
  <p:transition spd="slow"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5316661"/>
      </p:ext>
    </p:extLst>
  </p:cSld>
  <p:clrMapOvr>
    <a:masterClrMapping/>
  </p:clrMapOvr>
  <p:transition spd="slow"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2312828"/>
      </p:ext>
    </p:extLst>
  </p:cSld>
  <p:clrMapOvr>
    <a:masterClrMapping/>
  </p:clrMapOvr>
  <p:transition spd="slow"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389694"/>
      </p:ext>
    </p:extLst>
  </p:cSld>
  <p:clrMapOvr>
    <a:masterClrMapping/>
  </p:clrMapOvr>
  <p:transition spd="slow"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7756321"/>
      </p:ext>
    </p:extLst>
  </p:cSld>
  <p:clrMapOvr>
    <a:masterClrMapping/>
  </p:clrMapOvr>
  <p:transition spd="slow"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4377667"/>
      </p:ext>
    </p:extLst>
  </p:cSld>
  <p:clrMapOvr>
    <a:masterClrMapping/>
  </p:clrMapOvr>
  <p:transition spd="slow"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1518369"/>
      </p:ext>
    </p:extLst>
  </p:cSld>
  <p:clrMapOvr>
    <a:masterClrMapping/>
  </p:clrMapOvr>
  <p:transition spd="slow">
    <p:fad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1450234"/>
      </p:ext>
    </p:extLst>
  </p:cSld>
  <p:clrMapOvr>
    <a:masterClrMapping/>
  </p:clrMapOvr>
  <p:transition spd="slow"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6791992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8800938"/>
      </p:ext>
    </p:extLst>
  </p:cSld>
  <p:clrMapOvr>
    <a:masterClrMapping/>
  </p:clrMapOvr>
  <p:transition spd="slow">
    <p:fade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578032"/>
      </p:ext>
    </p:extLst>
  </p:cSld>
  <p:clrMapOvr>
    <a:masterClrMapping/>
  </p:clrMapOvr>
  <p:transition spd="slow">
    <p:fade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5599382"/>
      </p:ext>
    </p:extLst>
  </p:cSld>
  <p:clrMapOvr>
    <a:masterClrMapping/>
  </p:clrMapOvr>
  <p:transition spd="slow">
    <p:fade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3226191"/>
      </p:ext>
    </p:extLst>
  </p:cSld>
  <p:clrMapOvr>
    <a:masterClrMapping/>
  </p:clrMapOvr>
  <p:transition spd="slow">
    <p:fade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6065649"/>
      </p:ext>
    </p:extLst>
  </p:cSld>
  <p:clrMapOvr>
    <a:masterClrMapping/>
  </p:clrMapOvr>
  <p:transition spd="slow">
    <p:fade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1847952"/>
      </p:ext>
    </p:extLst>
  </p:cSld>
  <p:clrMapOvr>
    <a:masterClrMapping/>
  </p:clrMapOvr>
  <p:transition spd="slow">
    <p:fade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742388"/>
      </p:ext>
    </p:extLst>
  </p:cSld>
  <p:clrMapOvr>
    <a:masterClrMapping/>
  </p:clrMapOvr>
  <p:transition spd="slow">
    <p:fade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28909"/>
      </p:ext>
    </p:extLst>
  </p:cSld>
  <p:clrMapOvr>
    <a:masterClrMapping/>
  </p:clrMapOvr>
  <p:transition spd="slow">
    <p:fade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949875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9D1D-6CE6-D7E5-EFCB-15A0AB20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E2A24-C72A-A843-AB81-5E0097092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5939-A058-387B-1E27-A37B1975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97FA-99F4-583A-FF35-F6CB944C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E8F3D-846C-2F24-CDA6-35CACA0F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913130"/>
      </p:ext>
    </p:extLst>
  </p:cSld>
  <p:clrMapOvr>
    <a:masterClrMapping/>
  </p:clrMapOvr>
  <p:hf hdr="0" dt="0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456127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92264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303298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245966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361617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336091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758231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422970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240910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881950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30407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263826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14777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94600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483741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79424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03280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737626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08466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68367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025110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38333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172933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603705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521436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45080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77024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43125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22243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936901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401920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7754979"/>
      </p:ext>
    </p:extLst>
  </p:cSld>
  <p:clrMapOvr>
    <a:masterClrMapping/>
  </p:clrMapOvr>
  <p:transition spd="slow">
    <p:fade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6360377"/>
      </p:ext>
    </p:extLst>
  </p:cSld>
  <p:clrMapOvr>
    <a:masterClrMapping/>
  </p:clrMapOvr>
  <p:transition spd="slow">
    <p:fade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9064148"/>
      </p:ext>
    </p:extLst>
  </p:cSld>
  <p:clrMapOvr>
    <a:masterClrMapping/>
  </p:clrMapOvr>
  <p:transition spd="slow">
    <p:fade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2742752"/>
      </p:ext>
    </p:extLst>
  </p:cSld>
  <p:clrMapOvr>
    <a:masterClrMapping/>
  </p:clrMapOvr>
  <p:transition spd="slow">
    <p:fade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2929718"/>
      </p:ext>
    </p:extLst>
  </p:cSld>
  <p:clrMapOvr>
    <a:masterClrMapping/>
  </p:clrMapOvr>
  <p:transition spd="slow">
    <p:fade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7485039"/>
      </p:ext>
    </p:extLst>
  </p:cSld>
  <p:clrMapOvr>
    <a:masterClrMapping/>
  </p:clrMapOvr>
  <p:transition spd="slow">
    <p:fade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1988109"/>
      </p:ext>
    </p:extLst>
  </p:cSld>
  <p:clrMapOvr>
    <a:masterClrMapping/>
  </p:clrMapOvr>
  <p:transition spd="slow">
    <p:fade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7331647"/>
      </p:ext>
    </p:extLst>
  </p:cSld>
  <p:clrMapOvr>
    <a:masterClrMapping/>
  </p:clrMapOvr>
  <p:transition spd="slow">
    <p:fade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7792506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9D1D-6CE6-D7E5-EFCB-15A0AB20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E2A24-C72A-A843-AB81-5E0097092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5939-A058-387B-1E27-A37B1975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97FA-99F4-583A-FF35-F6CB944C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E8F3D-846C-2F24-CDA6-35CACA0F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272729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emf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emf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emf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emf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image" Target="../media/image3.jpeg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theme" Target="../theme/theme1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theme" Target="../theme/theme12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7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theme" Target="../theme/theme13.xml"/><Relationship Id="rId5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7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51.xml"/><Relationship Id="rId5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50.xml"/><Relationship Id="rId4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E2B1F-3BA7-43D8-54B8-9DA63BB590F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CD4F25-35BD-D59F-8D88-D390634E6B3E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75000"/>
            <a:alphaModFix amt="30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66792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/>
            </a:gs>
            <a:gs pos="41000">
              <a:srgbClr val="1E0000"/>
            </a:gs>
            <a:gs pos="0">
              <a:srgbClr val="44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05152-70D5-811E-385A-E03732D7190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820FA-D10F-B52A-49E6-ADA3FA488BA9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75000"/>
            <a:alphaModFix amt="30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  <p:pic>
        <p:nvPicPr>
          <p:cNvPr id="11" name="Picture 10" descr="Shape, rectangle&#10;&#10;Description automatically generated">
            <a:extLst>
              <a:ext uri="{FF2B5EF4-FFF2-40B4-BE49-F238E27FC236}">
                <a16:creationId xmlns:a16="http://schemas.microsoft.com/office/drawing/2014/main" id="{FB1B3E2C-5634-B283-5DA9-CF2AA0C62510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" r="786" b="90698"/>
          <a:stretch/>
        </p:blipFill>
        <p:spPr>
          <a:xfrm>
            <a:off x="0" y="0"/>
            <a:ext cx="12192000" cy="756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43A73D-BC11-784C-91CA-D338A5444653}"/>
              </a:ext>
            </a:extLst>
          </p:cNvPr>
          <p:cNvSpPr txBox="1"/>
          <p:nvPr userDrawn="1"/>
        </p:nvSpPr>
        <p:spPr>
          <a:xfrm rot="16200000">
            <a:off x="-2391618" y="3266444"/>
            <a:ext cx="5420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</a:rPr>
              <a:t>ICT40120 Certificate IV in Programming</a:t>
            </a:r>
          </a:p>
        </p:txBody>
      </p:sp>
    </p:spTree>
    <p:extLst>
      <p:ext uri="{BB962C8B-B14F-4D97-AF65-F5344CB8AC3E}">
        <p14:creationId xmlns:p14="http://schemas.microsoft.com/office/powerpoint/2010/main" val="38834974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/>
            </a:gs>
            <a:gs pos="43000">
              <a:srgbClr val="1E0000"/>
            </a:gs>
            <a:gs pos="0">
              <a:srgbClr val="44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5733F300-0A4E-72B7-DE64-0D266581486E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t="-1" b="90593"/>
          <a:stretch/>
        </p:blipFill>
        <p:spPr>
          <a:xfrm>
            <a:off x="0" y="0"/>
            <a:ext cx="12192000" cy="76943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05152-70D5-811E-385A-E03732D7190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820FA-D10F-B52A-49E6-ADA3FA488BA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30000"/>
            <a:biLevel thresh="75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540220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4C11DD-A15C-4F20-5497-445A07C596A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F5C0C4-2700-5C2E-E243-A32AC6D7823C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50000"/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5546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E11DD5-AE95-6FD5-F8ED-581EC212662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B93067-C2A8-9188-F67D-1811D395F548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50000"/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67349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 descr="Shape&#10;&#10;Description automatically generated with low confidence">
            <a:extLst>
              <a:ext uri="{FF2B5EF4-FFF2-40B4-BE49-F238E27FC236}">
                <a16:creationId xmlns:a16="http://schemas.microsoft.com/office/drawing/2014/main" id="{A7CC75FF-9724-8147-A0FC-729B7F64182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/>
          <a:stretch/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63C976-4323-BEC4-D794-29DE4A65855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561454-5231-CD4C-E25B-2A0FBF4C7721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  <a:biLevel thresh="25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95585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CC2F6B-FCEF-2A83-9D11-F99C242B3A0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DCD787-14C6-1E61-13ED-101927EA526B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197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D6E24-8DEC-3744-9360-4F74DC4CCB8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3C2C9F-DCB7-A316-B061-B71274F85B8F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00798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AF743F-302A-D5A5-923F-4E3553F2D64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BE2B0E-C479-8999-813C-931896F8186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59627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5D370-27CE-1543-DE20-99096E7ED37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7917601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A7F89-7143-E432-6480-FB158F149B8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6784963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5C7F7-5515-9DD4-EE0B-1026F29427E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442744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80" t="15106" r="9315" b="9369"/>
          <a:stretch/>
        </p:blipFill>
        <p:spPr>
          <a:xfrm>
            <a:off x="-57876" y="0"/>
            <a:ext cx="12249875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4ABB8-7D50-6384-C614-FB8D78343DD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6868781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5329E7-8084-71E1-C3DE-7E44BA3F9BD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5368191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ple.com/accessibility/vision/" TargetMode="External"/><Relationship Id="rId7" Type="http://schemas.openxmlformats.org/officeDocument/2006/relationships/hyperlink" Target="https://chromewebstore.google.com/detail/lighthouse/blipmdconlkpinefehnmjammfjpmpbjk" TargetMode="External"/><Relationship Id="rId2" Type="http://schemas.openxmlformats.org/officeDocument/2006/relationships/hyperlink" Target="https://www.nvaccess.org/" TargetMode="External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achecks.org/achecker" TargetMode="External"/><Relationship Id="rId5" Type="http://schemas.openxmlformats.org/officeDocument/2006/relationships/hyperlink" Target="https://wave.webaim.org/" TargetMode="External"/><Relationship Id="rId4" Type="http://schemas.openxmlformats.org/officeDocument/2006/relationships/hyperlink" Target="https://chromewebstore.google.com/detail/axe-devtools-web-accessib/lhdoppojpmngadmnindnejefpokejbdd?utm_source=deque.com&amp;utm_medium=referral&amp;utm_campaign=axe_hero" TargetMode="Externa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M-TAFE/civ-web-technologies-portfolio-phases/tree/main" TargetMode="External"/><Relationship Id="rId1" Type="http://schemas.openxmlformats.org/officeDocument/2006/relationships/slideLayout" Target="../slideLayouts/slideLayout1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 fontScale="90000"/>
          </a:bodyPr>
          <a:lstStyle/>
          <a:p>
            <a:br>
              <a:rPr lang="en-AU"/>
            </a:br>
            <a:r>
              <a:rPr lang="en-AU"/>
              <a:t>Web Technologies: Introduction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/>
              <a:t>ICT40120 Certificate IV in Information Technology (Programming)</a:t>
            </a:r>
          </a:p>
        </p:txBody>
      </p:sp>
      <p:graphicFrame>
        <p:nvGraphicFramePr>
          <p:cNvPr id="36" name="Table 36">
            <a:extLst>
              <a:ext uri="{FF2B5EF4-FFF2-40B4-BE49-F238E27FC236}">
                <a16:creationId xmlns:a16="http://schemas.microsoft.com/office/drawing/2014/main" id="{740E6E62-3521-150E-78A6-322B5A2C948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476761145"/>
              </p:ext>
            </p:extLst>
          </p:nvPr>
        </p:nvGraphicFramePr>
        <p:xfrm>
          <a:off x="1524000" y="3771900"/>
          <a:ext cx="9144000" cy="1112520"/>
        </p:xfrm>
        <a:graphic>
          <a:graphicData uri="http://schemas.openxmlformats.org/drawingml/2006/table">
            <a:tbl>
              <a:tblPr firstRow="1" bandRow="1">
                <a:tableStyleId>{37CE84F3-28C3-443E-9E96-99CF82512B78}</a:tableStyleId>
              </a:tblPr>
              <a:tblGrid>
                <a:gridCol w="1681537">
                  <a:extLst>
                    <a:ext uri="{9D8B030D-6E8A-4147-A177-3AD203B41FA5}">
                      <a16:colId xmlns:a16="http://schemas.microsoft.com/office/drawing/2014/main" val="3907653306"/>
                    </a:ext>
                  </a:extLst>
                </a:gridCol>
                <a:gridCol w="7462463">
                  <a:extLst>
                    <a:ext uri="{9D8B030D-6E8A-4147-A177-3AD203B41FA5}">
                      <a16:colId xmlns:a16="http://schemas.microsoft.com/office/drawing/2014/main" val="3038254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32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ICTWEB441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Produce basic client-side script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864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/>
                        <a:t>ICTWEB452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AU"/>
                        <a:t>Create a markup language document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588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433223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3157-7D4C-4413-9455-A6DCBBD2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FA502-DEA4-4E56-A1A3-DFE5B334A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 dirty="0"/>
              <a:t>This sessions may include:</a:t>
            </a:r>
            <a:endParaRPr lang="en-AU" dirty="0">
              <a:cs typeface="Calibri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 dirty="0"/>
              <a:t> Semantic HTML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AU" dirty="0">
                <a:cs typeface="Calibri"/>
              </a:rPr>
              <a:t> HTML Validation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AU" dirty="0"/>
              <a:t> Accessibility on the Web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AU" dirty="0"/>
              <a:t> Challenges</a:t>
            </a:r>
            <a:endParaRPr lang="en-AU" dirty="0">
              <a:cs typeface="Calibri" panose="020F0502020204030204"/>
            </a:endParaRPr>
          </a:p>
          <a:p>
            <a:pPr lvl="2">
              <a:buFont typeface="Courier New" panose="020B0604020202020204" pitchFamily="34" charset="0"/>
              <a:buChar char="o"/>
            </a:pPr>
            <a:r>
              <a:rPr lang="en-AU" dirty="0"/>
              <a:t> Out of class activities</a:t>
            </a:r>
            <a:endParaRPr lang="en-AU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20252422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Semantic HTML &amp; Validating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45954886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HTML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is HTML that adds meaning to the content</a:t>
            </a:r>
          </a:p>
          <a:p>
            <a:r>
              <a:rPr lang="en-US" dirty="0"/>
              <a:t>It utilizes Semantic HTML Elements</a:t>
            </a:r>
          </a:p>
          <a:p>
            <a:r>
              <a:rPr lang="en-US" dirty="0"/>
              <a:t>They include:</a:t>
            </a:r>
          </a:p>
          <a:p>
            <a:pPr lvl="1">
              <a:tabLst>
                <a:tab pos="3227388" algn="l"/>
                <a:tab pos="6456363" algn="l"/>
              </a:tabLst>
            </a:pPr>
            <a:r>
              <a:rPr lang="en-US" dirty="0"/>
              <a:t>h1 – h6	header	</a:t>
            </a:r>
            <a:r>
              <a:rPr lang="en-AU" dirty="0"/>
              <a:t>main</a:t>
            </a:r>
          </a:p>
          <a:p>
            <a:pPr lvl="1">
              <a:tabLst>
                <a:tab pos="3227388" algn="l"/>
                <a:tab pos="6456363" algn="l"/>
              </a:tabLst>
            </a:pPr>
            <a:r>
              <a:rPr lang="en-AU" dirty="0"/>
              <a:t>nav	footer	article</a:t>
            </a:r>
          </a:p>
          <a:p>
            <a:pPr lvl="1">
              <a:tabLst>
                <a:tab pos="3227388" algn="l"/>
                <a:tab pos="6456363" algn="l"/>
              </a:tabLst>
            </a:pPr>
            <a:r>
              <a:rPr lang="en-AU" dirty="0"/>
              <a:t>aside	section</a:t>
            </a:r>
          </a:p>
        </p:txBody>
      </p:sp>
    </p:spTree>
    <p:extLst>
      <p:ext uri="{BB962C8B-B14F-4D97-AF65-F5344CB8AC3E}">
        <p14:creationId xmlns:p14="http://schemas.microsoft.com/office/powerpoint/2010/main" val="1579728325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Let’s use some of these and create a demo</a:t>
            </a:r>
          </a:p>
          <a:p>
            <a:r>
              <a:rPr lang="en-US" dirty="0"/>
              <a:t>We will use WebStorm</a:t>
            </a:r>
            <a:endParaRPr lang="en-US" dirty="0">
              <a:cs typeface="Calibri"/>
            </a:endParaRPr>
          </a:p>
          <a:p>
            <a:r>
              <a:rPr lang="en-US" dirty="0"/>
              <a:t>The project will keep each session in a folder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We provide the base structure...</a:t>
            </a:r>
            <a:endParaRPr lang="en-US" dirty="0">
              <a:cs typeface="Calibri" panose="020F0502020204030204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77978440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Open WebStorm</a:t>
            </a:r>
          </a:p>
          <a:p>
            <a:endParaRPr lang="en-US" dirty="0"/>
          </a:p>
          <a:p>
            <a:r>
              <a:rPr lang="en-US" dirty="0"/>
              <a:t>You should see this if it the first time you have opened it, or you have no projects open</a:t>
            </a:r>
          </a:p>
          <a:p>
            <a:endParaRPr lang="en-US" dirty="0"/>
          </a:p>
          <a:p>
            <a:r>
              <a:rPr lang="en-US" dirty="0"/>
              <a:t>Click New Project</a:t>
            </a:r>
          </a:p>
          <a:p>
            <a:endParaRPr lang="en-A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F29BAE-77E2-413E-908C-A8A3FC51D4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726915"/>
            <a:ext cx="5181600" cy="2548758"/>
          </a:xfrm>
        </p:spPr>
      </p:pic>
    </p:spTree>
    <p:extLst>
      <p:ext uri="{BB962C8B-B14F-4D97-AF65-F5344CB8AC3E}">
        <p14:creationId xmlns:p14="http://schemas.microsoft.com/office/powerpoint/2010/main" val="2034825868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</a:t>
            </a:r>
            <a:r>
              <a:rPr lang="en-AU" dirty="0"/>
              <a:t>n the Empty Project option, the right side will show a location.</a:t>
            </a:r>
          </a:p>
          <a:p>
            <a:r>
              <a:rPr lang="en-AU" dirty="0"/>
              <a:t>Edit the location after </a:t>
            </a:r>
            <a:r>
              <a:rPr lang="en-AU" dirty="0">
                <a:solidFill>
                  <a:srgbClr val="FFC000"/>
                </a:solidFill>
                <a:latin typeface="Consolas" panose="020B0609020204030204" pitchFamily="49" charset="0"/>
              </a:rPr>
              <a:t>C:\Users\YOUR_USER_ID\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Type in:</a:t>
            </a:r>
          </a:p>
          <a:p>
            <a:pPr lvl="1"/>
            <a:r>
              <a:rPr lang="en-AU" dirty="0"/>
              <a:t> </a:t>
            </a:r>
            <a:r>
              <a:rPr lang="en-AU" dirty="0">
                <a:solidFill>
                  <a:srgbClr val="FFC000"/>
                </a:solidFill>
                <a:latin typeface="Consolas" panose="020B0609020204030204" pitchFamily="49" charset="0"/>
              </a:rPr>
              <a:t>Source\Repos\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WebTech-24S1-Learning</a:t>
            </a:r>
          </a:p>
          <a:p>
            <a:pPr marL="0" lvl="1" indent="0">
              <a:spcBef>
                <a:spcPts val="1000"/>
              </a:spcBef>
              <a:buNone/>
            </a:pPr>
            <a:endParaRPr lang="en-US" sz="4000" dirty="0"/>
          </a:p>
          <a:p>
            <a:pPr marL="228600" lvl="1">
              <a:spcBef>
                <a:spcPts val="1000"/>
              </a:spcBef>
            </a:pPr>
            <a:r>
              <a:rPr lang="en-US" sz="4000" dirty="0"/>
              <a:t>The picture shows Adrian Gould’s entry:</a:t>
            </a: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endParaRPr lang="en-US" sz="4000" dirty="0"/>
          </a:p>
          <a:p>
            <a:pPr lvl="1"/>
            <a:endParaRPr lang="en-AU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15316B1-4D8C-4493-8435-9DDAF1F664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531860" y="5029200"/>
            <a:ext cx="7128280" cy="1059366"/>
          </a:xfrm>
        </p:spPr>
      </p:pic>
    </p:spTree>
    <p:extLst>
      <p:ext uri="{BB962C8B-B14F-4D97-AF65-F5344CB8AC3E}">
        <p14:creationId xmlns:p14="http://schemas.microsoft.com/office/powerpoint/2010/main" val="3062435429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Click the Create button</a:t>
            </a:r>
          </a:p>
          <a:p>
            <a:endParaRPr lang="en-US" dirty="0"/>
          </a:p>
          <a:p>
            <a:r>
              <a:rPr lang="en-US" dirty="0"/>
              <a:t>The folders are automatically created!</a:t>
            </a:r>
            <a:endParaRPr lang="en-AU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813BD40-578D-4E17-9C1B-1F87F778A0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10287" y="3496398"/>
            <a:ext cx="2505425" cy="1009791"/>
          </a:xfrm>
        </p:spPr>
      </p:pic>
    </p:spTree>
    <p:extLst>
      <p:ext uri="{BB962C8B-B14F-4D97-AF65-F5344CB8AC3E}">
        <p14:creationId xmlns:p14="http://schemas.microsoft.com/office/powerpoint/2010/main" val="128232321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You will then be presented with the WebStorm IDE</a:t>
            </a:r>
            <a:endParaRPr lang="en-A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67BE814-D84B-44FA-81B1-F80741E321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565121"/>
            <a:ext cx="5181600" cy="2872346"/>
          </a:xfrm>
        </p:spPr>
      </p:pic>
    </p:spTree>
    <p:extLst>
      <p:ext uri="{BB962C8B-B14F-4D97-AF65-F5344CB8AC3E}">
        <p14:creationId xmlns:p14="http://schemas.microsoft.com/office/powerpoint/2010/main" val="1293304728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80084"/>
            <a:ext cx="5686167" cy="20756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 Point to and right click the WebTech-24S1-Learning under “Project”.</a:t>
            </a:r>
            <a:endParaRPr lang="en-AU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08FB2AE-E560-4671-BCC9-28D712B7AC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39372" y="2813999"/>
            <a:ext cx="4829849" cy="2086266"/>
          </a:xfrm>
        </p:spPr>
      </p:pic>
    </p:spTree>
    <p:extLst>
      <p:ext uri="{BB962C8B-B14F-4D97-AF65-F5344CB8AC3E}">
        <p14:creationId xmlns:p14="http://schemas.microsoft.com/office/powerpoint/2010/main" val="427461424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Move the  mouse down and over Open In</a:t>
            </a:r>
          </a:p>
          <a:p>
            <a:r>
              <a:rPr lang="en-US" dirty="0"/>
              <a:t>Hover over and click Explorer</a:t>
            </a:r>
            <a:endParaRPr lang="en-US" dirty="0">
              <a:cs typeface="Calibri"/>
            </a:endParaRPr>
          </a:p>
          <a:p>
            <a:r>
              <a:rPr lang="en-US" dirty="0"/>
              <a:t>This opens a Windows File Explorer window.</a:t>
            </a:r>
            <a:endParaRPr lang="en-A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48D5CCB-DF39-4152-ADBE-79E8101975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66709" y="1825625"/>
            <a:ext cx="4392582" cy="4351338"/>
          </a:xfrm>
        </p:spPr>
      </p:pic>
    </p:spTree>
    <p:extLst>
      <p:ext uri="{BB962C8B-B14F-4D97-AF65-F5344CB8AC3E}">
        <p14:creationId xmlns:p14="http://schemas.microsoft.com/office/powerpoint/2010/main" val="436043357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72897" cy="4351338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dirty="0"/>
              <a:t>Double click the Folder to open it.</a:t>
            </a:r>
          </a:p>
          <a:p>
            <a:r>
              <a:rPr lang="en-US" dirty="0"/>
              <a:t>You will see a folder named .idea</a:t>
            </a:r>
            <a:endParaRPr lang="en-US" dirty="0">
              <a:cs typeface="Calibri"/>
            </a:endParaRPr>
          </a:p>
          <a:p>
            <a:r>
              <a:rPr lang="en-US" dirty="0"/>
              <a:t>This contains the WebStorm configuration for the project</a:t>
            </a:r>
            <a:endParaRPr lang="en-US" dirty="0">
              <a:cs typeface="Calibri"/>
            </a:endParaRPr>
          </a:p>
          <a:p>
            <a:r>
              <a:rPr lang="en-US" i="1" dirty="0"/>
              <a:t>Do not delete it under normal situations</a:t>
            </a:r>
            <a:endParaRPr lang="en-AU" i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C2993B3-A467-4A42-A53A-8FA54A603A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73795" y="2951160"/>
            <a:ext cx="5181600" cy="1403017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503871-EC39-4A0D-9BE5-67E10FB0E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484" y="1877111"/>
            <a:ext cx="4721144" cy="83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822992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92" y="872407"/>
            <a:ext cx="10515600" cy="921254"/>
          </a:xfrm>
        </p:spPr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592" y="1794733"/>
            <a:ext cx="1083481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Go to Blackboard and locate </a:t>
            </a:r>
            <a:r>
              <a:rPr lang="en-US" b="1" dirty="0"/>
              <a:t>Session 3</a:t>
            </a:r>
            <a:r>
              <a:rPr lang="en-US" dirty="0"/>
              <a:t> in the Learning Materials</a:t>
            </a:r>
          </a:p>
          <a:p>
            <a:r>
              <a:rPr lang="en-US" dirty="0"/>
              <a:t>Locate the </a:t>
            </a:r>
            <a:r>
              <a:rPr lang="en-US" b="1" dirty="0"/>
              <a:t>Session Files</a:t>
            </a:r>
          </a:p>
          <a:p>
            <a:r>
              <a:rPr lang="en-US" dirty="0"/>
              <a:t>Download the </a:t>
            </a:r>
            <a:r>
              <a:rPr lang="en-US" dirty="0">
                <a:solidFill>
                  <a:schemeClr val="accent3"/>
                </a:solidFill>
                <a:latin typeface="Consolas"/>
              </a:rPr>
              <a:t>WebTech-yySn-Learning.zip</a:t>
            </a:r>
            <a:r>
              <a:rPr lang="en-US" dirty="0"/>
              <a:t> file </a:t>
            </a:r>
            <a:r>
              <a:rPr lang="en-AU" b="1" dirty="0">
                <a:cs typeface="Calibri" panose="020F0502020204030204"/>
              </a:rPr>
              <a:t>OR</a:t>
            </a:r>
            <a:r>
              <a:rPr lang="en-AU" dirty="0">
                <a:cs typeface="Calibri" panose="020F0502020204030204"/>
              </a:rPr>
              <a:t> if you are using the GitHub repo skip 3 slides</a:t>
            </a:r>
          </a:p>
        </p:txBody>
      </p:sp>
    </p:spTree>
    <p:extLst>
      <p:ext uri="{BB962C8B-B14F-4D97-AF65-F5344CB8AC3E}">
        <p14:creationId xmlns:p14="http://schemas.microsoft.com/office/powerpoint/2010/main" val="70158504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27192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Open a Windows File Explorer and navigate to your Downloads folder</a:t>
            </a:r>
          </a:p>
          <a:p>
            <a:r>
              <a:rPr lang="en-US" dirty="0"/>
              <a:t>Open the compressed file</a:t>
            </a:r>
          </a:p>
          <a:p>
            <a:r>
              <a:rPr lang="en-US" dirty="0"/>
              <a:t>Press </a:t>
            </a:r>
            <a:r>
              <a:rPr lang="en-US" dirty="0">
                <a:solidFill>
                  <a:srgbClr val="00B0F0"/>
                </a:solidFill>
              </a:rPr>
              <a:t>WIN </a:t>
            </a:r>
            <a:r>
              <a:rPr lang="en-AU" dirty="0">
                <a:solidFill>
                  <a:srgbClr val="00B0F0"/>
                </a:solidFill>
              </a:rPr>
              <a:t>→</a:t>
            </a:r>
            <a:r>
              <a:rPr lang="en-US" dirty="0"/>
              <a:t> To move the window to the right</a:t>
            </a:r>
          </a:p>
          <a:p>
            <a:r>
              <a:rPr lang="en-US" dirty="0"/>
              <a:t>Letting go of the keys will present a grid of windows</a:t>
            </a:r>
          </a:p>
          <a:p>
            <a:r>
              <a:rPr lang="en-US" dirty="0"/>
              <a:t>Click the other file explorer and it will go to the left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C81694-DD3B-4E1C-8595-EFEAD19FB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316" y="1690688"/>
            <a:ext cx="3799544" cy="13722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006DB4-CAEF-49A9-8281-C15350860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316" y="3220796"/>
            <a:ext cx="3145430" cy="15609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49DD4B-8E55-47AC-A41F-900A2DAEB47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903" b="20828"/>
          <a:stretch/>
        </p:blipFill>
        <p:spPr>
          <a:xfrm>
            <a:off x="7169316" y="4939622"/>
            <a:ext cx="2977004" cy="116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92845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38672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Click the other file explorer and it will go to the left</a:t>
            </a:r>
          </a:p>
          <a:p>
            <a:r>
              <a:rPr lang="en-US" dirty="0"/>
              <a:t>Click in the area that says “This PC” </a:t>
            </a:r>
          </a:p>
          <a:p>
            <a:r>
              <a:rPr lang="en-US" dirty="0"/>
              <a:t>Delete any text and type in </a:t>
            </a:r>
            <a:r>
              <a:rPr lang="en-US" dirty="0">
                <a:solidFill>
                  <a:srgbClr val="92D050"/>
                </a:solidFill>
                <a:latin typeface="Consolas" panose="020B0609020204030204" pitchFamily="49" charset="0"/>
              </a:rPr>
              <a:t>%</a:t>
            </a:r>
            <a:r>
              <a:rPr lang="en-US" dirty="0" err="1">
                <a:solidFill>
                  <a:srgbClr val="92D050"/>
                </a:solidFill>
                <a:latin typeface="Consolas" panose="020B0609020204030204" pitchFamily="49" charset="0"/>
              </a:rPr>
              <a:t>userprofile</a:t>
            </a:r>
            <a:r>
              <a:rPr lang="en-US" dirty="0">
                <a:solidFill>
                  <a:srgbClr val="92D050"/>
                </a:solidFill>
                <a:latin typeface="Consolas" panose="020B0609020204030204" pitchFamily="49" charset="0"/>
              </a:rPr>
              <a:t>%</a:t>
            </a:r>
            <a:r>
              <a:rPr lang="en-US" dirty="0"/>
              <a:t> and press 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ENTER</a:t>
            </a:r>
          </a:p>
          <a:p>
            <a:r>
              <a:rPr lang="en-US" dirty="0"/>
              <a:t>This will open your User folder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D8FCC3-388A-46B4-88DB-17C086C010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14" b="28507"/>
          <a:stretch/>
        </p:blipFill>
        <p:spPr>
          <a:xfrm>
            <a:off x="8645763" y="1825625"/>
            <a:ext cx="2630424" cy="13911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3FC14B-F832-48D8-8FC0-49424B6EA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763" y="3670483"/>
            <a:ext cx="2238687" cy="6001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25CEED-971F-4E1F-9A03-057F4F148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5763" y="4654507"/>
            <a:ext cx="2708037" cy="143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62216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9068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Double Click </a:t>
            </a:r>
            <a:r>
              <a:rPr lang="en-US" dirty="0">
                <a:solidFill>
                  <a:srgbClr val="00B0F0"/>
                </a:solidFill>
              </a:rPr>
              <a:t>Source</a:t>
            </a:r>
          </a:p>
          <a:p>
            <a:r>
              <a:rPr lang="en-US" dirty="0"/>
              <a:t>Double Click </a:t>
            </a:r>
            <a:r>
              <a:rPr lang="en-US" dirty="0">
                <a:solidFill>
                  <a:srgbClr val="00B0F0"/>
                </a:solidFill>
              </a:rPr>
              <a:t>Repos</a:t>
            </a:r>
            <a:r>
              <a:rPr lang="en-US" dirty="0"/>
              <a:t> </a:t>
            </a:r>
          </a:p>
          <a:p>
            <a:r>
              <a:rPr lang="en-US" dirty="0"/>
              <a:t>Finally, Double click the project name</a:t>
            </a:r>
            <a:endParaRPr lang="en-US" dirty="0">
              <a:cs typeface="Calibri"/>
            </a:endParaRPr>
          </a:p>
          <a:p>
            <a:r>
              <a:rPr lang="en-US" dirty="0"/>
              <a:t>In the 7-Zip window, double click the </a:t>
            </a:r>
            <a:r>
              <a:rPr lang="en-US" dirty="0">
                <a:solidFill>
                  <a:srgbClr val="00B0F0"/>
                </a:solidFill>
                <a:latin typeface="Consolas"/>
              </a:rPr>
              <a:t>WebTech-</a:t>
            </a:r>
            <a:r>
              <a:rPr lang="en-US" dirty="0" err="1">
                <a:solidFill>
                  <a:srgbClr val="00B0F0"/>
                </a:solidFill>
                <a:latin typeface="Consolas"/>
              </a:rPr>
              <a:t>yySn</a:t>
            </a:r>
            <a:r>
              <a:rPr lang="en-US" dirty="0">
                <a:solidFill>
                  <a:srgbClr val="00B0F0"/>
                </a:solidFill>
                <a:latin typeface="Consolas"/>
              </a:rPr>
              <a:t>-Learning</a:t>
            </a:r>
            <a:r>
              <a:rPr lang="en-US" dirty="0"/>
              <a:t> folder to show all the files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1D41A3-55BF-4466-A172-F9A660FE8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67" y="1617429"/>
            <a:ext cx="4968167" cy="13452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65D983-76BB-46BB-B2BC-E9D2A0FC9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512" y="3199247"/>
            <a:ext cx="497483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64992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82758" cy="4351338"/>
          </a:xfrm>
        </p:spPr>
        <p:txBody>
          <a:bodyPr>
            <a:normAutofit/>
          </a:bodyPr>
          <a:lstStyle/>
          <a:p>
            <a:r>
              <a:rPr lang="en-US" sz="3200" dirty="0"/>
              <a:t>Now select all the files and folders in the compressed file</a:t>
            </a:r>
          </a:p>
          <a:p>
            <a:r>
              <a:rPr lang="en-US" sz="3200" dirty="0"/>
              <a:t>Click and drag them over to the </a:t>
            </a:r>
            <a:r>
              <a:rPr lang="en-US" sz="3200" dirty="0">
                <a:solidFill>
                  <a:srgbClr val="00B0F0"/>
                </a:solidFill>
                <a:latin typeface="Consolas" panose="020B0609020204030204" pitchFamily="49" charset="0"/>
              </a:rPr>
              <a:t>WebTech-23S2-Learning</a:t>
            </a:r>
            <a:r>
              <a:rPr lang="en-US" sz="3200" dirty="0"/>
              <a:t> folder</a:t>
            </a:r>
          </a:p>
          <a:p>
            <a:r>
              <a:rPr lang="en-US" sz="3200" dirty="0"/>
              <a:t>Letting the mouse button go will copy the files into the desired location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575E10-2EC3-4D5E-A0BB-03A7910D33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7407"/>
          <a:stretch/>
        </p:blipFill>
        <p:spPr>
          <a:xfrm>
            <a:off x="8286534" y="1807802"/>
            <a:ext cx="3067265" cy="17459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2E891C-9608-48CB-8C49-A0A39222A2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401" t="48766" r="22841" b="12492"/>
          <a:stretch/>
        </p:blipFill>
        <p:spPr>
          <a:xfrm>
            <a:off x="8286534" y="3703320"/>
            <a:ext cx="1051561" cy="8288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989398-67E5-4575-926D-E2699D492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534" y="4681728"/>
            <a:ext cx="3067265" cy="149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196649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59825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/>
              <a:t>if </a:t>
            </a:r>
            <a:r>
              <a:rPr lang="en-US" sz="4000" dirty="0"/>
              <a:t>you are using the GitHub repo simply </a:t>
            </a:r>
            <a:r>
              <a:rPr lang="en-US" sz="4000" i="1" dirty="0">
                <a:solidFill>
                  <a:srgbClr val="FFC000"/>
                </a:solidFill>
              </a:rPr>
              <a:t>git clone {repo-name} </a:t>
            </a:r>
          </a:p>
          <a:p>
            <a:r>
              <a:rPr lang="en-US" sz="4000" dirty="0"/>
              <a:t>to update </a:t>
            </a:r>
            <a:r>
              <a:rPr lang="en-US" sz="4000" i="1" dirty="0">
                <a:solidFill>
                  <a:srgbClr val="FFC000"/>
                </a:solidFill>
              </a:rPr>
              <a:t>git pull origin main </a:t>
            </a:r>
            <a:r>
              <a:rPr lang="en-US" sz="4000" dirty="0">
                <a:solidFill>
                  <a:schemeClr val="tx1"/>
                </a:solidFill>
              </a:rPr>
              <a:t>remember to move all your folders to the root of the new WebStorm project</a:t>
            </a:r>
            <a:endParaRPr lang="en-US" sz="4000" i="1"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</a:t>
            </a:r>
            <a:r>
              <a:rPr lang="en-US" sz="4000" dirty="0">
                <a:solidFill>
                  <a:schemeClr val="tx1"/>
                </a:solidFill>
              </a:rPr>
              <a:t>hen open the repo folder as a new project using existing sources in </a:t>
            </a:r>
            <a:r>
              <a:rPr lang="en-US" sz="4000" dirty="0" err="1">
                <a:solidFill>
                  <a:schemeClr val="tx1"/>
                </a:solidFill>
              </a:rPr>
              <a:t>Webstorm</a:t>
            </a:r>
            <a:endParaRPr lang="en-US" sz="4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are ready to go...</a:t>
            </a:r>
          </a:p>
        </p:txBody>
      </p:sp>
    </p:spTree>
    <p:extLst>
      <p:ext uri="{BB962C8B-B14F-4D97-AF65-F5344CB8AC3E}">
        <p14:creationId xmlns:p14="http://schemas.microsoft.com/office/powerpoint/2010/main" val="3884639085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94704" cy="4351338"/>
          </a:xfrm>
        </p:spPr>
        <p:txBody>
          <a:bodyPr>
            <a:normAutofit lnSpcReduction="10000"/>
          </a:bodyPr>
          <a:lstStyle/>
          <a:p>
            <a:r>
              <a:rPr lang="en-AU" dirty="0"/>
              <a:t>Click the symbol next to the Project Name</a:t>
            </a:r>
          </a:p>
          <a:p>
            <a:r>
              <a:rPr lang="en-AU" dirty="0"/>
              <a:t>This shows a list of folders</a:t>
            </a:r>
          </a:p>
          <a:p>
            <a:r>
              <a:rPr lang="en-AU" dirty="0"/>
              <a:t>Click the same symbol next to session-03 </a:t>
            </a:r>
          </a:p>
          <a:p>
            <a:r>
              <a:rPr lang="en-AU" dirty="0"/>
              <a:t>This shows the folders and files in session-03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C5183B-8E7D-4A66-B6E5-9FB0C7E4F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969" y="1825625"/>
            <a:ext cx="1657581" cy="857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CA789E-F9B8-44F0-83CB-F8E162998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969" y="2850562"/>
            <a:ext cx="2572109" cy="1448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334177-5F2E-477E-B9AD-B7D3DEB02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969" y="4466131"/>
            <a:ext cx="2133898" cy="5811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9ABF79-AB29-4146-A3C1-1BFE49930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7969" y="5214804"/>
            <a:ext cx="2591162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15734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39840" cy="4351338"/>
          </a:xfrm>
        </p:spPr>
        <p:txBody>
          <a:bodyPr>
            <a:normAutofit fontScale="85000" lnSpcReduction="10000"/>
          </a:bodyPr>
          <a:lstStyle/>
          <a:p>
            <a:r>
              <a:rPr lang="en-AU" dirty="0"/>
              <a:t>Right Click on the </a:t>
            </a:r>
            <a:r>
              <a:rPr lang="en-AU" dirty="0">
                <a:solidFill>
                  <a:srgbClr val="00B0F0"/>
                </a:solidFill>
                <a:latin typeface="Consolas" panose="020B0609020204030204" pitchFamily="49" charset="0"/>
              </a:rPr>
              <a:t>session-03</a:t>
            </a:r>
            <a:r>
              <a:rPr lang="en-AU" dirty="0"/>
              <a:t> folder name</a:t>
            </a:r>
          </a:p>
          <a:p>
            <a:r>
              <a:rPr lang="en-AU" dirty="0"/>
              <a:t>Hover over </a:t>
            </a:r>
            <a:r>
              <a:rPr lang="en-AU" b="1" dirty="0"/>
              <a:t>New</a:t>
            </a:r>
          </a:p>
          <a:p>
            <a:r>
              <a:rPr lang="en-AU" dirty="0"/>
              <a:t>Move and hover over </a:t>
            </a:r>
            <a:r>
              <a:rPr lang="en-AU" b="1" dirty="0"/>
              <a:t>HTML File</a:t>
            </a:r>
          </a:p>
          <a:p>
            <a:r>
              <a:rPr lang="en-AU" dirty="0"/>
              <a:t>Let go of the mouse button</a:t>
            </a:r>
          </a:p>
          <a:p>
            <a:r>
              <a:rPr lang="en-AU" dirty="0"/>
              <a:t>In the </a:t>
            </a:r>
            <a:r>
              <a:rPr lang="en-AU" b="1" dirty="0"/>
              <a:t>new HTML file </a:t>
            </a:r>
            <a:r>
              <a:rPr lang="en-AU" dirty="0"/>
              <a:t>dialog…</a:t>
            </a:r>
          </a:p>
          <a:p>
            <a:r>
              <a:rPr lang="en-AU" dirty="0"/>
              <a:t>Type in </a:t>
            </a:r>
            <a:r>
              <a:rPr lang="en-AU" dirty="0">
                <a:solidFill>
                  <a:srgbClr val="00B0F0"/>
                </a:solidFill>
                <a:latin typeface="Consolas" panose="020B0609020204030204" pitchFamily="49" charset="0"/>
              </a:rPr>
              <a:t>index</a:t>
            </a:r>
            <a:r>
              <a:rPr lang="en-AU" dirty="0"/>
              <a:t> and press </a:t>
            </a:r>
            <a:r>
              <a:rPr lang="en-AU" dirty="0">
                <a:solidFill>
                  <a:srgbClr val="00B0F0"/>
                </a:solidFill>
                <a:latin typeface="Consolas" panose="020B0609020204030204" pitchFamily="49" charset="0"/>
              </a:rPr>
              <a:t>ENTER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31695D-7E88-4ACB-98AA-DDAB40592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108" y="1690688"/>
            <a:ext cx="2638793" cy="924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8B91BF-7E34-4CF4-8FE3-6A8872070A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4920" b="51974"/>
          <a:stretch/>
        </p:blipFill>
        <p:spPr>
          <a:xfrm>
            <a:off x="7397108" y="2856975"/>
            <a:ext cx="3987794" cy="7731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268B57-905F-485F-B4DE-587F56B0A4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773" t="8830" b="5490"/>
          <a:stretch/>
        </p:blipFill>
        <p:spPr>
          <a:xfrm>
            <a:off x="7397108" y="3872401"/>
            <a:ext cx="3491601" cy="13794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568851-B730-4914-AFB2-0EF15868AE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400" r="34033" b="30552"/>
          <a:stretch/>
        </p:blipFill>
        <p:spPr>
          <a:xfrm>
            <a:off x="7397108" y="5403769"/>
            <a:ext cx="3299238" cy="77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30403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3184" cy="4351338"/>
          </a:xfrm>
        </p:spPr>
        <p:txBody>
          <a:bodyPr>
            <a:normAutofit lnSpcReduction="10000"/>
          </a:bodyPr>
          <a:lstStyle/>
          <a:p>
            <a:r>
              <a:rPr lang="en-AU" dirty="0"/>
              <a:t>You will then be presented with a part of the IDE on the right</a:t>
            </a:r>
          </a:p>
          <a:p>
            <a:r>
              <a:rPr lang="en-AU" dirty="0"/>
              <a:t>This is the Editor</a:t>
            </a:r>
          </a:p>
          <a:p>
            <a:r>
              <a:rPr lang="en-AU" dirty="0"/>
              <a:t>Note: the file has automatically added </a:t>
            </a:r>
            <a:r>
              <a:rPr lang="en-AU" dirty="0">
                <a:solidFill>
                  <a:srgbClr val="00B0F0"/>
                </a:solidFill>
                <a:latin typeface="Consolas" panose="020B0609020204030204" pitchFamily="49" charset="0"/>
              </a:rPr>
              <a:t>.html</a:t>
            </a:r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1284E5-6CD6-4A75-BD6E-FCE75C3C7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196" y="3666744"/>
            <a:ext cx="5405603" cy="2510219"/>
          </a:xfrm>
          <a:prstGeom prst="rect">
            <a:avLst/>
          </a:prstGeom>
        </p:spPr>
      </p:pic>
      <p:sp>
        <p:nvSpPr>
          <p:cNvPr id="12" name="Arrow: Circular 11">
            <a:extLst>
              <a:ext uri="{FF2B5EF4-FFF2-40B4-BE49-F238E27FC236}">
                <a16:creationId xmlns:a16="http://schemas.microsoft.com/office/drawing/2014/main" id="{4523FE8D-8F74-4193-BBF5-AB88252D0AC2}"/>
              </a:ext>
            </a:extLst>
          </p:cNvPr>
          <p:cNvSpPr/>
          <p:nvPr/>
        </p:nvSpPr>
        <p:spPr>
          <a:xfrm>
            <a:off x="7446200" y="2547398"/>
            <a:ext cx="2639632" cy="2639632"/>
          </a:xfrm>
          <a:prstGeom prst="circularArrow">
            <a:avLst>
              <a:gd name="adj1" fmla="val 12500"/>
              <a:gd name="adj2" fmla="val 1058536"/>
              <a:gd name="adj3" fmla="val 20457681"/>
              <a:gd name="adj4" fmla="val 17037467"/>
              <a:gd name="adj5" fmla="val 11858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98474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47232" cy="4351338"/>
          </a:xfrm>
        </p:spPr>
        <p:txBody>
          <a:bodyPr>
            <a:normAutofit lnSpcReduction="10000"/>
          </a:bodyPr>
          <a:lstStyle/>
          <a:p>
            <a:r>
              <a:rPr lang="en-AU" dirty="0"/>
              <a:t>Now we will add some content</a:t>
            </a:r>
          </a:p>
          <a:p>
            <a:r>
              <a:rPr lang="en-AU" dirty="0"/>
              <a:t>Open the </a:t>
            </a:r>
            <a:r>
              <a:rPr lang="en-AU" dirty="0">
                <a:solidFill>
                  <a:srgbClr val="00B0F0"/>
                </a:solidFill>
                <a:latin typeface="Consolas" panose="020B0609020204030204" pitchFamily="49" charset="0"/>
              </a:rPr>
              <a:t>demo.txt </a:t>
            </a:r>
            <a:r>
              <a:rPr lang="en-AU" dirty="0"/>
              <a:t>file (look in assets/documents)</a:t>
            </a:r>
          </a:p>
          <a:p>
            <a:r>
              <a:rPr lang="en-AU" dirty="0"/>
              <a:t>Copy the file content</a:t>
            </a:r>
          </a:p>
          <a:p>
            <a:r>
              <a:rPr lang="en-AU" dirty="0"/>
              <a:t>Paste into the gap between </a:t>
            </a:r>
            <a:r>
              <a:rPr lang="en-AU" dirty="0">
                <a:solidFill>
                  <a:srgbClr val="92D050"/>
                </a:solidFill>
                <a:latin typeface="Consolas" panose="020B0609020204030204" pitchFamily="49" charset="0"/>
              </a:rPr>
              <a:t>&lt;body&gt;</a:t>
            </a:r>
            <a:r>
              <a:rPr lang="en-AU" dirty="0"/>
              <a:t> and </a:t>
            </a:r>
            <a:r>
              <a:rPr lang="en-AU" dirty="0">
                <a:solidFill>
                  <a:srgbClr val="92D050"/>
                </a:solidFill>
                <a:latin typeface="Consolas" panose="020B0609020204030204" pitchFamily="49" charset="0"/>
              </a:rPr>
              <a:t>&lt;/body&gt;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E0E37D-FB89-41E3-AF7F-6DAFFF71F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267" y="2129357"/>
            <a:ext cx="4353533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182646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AU" dirty="0"/>
              <a:t>View the content using a browser</a:t>
            </a:r>
          </a:p>
          <a:p>
            <a:r>
              <a:rPr lang="en-AU" dirty="0"/>
              <a:t>Do this by:</a:t>
            </a:r>
          </a:p>
          <a:p>
            <a:pPr lvl="1"/>
            <a:r>
              <a:rPr lang="en-AU" dirty="0"/>
              <a:t>Hovering over the Editor area</a:t>
            </a:r>
          </a:p>
          <a:p>
            <a:pPr lvl="2"/>
            <a:r>
              <a:rPr lang="en-AU" dirty="0"/>
              <a:t>A list of browser icons will appear</a:t>
            </a:r>
          </a:p>
          <a:p>
            <a:pPr lvl="1"/>
            <a:r>
              <a:rPr lang="en-AU" dirty="0"/>
              <a:t>Click on Chrome or Edge </a:t>
            </a:r>
          </a:p>
          <a:p>
            <a:pPr lvl="2"/>
            <a:r>
              <a:rPr lang="en-AU" dirty="0"/>
              <a:t>This opens the file in “live view”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A53440-777D-4DA7-A225-3D0D70EF7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180" y="2835382"/>
            <a:ext cx="2693620" cy="118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724932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You should see: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3245F2-70EE-4F53-8C2D-02416E7D6A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71416" y="3053592"/>
            <a:ext cx="6882384" cy="1519823"/>
          </a:xfrm>
        </p:spPr>
      </p:pic>
    </p:spTree>
    <p:extLst>
      <p:ext uri="{BB962C8B-B14F-4D97-AF65-F5344CB8AC3E}">
        <p14:creationId xmlns:p14="http://schemas.microsoft.com/office/powerpoint/2010/main" val="769464548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AU" dirty="0"/>
              <a:t>Edit the HTML file.</a:t>
            </a:r>
          </a:p>
          <a:p>
            <a:r>
              <a:rPr lang="en-AU" dirty="0"/>
              <a:t>The title element now contains:</a:t>
            </a:r>
          </a:p>
          <a:p>
            <a:pPr lvl="1"/>
            <a:r>
              <a:rPr lang="en-AU" dirty="0">
                <a:solidFill>
                  <a:srgbClr val="92D050"/>
                </a:solidFill>
                <a:latin typeface="Consolas" panose="020B0609020204030204" pitchFamily="49" charset="0"/>
              </a:rPr>
              <a:t>Demo | Session 03 | C4Prog </a:t>
            </a:r>
            <a:r>
              <a:rPr lang="en-AU" dirty="0" err="1">
                <a:solidFill>
                  <a:srgbClr val="92D050"/>
                </a:solidFill>
                <a:latin typeface="Consolas" panose="020B0609020204030204" pitchFamily="49" charset="0"/>
              </a:rPr>
              <a:t>WebTech</a:t>
            </a:r>
            <a:r>
              <a:rPr lang="en-AU" dirty="0">
                <a:solidFill>
                  <a:srgbClr val="92D050"/>
                </a:solidFill>
                <a:latin typeface="Consolas" panose="020B0609020204030204" pitchFamily="49" charset="0"/>
              </a:rPr>
              <a:t> 24S1</a:t>
            </a:r>
          </a:p>
          <a:p>
            <a:r>
              <a:rPr lang="en-AU" dirty="0">
                <a:solidFill>
                  <a:srgbClr val="00B0F0"/>
                </a:solidFill>
              </a:rPr>
              <a:t>The Session 3 Demo </a:t>
            </a:r>
            <a:r>
              <a:rPr lang="en-AU" dirty="0"/>
              <a:t>will be surrounded by the </a:t>
            </a:r>
            <a:r>
              <a:rPr lang="en-AU" b="1" dirty="0">
                <a:solidFill>
                  <a:srgbClr val="00B0F0"/>
                </a:solidFill>
              </a:rPr>
              <a:t>h1</a:t>
            </a:r>
            <a:r>
              <a:rPr lang="en-AU" dirty="0"/>
              <a:t> element:</a:t>
            </a:r>
          </a:p>
          <a:p>
            <a:pPr lvl="1"/>
            <a:r>
              <a:rPr lang="en-AU" dirty="0">
                <a:solidFill>
                  <a:srgbClr val="92D050"/>
                </a:solidFill>
                <a:latin typeface="Consolas" panose="020B0609020204030204" pitchFamily="49" charset="0"/>
              </a:rPr>
              <a:t>&lt;h1&gt;</a:t>
            </a:r>
            <a:r>
              <a:rPr lang="en-AU" dirty="0"/>
              <a:t> and </a:t>
            </a:r>
            <a:r>
              <a:rPr lang="en-AU" dirty="0">
                <a:solidFill>
                  <a:srgbClr val="92D050"/>
                </a:solidFill>
                <a:latin typeface="Consolas" panose="020B0609020204030204" pitchFamily="49" charset="0"/>
              </a:rPr>
              <a:t>&lt;/h1&gt; </a:t>
            </a:r>
            <a:r>
              <a:rPr lang="en-AU" dirty="0"/>
              <a:t>tags</a:t>
            </a:r>
          </a:p>
          <a:p>
            <a:r>
              <a:rPr lang="en-AU" dirty="0"/>
              <a:t>The next two lines will be paragraphs:</a:t>
            </a:r>
          </a:p>
          <a:p>
            <a:pPr lvl="1"/>
            <a:r>
              <a:rPr lang="en-AU" dirty="0">
                <a:solidFill>
                  <a:srgbClr val="92D050"/>
                </a:solidFill>
                <a:latin typeface="Consolas" panose="020B0609020204030204" pitchFamily="49" charset="0"/>
              </a:rPr>
              <a:t>&lt;p&gt;</a:t>
            </a:r>
            <a:r>
              <a:rPr lang="en-AU" dirty="0"/>
              <a:t> and </a:t>
            </a:r>
            <a:r>
              <a:rPr lang="en-AU" dirty="0">
                <a:solidFill>
                  <a:srgbClr val="92D050"/>
                </a:solidFill>
                <a:latin typeface="Consolas" panose="020B0609020204030204" pitchFamily="49" charset="0"/>
              </a:rPr>
              <a:t>&lt;/p&gt;</a:t>
            </a:r>
            <a:r>
              <a:rPr lang="en-AU" dirty="0"/>
              <a:t> around each line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360E3CA-B449-412F-A3CE-5C2B6045E9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1364" y="2467555"/>
            <a:ext cx="5163271" cy="3067478"/>
          </a:xfrm>
        </p:spPr>
      </p:pic>
    </p:spTree>
    <p:extLst>
      <p:ext uri="{BB962C8B-B14F-4D97-AF65-F5344CB8AC3E}">
        <p14:creationId xmlns:p14="http://schemas.microsoft.com/office/powerpoint/2010/main" val="2665970897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Semantic HTML Demo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156960" cy="4351338"/>
          </a:xfrm>
        </p:spPr>
        <p:txBody>
          <a:bodyPr>
            <a:normAutofit/>
          </a:bodyPr>
          <a:lstStyle/>
          <a:p>
            <a:r>
              <a:rPr lang="en-AU" dirty="0"/>
              <a:t>Press CTRL + S to save the file</a:t>
            </a:r>
          </a:p>
          <a:p>
            <a:r>
              <a:rPr lang="en-AU" dirty="0"/>
              <a:t>Swap to the web browser</a:t>
            </a:r>
          </a:p>
          <a:p>
            <a:r>
              <a:rPr lang="en-AU" dirty="0"/>
              <a:t>You should see the web browser has updated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FF0CDFC-834A-4F3B-ADE6-9C8E4E63DF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29261" y="2624739"/>
            <a:ext cx="3067478" cy="2753109"/>
          </a:xfrm>
        </p:spPr>
      </p:pic>
    </p:spTree>
    <p:extLst>
      <p:ext uri="{BB962C8B-B14F-4D97-AF65-F5344CB8AC3E}">
        <p14:creationId xmlns:p14="http://schemas.microsoft.com/office/powerpoint/2010/main" val="1457558025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HTML Validation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ICT40120 Certificate IV in Information Technology (Programming)</a:t>
            </a:r>
          </a:p>
        </p:txBody>
      </p:sp>
    </p:spTree>
    <p:extLst>
      <p:ext uri="{BB962C8B-B14F-4D97-AF65-F5344CB8AC3E}">
        <p14:creationId xmlns:p14="http://schemas.microsoft.com/office/powerpoint/2010/main" val="161260892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Code Validation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3EED7-1F64-45B9-AC29-35F325D88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important to validate your code</a:t>
            </a:r>
          </a:p>
          <a:p>
            <a:r>
              <a:rPr lang="en-US" dirty="0"/>
              <a:t>We do this in TWO ways</a:t>
            </a:r>
          </a:p>
          <a:p>
            <a:pPr lvl="1"/>
            <a:r>
              <a:rPr lang="en-US" dirty="0"/>
              <a:t>Using WebStorm</a:t>
            </a:r>
          </a:p>
          <a:p>
            <a:pPr lvl="1"/>
            <a:r>
              <a:rPr lang="en-US" dirty="0"/>
              <a:t>Using the HTML Validation Service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2643392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Code Validation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3EED7-1F64-45B9-AC29-35F325D88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HTML Validation Service</a:t>
            </a:r>
          </a:p>
          <a:p>
            <a:r>
              <a:rPr lang="en-US" dirty="0"/>
              <a:t>(Copy and Paste Code)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70346862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Code Validation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3EED7-1F64-45B9-AC29-35F325D88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HTML Validation Service</a:t>
            </a:r>
          </a:p>
          <a:p>
            <a:r>
              <a:rPr lang="en-US" dirty="0"/>
              <a:t>(Upload File)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8634375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Code Validation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3EED7-1F64-45B9-AC29-35F325D88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HTML Validation Service</a:t>
            </a:r>
          </a:p>
          <a:p>
            <a:r>
              <a:rPr lang="en-US" dirty="0"/>
              <a:t>(Point at Web Site + File URI)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38667507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Session 3 Challenge 1 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ICT40120 Certificate IV in Information Technology (Programming)</a:t>
            </a:r>
          </a:p>
        </p:txBody>
      </p:sp>
    </p:spTree>
    <p:extLst>
      <p:ext uri="{BB962C8B-B14F-4D97-AF65-F5344CB8AC3E}">
        <p14:creationId xmlns:p14="http://schemas.microsoft.com/office/powerpoint/2010/main" val="3108724105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8DB32-7180-4ADB-9C31-DA859694CD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 WebStorm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the session-03 folder: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AU" sz="2400" dirty="0">
                <a:solidFill>
                  <a:srgbClr val="FFC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WebTech-24-S1 &gt; </a:t>
            </a:r>
            <a:r>
              <a:rPr lang="en-AU" sz="2400" dirty="0">
                <a:solidFill>
                  <a:srgbClr val="FFC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Session-03</a:t>
            </a:r>
            <a:endParaRPr lang="en-AU" sz="2400" dirty="0">
              <a:solidFill>
                <a:srgbClr val="FFC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Once you have done this, create the folders as shown on the right </a:t>
            </a:r>
            <a:endParaRPr lang="en-AU" sz="2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B7839CF-3EA0-4018-9241-96185D3E73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66560" y="1581847"/>
            <a:ext cx="4587240" cy="3694306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728B437-5043-4268-8121-8864F1B9BDDA}"/>
              </a:ext>
            </a:extLst>
          </p:cNvPr>
          <p:cNvSpPr/>
          <p:nvPr/>
        </p:nvSpPr>
        <p:spPr>
          <a:xfrm>
            <a:off x="7580376" y="4736592"/>
            <a:ext cx="2130552" cy="502920"/>
          </a:xfrm>
          <a:prstGeom prst="rect">
            <a:avLst/>
          </a:prstGeom>
          <a:solidFill>
            <a:srgbClr val="3C3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2389555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Session 3 Challenge 2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ICT40120 Certificate IV in Information Technology (Programming)</a:t>
            </a:r>
          </a:p>
        </p:txBody>
      </p:sp>
    </p:spTree>
    <p:extLst>
      <p:ext uri="{BB962C8B-B14F-4D97-AF65-F5344CB8AC3E}">
        <p14:creationId xmlns:p14="http://schemas.microsoft.com/office/powerpoint/2010/main" val="2048660376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2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8DB32-7180-4ADB-9C31-DA859694C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Root of the session-03 folder,</a:t>
            </a:r>
            <a:br>
              <a:rPr lang="en-US" dirty="0"/>
            </a:br>
            <a:r>
              <a:rPr lang="en-US" dirty="0"/>
              <a:t>create a new web page.</a:t>
            </a:r>
          </a:p>
          <a:p>
            <a:r>
              <a:rPr lang="en-US" dirty="0"/>
              <a:t>Call the file:</a:t>
            </a:r>
          </a:p>
          <a:p>
            <a:pPr lvl="1"/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index.html</a:t>
            </a:r>
            <a:endParaRPr lang="en-AU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202011"/>
      </p:ext>
    </p:extLst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Session 3 Challenge 3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ICT40120 Certificate IV in Information Technology (Programming)</a:t>
            </a:r>
          </a:p>
        </p:txBody>
      </p:sp>
    </p:spTree>
    <p:extLst>
      <p:ext uri="{BB962C8B-B14F-4D97-AF65-F5344CB8AC3E}">
        <p14:creationId xmlns:p14="http://schemas.microsoft.com/office/powerpoint/2010/main" val="1887494246"/>
      </p:ext>
    </p:extLst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3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8DB32-7180-4ADB-9C31-DA859694C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Open the new index.html page</a:t>
            </a:r>
          </a:p>
          <a:p>
            <a:r>
              <a:rPr lang="en-US" dirty="0"/>
              <a:t>Delete the content 😲</a:t>
            </a:r>
          </a:p>
          <a:p>
            <a:r>
              <a:rPr lang="en-US" dirty="0"/>
              <a:t>Now type in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html:5</a:t>
            </a:r>
          </a:p>
          <a:p>
            <a:r>
              <a:rPr lang="en-US" dirty="0"/>
              <a:t>Press the </a:t>
            </a:r>
            <a:r>
              <a:rPr lang="en-US" dirty="0">
                <a:solidFill>
                  <a:srgbClr val="92D050"/>
                </a:solidFill>
                <a:latin typeface="Consolas"/>
              </a:rPr>
              <a:t>TAB</a:t>
            </a:r>
            <a:r>
              <a:rPr lang="en-US" dirty="0"/>
              <a:t> key immediately after the </a:t>
            </a:r>
            <a:r>
              <a:rPr lang="en-US" dirty="0">
                <a:solidFill>
                  <a:srgbClr val="FFC000"/>
                </a:solidFill>
                <a:latin typeface="Consolas"/>
              </a:rPr>
              <a:t>5</a:t>
            </a:r>
            <a:endParaRPr lang="en-AU" dirty="0">
              <a:solidFill>
                <a:srgbClr val="F2F2F2"/>
              </a:solidFill>
              <a:latin typeface="Calibri" panose="020F0502020204030204"/>
              <a:cs typeface="Calibri" panose="020F0502020204030204"/>
            </a:endParaRPr>
          </a:p>
          <a:p>
            <a:endParaRPr lang="en-US" dirty="0">
              <a:solidFill>
                <a:srgbClr val="F2F2F2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2F2F2"/>
                </a:solidFill>
                <a:latin typeface="Calibri"/>
                <a:cs typeface="Calibri"/>
              </a:rPr>
              <a:t>You</a:t>
            </a:r>
            <a:r>
              <a:rPr lang="en-US" dirty="0"/>
              <a:t> have created a new HTML 5 file with all the bits you need for the next challenge...</a:t>
            </a:r>
            <a:endParaRPr lang="en-AU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79141093"/>
      </p:ext>
    </p:extLst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Session 3 Challenge 4 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ICT40120 Certificate IV in Information Technology (Programming)</a:t>
            </a:r>
          </a:p>
        </p:txBody>
      </p:sp>
    </p:spTree>
    <p:extLst>
      <p:ext uri="{BB962C8B-B14F-4D97-AF65-F5344CB8AC3E}">
        <p14:creationId xmlns:p14="http://schemas.microsoft.com/office/powerpoint/2010/main" val="1975587721"/>
      </p:ext>
    </p:extLst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4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8DB32-7180-4ADB-9C31-DA859694C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Change the title to be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Session 3 Challenge</a:t>
            </a:r>
          </a:p>
          <a:p>
            <a:r>
              <a:rPr lang="en-US" dirty="0"/>
              <a:t>In the body add the following entities in the correct order: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footer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header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main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nav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978419"/>
      </p:ext>
    </p:extLst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Session 3 Challenge 5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ICT40120 Certificate IV in Information Technology (Programming)</a:t>
            </a:r>
          </a:p>
        </p:txBody>
      </p:sp>
    </p:spTree>
    <p:extLst>
      <p:ext uri="{BB962C8B-B14F-4D97-AF65-F5344CB8AC3E}">
        <p14:creationId xmlns:p14="http://schemas.microsoft.com/office/powerpoint/2010/main" val="3987835077"/>
      </p:ext>
    </p:extLst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5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8DB32-7180-4ADB-9C31-DA859694C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Add the following to the structural elements:</a:t>
            </a:r>
          </a:p>
          <a:p>
            <a:r>
              <a:rPr lang="en-US" dirty="0"/>
              <a:t>In the header add a heading level 1 with the text:</a:t>
            </a:r>
            <a:r>
              <a:rPr lang="en-US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Session 3 Challenge!</a:t>
            </a:r>
            <a:endParaRPr lang="en-US" dirty="0">
              <a:cs typeface="Calibri" panose="020F0502020204030204"/>
            </a:endParaRPr>
          </a:p>
          <a:p>
            <a:r>
              <a:rPr lang="en-US" dirty="0"/>
              <a:t>In the navigation area add the text: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This is the Site Navigation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663693"/>
      </p:ext>
    </p:extLst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Session 3 Challenge 6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ICT40120 Certificate IV in Information Technology (Programming)</a:t>
            </a:r>
          </a:p>
        </p:txBody>
      </p:sp>
    </p:spTree>
    <p:extLst>
      <p:ext uri="{BB962C8B-B14F-4D97-AF65-F5344CB8AC3E}">
        <p14:creationId xmlns:p14="http://schemas.microsoft.com/office/powerpoint/2010/main" val="2438342356"/>
      </p:ext>
    </p:extLst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6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8DB32-7180-4ADB-9C31-DA859694C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 the main add a paragraph with the text: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This is the Page’s Main Content.</a:t>
            </a:r>
          </a:p>
          <a:p>
            <a:pPr lvl="1"/>
            <a:endParaRPr lang="en-US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dirty="0"/>
              <a:t>In the footer add a paragraph with the text:</a:t>
            </a:r>
          </a:p>
          <a:p>
            <a:pPr lvl="2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FFC000"/>
                </a:solidFill>
                <a:latin typeface="Consolas"/>
              </a:rPr>
              <a:t> This is the Site Footer.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626739"/>
      </p:ext>
    </p:extLst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Session 3 Challenge 7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ICT40120 Certificate IV in Information Technology (Programming)</a:t>
            </a:r>
          </a:p>
        </p:txBody>
      </p:sp>
    </p:spTree>
    <p:extLst>
      <p:ext uri="{BB962C8B-B14F-4D97-AF65-F5344CB8AC3E}">
        <p14:creationId xmlns:p14="http://schemas.microsoft.com/office/powerpoint/2010/main" val="106460691"/>
      </p:ext>
    </p:extLst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7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8DB32-7180-4ADB-9C31-DA859694C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Open the web page in at least </a:t>
            </a:r>
            <a:r>
              <a:rPr lang="en-US" b="1" dirty="0"/>
              <a:t>TWO</a:t>
            </a:r>
            <a:r>
              <a:rPr lang="en-US" dirty="0"/>
              <a:t> browsers:</a:t>
            </a:r>
          </a:p>
          <a:p>
            <a:r>
              <a:rPr lang="en-US" dirty="0"/>
              <a:t>For example, a combination of:</a:t>
            </a:r>
          </a:p>
          <a:p>
            <a:pPr lvl="1"/>
            <a:r>
              <a:rPr lang="en-US" dirty="0"/>
              <a:t>Firefox and Chrome</a:t>
            </a:r>
          </a:p>
          <a:p>
            <a:pPr lvl="1"/>
            <a:r>
              <a:rPr lang="en-US" dirty="0"/>
              <a:t>Opera and Edge</a:t>
            </a:r>
          </a:p>
          <a:p>
            <a:pPr lvl="1"/>
            <a:r>
              <a:rPr lang="en-US" dirty="0"/>
              <a:t>Edge and Firefox</a:t>
            </a:r>
          </a:p>
          <a:p>
            <a:pPr lvl="1"/>
            <a:endParaRPr lang="en-US" dirty="0"/>
          </a:p>
          <a:p>
            <a:r>
              <a:rPr lang="en-US" dirty="0"/>
              <a:t>Compare with the images on the following slide…</a:t>
            </a:r>
          </a:p>
        </p:txBody>
      </p:sp>
    </p:spTree>
    <p:extLst>
      <p:ext uri="{BB962C8B-B14F-4D97-AF65-F5344CB8AC3E}">
        <p14:creationId xmlns:p14="http://schemas.microsoft.com/office/powerpoint/2010/main" val="3438788381"/>
      </p:ext>
    </p:extLst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7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3EED7-1F64-45B9-AC29-35F325D88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Chrome</a:t>
            </a:r>
            <a:endParaRPr lang="en-AU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9382903-E073-473E-B571-6AB3A5052B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735561"/>
            <a:ext cx="5157787" cy="3223616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22D33C-B6EE-45E9-9759-A695BCD9B5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Firefox</a:t>
            </a:r>
            <a:endParaRPr lang="en-AU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108F43D-63C7-4AE1-B70A-5BC3A148FEC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632" y="2727893"/>
            <a:ext cx="5182323" cy="3238952"/>
          </a:xfrm>
        </p:spPr>
      </p:pic>
    </p:spTree>
    <p:extLst>
      <p:ext uri="{BB962C8B-B14F-4D97-AF65-F5344CB8AC3E}">
        <p14:creationId xmlns:p14="http://schemas.microsoft.com/office/powerpoint/2010/main" val="2895005"/>
      </p:ext>
    </p:extLst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7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3EED7-1F64-45B9-AC29-35F325D88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</a:t>
            </a:r>
            <a:endParaRPr lang="en-AU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9F4D6B0-C3B8-4372-AB3F-9AF17408A1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735561"/>
            <a:ext cx="5157787" cy="3223616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22D33C-B6EE-45E9-9759-A695BCD9B5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Opera</a:t>
            </a:r>
            <a:endParaRPr lang="en-AU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2661FD4-5D0B-48ED-8DD8-EDF98D905FF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632" y="2727893"/>
            <a:ext cx="5182323" cy="3238952"/>
          </a:xfrm>
        </p:spPr>
      </p:pic>
    </p:spTree>
    <p:extLst>
      <p:ext uri="{BB962C8B-B14F-4D97-AF65-F5344CB8AC3E}">
        <p14:creationId xmlns:p14="http://schemas.microsoft.com/office/powerpoint/2010/main" val="3283394455"/>
      </p:ext>
    </p:extLst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Session 3 Challenge 8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ICT40120 Certificate IV in Information Technology (Programming)</a:t>
            </a:r>
          </a:p>
        </p:txBody>
      </p:sp>
    </p:spTree>
    <p:extLst>
      <p:ext uri="{BB962C8B-B14F-4D97-AF65-F5344CB8AC3E}">
        <p14:creationId xmlns:p14="http://schemas.microsoft.com/office/powerpoint/2010/main" val="1809823329"/>
      </p:ext>
    </p:extLst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8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3EED7-1F64-45B9-AC29-35F325D88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03924" cy="4351338"/>
          </a:xfrm>
        </p:spPr>
        <p:txBody>
          <a:bodyPr/>
          <a:lstStyle/>
          <a:p>
            <a:r>
              <a:rPr lang="en-US" dirty="0"/>
              <a:t>Use the W3C HTML Validation tool to make sure that the HTML is correct.</a:t>
            </a:r>
          </a:p>
          <a:p>
            <a:endParaRPr lang="en-US" dirty="0"/>
          </a:p>
          <a:p>
            <a:r>
              <a:rPr lang="en-US" dirty="0"/>
              <a:t>What problems did it indicate?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71633487"/>
      </p:ext>
    </p:extLst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HTML Attributes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62642503"/>
      </p:ext>
    </p:extLst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data-*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8DB32-7180-4ADB-9C31-DA859694CD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478855" cy="4351338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2800" dirty="0"/>
              <a:t>custom data attributes that store extra information on elements.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2800" dirty="0"/>
              <a:t>accessed via JavaScript &amp; prefixed with ‘data-.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2800" dirty="0"/>
              <a:t>useful for storing data specific to the page or application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EB4D605-0225-A7C3-7D1E-8A1A7BAE8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9569" y="2748402"/>
            <a:ext cx="5036745" cy="136119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nn-NO" sz="2000" b="0" dirty="0">
              <a:solidFill>
                <a:srgbClr val="808080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sz="2000" b="0" dirty="0">
                <a:solidFill>
                  <a:srgbClr val="80808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&lt;</a:t>
            </a:r>
            <a:r>
              <a:rPr lang="nn-NO" sz="2000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div</a:t>
            </a:r>
            <a:r>
              <a:rPr lang="nn-NO" sz="20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nn-NO" sz="20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data-user-id</a:t>
            </a:r>
            <a:r>
              <a:rPr lang="nn-NO" sz="20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nn-NO" sz="2000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"12345"</a:t>
            </a:r>
            <a:r>
              <a:rPr lang="nn-NO" sz="20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nn-NO" sz="20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data-role</a:t>
            </a:r>
            <a:r>
              <a:rPr lang="nn-NO" sz="20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nn-NO" sz="2000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"admin"</a:t>
            </a:r>
            <a:r>
              <a:rPr lang="nn-NO" sz="2000" b="0" dirty="0">
                <a:solidFill>
                  <a:srgbClr val="80808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nn-NO" sz="20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	User Info</a:t>
            </a:r>
          </a:p>
          <a:p>
            <a:pPr marL="0" indent="0">
              <a:buNone/>
            </a:pPr>
            <a:r>
              <a:rPr lang="nn-NO" sz="2000" b="0" dirty="0">
                <a:solidFill>
                  <a:srgbClr val="80808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&lt;/</a:t>
            </a:r>
            <a:r>
              <a:rPr lang="nn-NO" sz="2000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div</a:t>
            </a:r>
            <a:r>
              <a:rPr lang="nn-NO" sz="2000" b="0" dirty="0">
                <a:solidFill>
                  <a:srgbClr val="80808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&gt;</a:t>
            </a:r>
            <a:endParaRPr lang="nn-NO" sz="2000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94734634"/>
      </p:ext>
    </p:extLst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contenteditable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EB4D605-0225-A7C3-7D1E-8A1A7BAE8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7055" y="2748402"/>
            <a:ext cx="5181600" cy="13611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nn-NO" sz="2000" dirty="0">
              <a:solidFill>
                <a:srgbClr val="808080"/>
              </a:solidFill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AU" sz="2000" b="0" dirty="0">
                <a:solidFill>
                  <a:srgbClr val="80808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&lt;</a:t>
            </a:r>
            <a:r>
              <a:rPr lang="en-AU" sz="2000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</a:t>
            </a:r>
            <a:r>
              <a:rPr lang="en-AU" sz="20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AU" sz="2000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contenteditable</a:t>
            </a:r>
            <a:r>
              <a:rPr lang="en-AU" sz="20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AU" sz="2000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"true"</a:t>
            </a:r>
            <a:r>
              <a:rPr lang="en-AU" sz="2000" b="0" dirty="0">
                <a:solidFill>
                  <a:srgbClr val="80808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&gt;</a:t>
            </a:r>
            <a:r>
              <a:rPr lang="en-AU" sz="20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This text can be edited by the user.</a:t>
            </a:r>
            <a:r>
              <a:rPr lang="en-AU" sz="2000" b="0" dirty="0">
                <a:solidFill>
                  <a:srgbClr val="80808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&lt;/</a:t>
            </a:r>
            <a:r>
              <a:rPr lang="en-AU" sz="2000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</a:t>
            </a:r>
            <a:r>
              <a:rPr lang="en-AU" sz="2000" b="0" dirty="0">
                <a:solidFill>
                  <a:srgbClr val="80808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&gt;</a:t>
            </a:r>
            <a:endParaRPr lang="en-AU" sz="2000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endParaRPr lang="en-AU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7E67127-F44E-21B8-6CCB-5DDD533A5D9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38200" y="2179935"/>
            <a:ext cx="5257800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akes an element editable by the user.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ccepts 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boolean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value 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true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false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seful for creating in-browser editors. </a:t>
            </a:r>
          </a:p>
        </p:txBody>
      </p:sp>
    </p:spTree>
    <p:extLst>
      <p:ext uri="{BB962C8B-B14F-4D97-AF65-F5344CB8AC3E}">
        <p14:creationId xmlns:p14="http://schemas.microsoft.com/office/powerpoint/2010/main" val="584401951"/>
      </p:ext>
    </p:extLst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rel</a:t>
            </a:r>
            <a:r>
              <a:rPr lang="en-AU" dirty="0"/>
              <a:t>-*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EB4D605-0225-A7C3-7D1E-8A1A7BAE8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0242" y="4283923"/>
            <a:ext cx="9227746" cy="1361195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nn-NO" sz="2000" dirty="0">
              <a:solidFill>
                <a:srgbClr val="808080"/>
              </a:solidFill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AU" b="0" dirty="0">
                <a:solidFill>
                  <a:srgbClr val="80808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&lt;</a:t>
            </a:r>
            <a:r>
              <a:rPr lang="en-AU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a</a:t>
            </a:r>
            <a:r>
              <a:rPr lang="en-AU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AU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href</a:t>
            </a:r>
            <a:r>
              <a:rPr lang="en-AU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"https://www.example.com"</a:t>
            </a:r>
            <a:r>
              <a:rPr lang="en-AU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AU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rel</a:t>
            </a:r>
            <a:r>
              <a:rPr lang="en-AU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</a:t>
            </a:r>
            <a:r>
              <a:rPr lang="en-AU" b="0" dirty="0" err="1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noopener</a:t>
            </a:r>
            <a:r>
              <a:rPr lang="en-AU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AU" b="0" dirty="0" err="1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noreferrer</a:t>
            </a:r>
            <a:r>
              <a:rPr lang="en-AU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</a:t>
            </a:r>
            <a:r>
              <a:rPr lang="en-AU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target</a:t>
            </a:r>
            <a:r>
              <a:rPr lang="en-AU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AU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"_blank"</a:t>
            </a:r>
            <a:r>
              <a:rPr lang="en-AU" b="0" dirty="0">
                <a:solidFill>
                  <a:srgbClr val="80808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AU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	Visit Example</a:t>
            </a:r>
          </a:p>
          <a:p>
            <a:pPr marL="0" indent="0">
              <a:buNone/>
            </a:pPr>
            <a:r>
              <a:rPr lang="en-AU" b="0" dirty="0">
                <a:solidFill>
                  <a:srgbClr val="80808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&lt;/</a:t>
            </a:r>
            <a:r>
              <a:rPr lang="en-AU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a</a:t>
            </a:r>
            <a:r>
              <a:rPr lang="en-AU" b="0" dirty="0">
                <a:solidFill>
                  <a:srgbClr val="80808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&gt;</a:t>
            </a:r>
            <a:br>
              <a:rPr lang="en-AU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</a:br>
            <a:endParaRPr lang="en-AU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7E67127-F44E-21B8-6CCB-5DDD533A5D9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38200" y="2294808"/>
            <a:ext cx="912966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pecifies the relationship between </a:t>
            </a:r>
            <a:r>
              <a:rPr kumimoji="0" lang="en-AU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douments</a:t>
            </a:r>
            <a:endParaRPr kumimoji="0" lang="en-AU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</a:t>
            </a: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stylesheet</a:t>
            </a: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AU" altLang="en-US" sz="28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nofollow</a:t>
            </a: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AU" altLang="en-US" sz="28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noopener</a:t>
            </a: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AU" altLang="en-US" sz="2800" b="0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noopener</a:t>
            </a: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AU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impacts SEO and browser behaviour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223075"/>
      </p:ext>
    </p:extLst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946E-330C-4309-9D02-A9EE237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srcset</a:t>
            </a:r>
            <a:r>
              <a:rPr lang="en-AU" dirty="0"/>
              <a:t> &amp; sizes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EB4D605-0225-A7C3-7D1E-8A1A7BAE8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0242" y="4563842"/>
            <a:ext cx="9227746" cy="136119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nn-NO" sz="2000" dirty="0">
              <a:solidFill>
                <a:srgbClr val="808080"/>
              </a:solidFill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AU" sz="7200" b="0" dirty="0">
                <a:solidFill>
                  <a:srgbClr val="80808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&lt;</a:t>
            </a:r>
            <a:r>
              <a:rPr lang="en-AU" sz="7200" b="0" dirty="0" err="1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img</a:t>
            </a:r>
            <a:r>
              <a:rPr lang="en-AU" sz="72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AU" sz="7200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src</a:t>
            </a:r>
            <a:r>
              <a:rPr lang="en-AU" sz="72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AU" sz="7200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"small.jpg"</a:t>
            </a:r>
            <a:r>
              <a:rPr lang="en-AU" sz="72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AU" sz="72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</a:t>
            </a:r>
            <a:r>
              <a:rPr lang="en-AU" sz="7200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srcset</a:t>
            </a:r>
            <a:r>
              <a:rPr lang="en-AU" sz="72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AU" sz="7200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"small.jpg 300w, medium.jpg 600w, large.jpg 1200w"</a:t>
            </a:r>
            <a:r>
              <a:rPr lang="en-AU" sz="72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AU" sz="72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</a:t>
            </a:r>
            <a:r>
              <a:rPr lang="en-AU" sz="72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sizes</a:t>
            </a:r>
            <a:r>
              <a:rPr lang="en-AU" sz="72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AU" sz="7200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"(max-width: 600px) 300px, (max-width: 1200px) 600px, 1200px"</a:t>
            </a:r>
            <a:r>
              <a:rPr lang="en-AU" sz="72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AU" sz="72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</a:t>
            </a:r>
            <a:r>
              <a:rPr lang="en-AU" sz="72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alt</a:t>
            </a:r>
            <a:r>
              <a:rPr lang="en-AU" sz="72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=</a:t>
            </a:r>
            <a:r>
              <a:rPr lang="en-AU" sz="7200" b="0" dirty="0">
                <a:solidFill>
                  <a:srgbClr val="CE9178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"Responsive image example"</a:t>
            </a:r>
            <a:r>
              <a:rPr lang="en-AU" sz="7200" b="0" dirty="0">
                <a:solidFill>
                  <a:srgbClr val="80808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&gt;</a:t>
            </a:r>
            <a:endParaRPr lang="en-AU" sz="7200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AU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</a:br>
            <a:endParaRPr lang="en-AU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D96DC78-53BB-81CB-D573-7017012E0FD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38200" y="1941236"/>
            <a:ext cx="10825065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sed for responsive images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images are served based on screen size &amp; resolution.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1" u="none" strike="noStrike" cap="none" normalizeH="0" baseline="0" dirty="0" err="1">
                <a:ln>
                  <a:noFill/>
                </a:ln>
                <a:solidFill>
                  <a:schemeClr val="accent3"/>
                </a:solidFill>
                <a:effectLst/>
                <a:latin typeface="Arial Unicode MS" panose="020B0604020202020204" pitchFamily="34" charset="-128"/>
              </a:rPr>
              <a:t>srcset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defines the set of images, while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 Unicode MS" panose="020B0604020202020204" pitchFamily="34" charset="-128"/>
              </a:rPr>
              <a:t>sizes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defines the intended display size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3076367"/>
      </p:ext>
    </p:extLst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Accessibility on the Web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3318489"/>
      </p:ext>
    </p:extLst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/>
          <a:lstStyle/>
          <a:p>
            <a:r>
              <a:rPr lang="en-US" dirty="0"/>
              <a:t>Case in data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6132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AU" dirty="0">
                <a:ea typeface="Calibri"/>
                <a:cs typeface="Calibri"/>
              </a:rPr>
              <a:t>15% of world's population live with some form of disability</a:t>
            </a:r>
          </a:p>
          <a:p>
            <a:r>
              <a:rPr lang="en-AU" dirty="0">
                <a:ea typeface="Calibri"/>
                <a:cs typeface="Calibri"/>
              </a:rPr>
              <a:t>28% have a visual impairment</a:t>
            </a:r>
            <a:endParaRPr lang="en-AU" dirty="0" err="1"/>
          </a:p>
          <a:p>
            <a:r>
              <a:rPr lang="en-AU" dirty="0">
                <a:ea typeface="+mn-lt"/>
                <a:cs typeface="+mn-lt"/>
              </a:rPr>
              <a:t>15% have a</a:t>
            </a:r>
            <a:r>
              <a:rPr lang="en-AU" dirty="0">
                <a:solidFill>
                  <a:srgbClr val="F2F2F2"/>
                </a:solidFill>
                <a:ea typeface="+mn-lt"/>
                <a:cs typeface="+mn-lt"/>
              </a:rPr>
              <a:t> physical</a:t>
            </a:r>
            <a:r>
              <a:rPr lang="en-AU" dirty="0">
                <a:ea typeface="+mn-lt"/>
                <a:cs typeface="+mn-lt"/>
              </a:rPr>
              <a:t> </a:t>
            </a:r>
            <a:r>
              <a:rPr lang="en-AU" dirty="0">
                <a:solidFill>
                  <a:srgbClr val="F2F2F2"/>
                </a:solidFill>
                <a:ea typeface="+mn-lt"/>
                <a:cs typeface="+mn-lt"/>
              </a:rPr>
              <a:t>impairment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9975285"/>
      </p:ext>
    </p:extLst>
  </p:cSld>
  <p:clrMapOvr>
    <a:masterClrMapping/>
  </p:clrMapOvr>
  <p:transition spd="slow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Standards &amp; Obligations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1020817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AU" dirty="0">
                <a:solidFill>
                  <a:srgbClr val="F2F2F2"/>
                </a:solidFill>
                <a:ea typeface="+mn-lt"/>
                <a:cs typeface="+mn-lt"/>
              </a:rPr>
              <a:t>in Australia we consider the Disability </a:t>
            </a:r>
            <a:r>
              <a:rPr lang="en-AU" i="1" dirty="0">
                <a:solidFill>
                  <a:srgbClr val="FFC000"/>
                </a:solidFill>
                <a:ea typeface="+mn-lt"/>
                <a:cs typeface="+mn-lt"/>
              </a:rPr>
              <a:t>Discrimination Act 1992</a:t>
            </a:r>
            <a:r>
              <a:rPr lang="en-AU" dirty="0">
                <a:solidFill>
                  <a:srgbClr val="F2F2F2"/>
                </a:solidFill>
                <a:ea typeface="+mn-lt"/>
                <a:cs typeface="+mn-lt"/>
              </a:rPr>
              <a:t> (DDA)</a:t>
            </a:r>
            <a:endParaRPr lang="en-US" dirty="0"/>
          </a:p>
          <a:p>
            <a:r>
              <a:rPr lang="en-AU" dirty="0">
                <a:solidFill>
                  <a:srgbClr val="F2F2F2"/>
                </a:solidFill>
                <a:ea typeface="+mn-lt"/>
                <a:cs typeface="+mn-lt"/>
              </a:rPr>
              <a:t>the </a:t>
            </a:r>
            <a:r>
              <a:rPr lang="en-AU" i="1" dirty="0">
                <a:solidFill>
                  <a:srgbClr val="FFC000"/>
                </a:solidFill>
                <a:ea typeface="+mn-lt"/>
                <a:cs typeface="+mn-lt"/>
              </a:rPr>
              <a:t>Australian Human Rights Commission</a:t>
            </a:r>
            <a:r>
              <a:rPr lang="en-AU" dirty="0">
                <a:solidFill>
                  <a:srgbClr val="F2F2F2"/>
                </a:solidFill>
                <a:ea typeface="+mn-lt"/>
                <a:cs typeface="+mn-lt"/>
              </a:rPr>
              <a:t> (AHRC) creates out national standards</a:t>
            </a:r>
          </a:p>
          <a:p>
            <a:r>
              <a:rPr lang="en-AU" dirty="0">
                <a:solidFill>
                  <a:srgbClr val="F2F2F2"/>
                </a:solidFill>
                <a:ea typeface="+mn-lt"/>
                <a:cs typeface="+mn-lt"/>
              </a:rPr>
              <a:t>these are known as </a:t>
            </a:r>
            <a:r>
              <a:rPr lang="en-AU" i="1" dirty="0">
                <a:solidFill>
                  <a:srgbClr val="FFC000"/>
                </a:solidFill>
                <a:ea typeface="+mn-lt"/>
                <a:cs typeface="+mn-lt"/>
              </a:rPr>
              <a:t>Web Content Accessibility Guidelines</a:t>
            </a:r>
            <a:r>
              <a:rPr lang="en-AU" dirty="0">
                <a:solidFill>
                  <a:srgbClr val="F2F2F2"/>
                </a:solidFill>
                <a:ea typeface="+mn-lt"/>
                <a:cs typeface="+mn-lt"/>
              </a:rPr>
              <a:t> (WCAG).</a:t>
            </a:r>
            <a:endParaRPr lang="en-AU" dirty="0">
              <a:ea typeface="Calibri"/>
              <a:cs typeface="Calibri"/>
            </a:endParaRPr>
          </a:p>
          <a:p>
            <a:endParaRPr lang="en-AU" dirty="0">
              <a:solidFill>
                <a:srgbClr val="F2F2F2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05467354"/>
      </p:ext>
    </p:extLst>
  </p:cSld>
  <p:clrMapOvr>
    <a:masterClrMapping/>
  </p:clrMapOvr>
  <p:transition spd="slow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Planning your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2919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AU" sz="3600" b="1" i="1" dirty="0">
                <a:solidFill>
                  <a:schemeClr val="accent3"/>
                </a:solidFill>
                <a:ea typeface="+mn-lt"/>
                <a:cs typeface="+mn-lt"/>
              </a:rPr>
              <a:t>Visual</a:t>
            </a:r>
            <a:r>
              <a:rPr lang="en-AU" sz="3600" dirty="0">
                <a:solidFill>
                  <a:srgbClr val="F2F2F2"/>
                </a:solidFill>
                <a:ea typeface="+mn-lt"/>
                <a:cs typeface="+mn-lt"/>
              </a:rPr>
              <a:t> - blindness, low vision, and colour blindness, affecting how users perceive visual content.</a:t>
            </a:r>
            <a:endParaRPr lang="en-US" sz="3600" dirty="0">
              <a:solidFill>
                <a:srgbClr val="F2F2F2"/>
              </a:solidFill>
              <a:ea typeface="+mn-lt"/>
              <a:cs typeface="+mn-lt"/>
            </a:endParaRPr>
          </a:p>
          <a:p>
            <a:r>
              <a:rPr lang="en-AU" sz="3600" b="1" i="1" dirty="0">
                <a:solidFill>
                  <a:schemeClr val="accent3"/>
                </a:solidFill>
                <a:ea typeface="+mn-lt"/>
                <a:cs typeface="+mn-lt"/>
              </a:rPr>
              <a:t>Auditory </a:t>
            </a:r>
            <a:r>
              <a:rPr lang="en-AU" sz="3600" dirty="0">
                <a:solidFill>
                  <a:srgbClr val="F2F2F2"/>
                </a:solidFill>
                <a:ea typeface="+mn-lt"/>
                <a:cs typeface="+mn-lt"/>
              </a:rPr>
              <a:t>- such as deafness and hearing loss, require alternatives to audio content like captions &amp; transcripts.</a:t>
            </a:r>
            <a:endParaRPr lang="en-AU" sz="3600" dirty="0">
              <a:ea typeface="Calibri"/>
              <a:cs typeface="Calibri"/>
            </a:endParaRPr>
          </a:p>
          <a:p>
            <a:r>
              <a:rPr lang="en-AU" sz="3600" b="1" i="1" dirty="0">
                <a:solidFill>
                  <a:schemeClr val="accent3"/>
                </a:solidFill>
                <a:ea typeface="+mn-lt"/>
                <a:cs typeface="+mn-lt"/>
              </a:rPr>
              <a:t>Motor</a:t>
            </a:r>
            <a:r>
              <a:rPr lang="en-AU" sz="3600" dirty="0">
                <a:solidFill>
                  <a:srgbClr val="F2F2F2"/>
                </a:solidFill>
                <a:ea typeface="+mn-lt"/>
                <a:cs typeface="+mn-lt"/>
              </a:rPr>
              <a:t> - dexterity &amp; coordination, requiring accessible navigation and input methods.</a:t>
            </a:r>
            <a:endParaRPr lang="en-AU" sz="3600" dirty="0"/>
          </a:p>
          <a:p>
            <a:pPr marL="0" indent="0">
              <a:buNone/>
            </a:pPr>
            <a:endParaRPr lang="en-AU" dirty="0">
              <a:ea typeface="Calibri"/>
              <a:cs typeface="Calibri"/>
            </a:endParaRPr>
          </a:p>
          <a:p>
            <a:endParaRPr lang="en-AU" dirty="0">
              <a:solidFill>
                <a:srgbClr val="F2F2F2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90189661"/>
      </p:ext>
    </p:extLst>
  </p:cSld>
  <p:clrMapOvr>
    <a:masterClrMapping/>
  </p:clrMapOvr>
  <p:transition spd="slow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52" y="739355"/>
            <a:ext cx="10515600" cy="921254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Accessibility &amp; Project iterations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421" y="1910848"/>
            <a:ext cx="4929351" cy="341889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AU" sz="2800" dirty="0">
                <a:solidFill>
                  <a:srgbClr val="F2F2F2"/>
                </a:solidFill>
                <a:ea typeface="+mn-lt"/>
                <a:cs typeface="+mn-lt"/>
              </a:rPr>
              <a:t>regular accessibility audits to identify and fix accessibility issues.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  <a:p>
            <a:r>
              <a:rPr lang="en-AU" sz="2800" dirty="0">
                <a:solidFill>
                  <a:srgbClr val="F2F2F2"/>
                </a:solidFill>
                <a:ea typeface="+mn-lt"/>
                <a:cs typeface="+mn-lt"/>
              </a:rPr>
              <a:t>involve users with disabilities in usability testing </a:t>
            </a:r>
            <a:endParaRPr lang="en-AU" sz="2800" dirty="0">
              <a:ea typeface="Calibri"/>
              <a:cs typeface="Calibri"/>
            </a:endParaRPr>
          </a:p>
          <a:p>
            <a:r>
              <a:rPr lang="en-AU" sz="2800" dirty="0">
                <a:solidFill>
                  <a:srgbClr val="F2F2F2"/>
                </a:solidFill>
                <a:ea typeface="+mn-lt"/>
                <a:cs typeface="+mn-lt"/>
              </a:rPr>
              <a:t>test &amp; maintain accessibility on</a:t>
            </a:r>
            <a:r>
              <a:rPr lang="en-AU" sz="2800" dirty="0">
                <a:solidFill>
                  <a:srgbClr val="F2F2F2"/>
                </a:solidFill>
                <a:latin typeface="Calibri"/>
                <a:ea typeface="+mn-lt"/>
                <a:cs typeface="+mn-lt"/>
              </a:rPr>
              <a:t> an ongoing basis</a:t>
            </a:r>
            <a:endParaRPr lang="en-AU" sz="2800" dirty="0">
              <a:ea typeface="Calibri"/>
              <a:cs typeface="Calibri"/>
            </a:endParaRPr>
          </a:p>
          <a:p>
            <a:r>
              <a:rPr lang="en-AU" sz="2800" dirty="0">
                <a:ea typeface="Calibri"/>
                <a:cs typeface="Calibri"/>
              </a:rPr>
              <a:t>prioritise in your decision making</a:t>
            </a:r>
          </a:p>
          <a:p>
            <a:endParaRPr lang="en-AU" dirty="0">
              <a:ea typeface="Calibri"/>
              <a:cs typeface="Calibri"/>
            </a:endParaRPr>
          </a:p>
        </p:txBody>
      </p:sp>
      <p:pic>
        <p:nvPicPr>
          <p:cNvPr id="4" name="Picture 3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E99906F4-0ED8-FAEE-5889-D146FA656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24413"/>
            <a:ext cx="5441757" cy="285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988420"/>
      </p:ext>
    </p:extLst>
  </p:cSld>
  <p:clrMapOvr>
    <a:masterClrMapping/>
  </p:clrMapOvr>
  <p:transition spd="slow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93" y="659558"/>
            <a:ext cx="10515600" cy="921254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Building a toolset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8245" y="1858297"/>
            <a:ext cx="8615509" cy="341889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AU" sz="3200" b="1" i="1" dirty="0">
                <a:solidFill>
                  <a:schemeClr val="accent3"/>
                </a:solidFill>
                <a:ea typeface="+mn-lt"/>
                <a:cs typeface="+mn-lt"/>
              </a:rPr>
              <a:t>Screen readers</a:t>
            </a:r>
            <a:r>
              <a:rPr lang="en-AU" sz="3200" dirty="0">
                <a:solidFill>
                  <a:srgbClr val="F2F2F2"/>
                </a:solidFill>
                <a:ea typeface="+mn-lt"/>
                <a:cs typeface="+mn-lt"/>
              </a:rPr>
              <a:t> - NVDA &amp; </a:t>
            </a:r>
            <a:r>
              <a:rPr lang="en-AU" sz="3200" dirty="0" err="1">
                <a:solidFill>
                  <a:srgbClr val="F2F2F2"/>
                </a:solidFill>
                <a:ea typeface="+mn-lt"/>
                <a:cs typeface="+mn-lt"/>
              </a:rPr>
              <a:t>VoiceOver</a:t>
            </a:r>
            <a:r>
              <a:rPr lang="en-AU" sz="3200" dirty="0">
                <a:solidFill>
                  <a:srgbClr val="F2F2F2"/>
                </a:solidFill>
                <a:ea typeface="+mn-lt"/>
                <a:cs typeface="+mn-lt"/>
              </a:rPr>
              <a:t> help developers simulate the experience of users with visual impairments.</a:t>
            </a:r>
            <a:endParaRPr lang="en-US" sz="3200" dirty="0">
              <a:ea typeface="Calibri"/>
              <a:cs typeface="Calibri"/>
            </a:endParaRPr>
          </a:p>
          <a:p>
            <a:r>
              <a:rPr lang="en-AU" sz="3200" b="1" i="1" dirty="0">
                <a:solidFill>
                  <a:schemeClr val="accent3"/>
                </a:solidFill>
                <a:ea typeface="+mn-lt"/>
                <a:cs typeface="+mn-lt"/>
              </a:rPr>
              <a:t>Browser extensions</a:t>
            </a:r>
            <a:r>
              <a:rPr lang="en-AU" sz="3200" dirty="0">
                <a:solidFill>
                  <a:srgbClr val="F2F2F2"/>
                </a:solidFill>
                <a:ea typeface="+mn-lt"/>
                <a:cs typeface="+mn-lt"/>
              </a:rPr>
              <a:t>  - Axe &amp; WAVE provide automated testing &amp; reporting.</a:t>
            </a:r>
            <a:endParaRPr lang="en-AU" sz="3200" dirty="0">
              <a:ea typeface="Calibri"/>
              <a:cs typeface="Calibri"/>
            </a:endParaRPr>
          </a:p>
          <a:p>
            <a:r>
              <a:rPr lang="en-AU" sz="3200" b="1" i="1" dirty="0">
                <a:solidFill>
                  <a:schemeClr val="accent3"/>
                </a:solidFill>
                <a:ea typeface="+mn-lt"/>
                <a:cs typeface="+mn-lt"/>
              </a:rPr>
              <a:t>Accessibility checkers</a:t>
            </a:r>
            <a:r>
              <a:rPr lang="en-AU" sz="3200" dirty="0">
                <a:solidFill>
                  <a:srgbClr val="F2F2F2"/>
                </a:solidFill>
                <a:ea typeface="+mn-lt"/>
                <a:cs typeface="+mn-lt"/>
              </a:rPr>
              <a:t> - like Lighthouse and </a:t>
            </a:r>
            <a:r>
              <a:rPr lang="en-AU" sz="3200" dirty="0" err="1">
                <a:solidFill>
                  <a:srgbClr val="F2F2F2"/>
                </a:solidFill>
                <a:ea typeface="+mn-lt"/>
                <a:cs typeface="+mn-lt"/>
              </a:rPr>
              <a:t>AChecker</a:t>
            </a:r>
            <a:r>
              <a:rPr lang="en-AU" sz="3200" dirty="0">
                <a:solidFill>
                  <a:srgbClr val="F2F2F2"/>
                </a:solidFill>
                <a:ea typeface="+mn-lt"/>
                <a:cs typeface="+mn-lt"/>
              </a:rPr>
              <a:t> analyse websites for WCAG </a:t>
            </a:r>
            <a:r>
              <a:rPr lang="en-AU" sz="3200" dirty="0">
                <a:ea typeface="Calibri"/>
                <a:cs typeface="Calibri"/>
              </a:rPr>
              <a:t>suggest improvements.</a:t>
            </a:r>
            <a:endParaRPr lang="en-AU" sz="3200" dirty="0"/>
          </a:p>
          <a:p>
            <a:endParaRPr lang="en-AU" sz="2800" dirty="0">
              <a:ea typeface="Calibri"/>
              <a:cs typeface="Calibri"/>
            </a:endParaRPr>
          </a:p>
          <a:p>
            <a:endParaRPr lang="en-AU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6104535"/>
      </p:ext>
    </p:extLst>
  </p:cSld>
  <p:clrMapOvr>
    <a:masterClrMapping/>
  </p:clrMapOvr>
  <p:transition spd="slow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19" y="525950"/>
            <a:ext cx="6769702" cy="523088"/>
          </a:xfrm>
        </p:spPr>
        <p:txBody>
          <a:bodyPr>
            <a:noAutofit/>
          </a:bodyPr>
          <a:lstStyle/>
          <a:p>
            <a:r>
              <a:rPr lang="en-US" sz="4000" dirty="0">
                <a:ea typeface="Calibri"/>
                <a:cs typeface="Calibri"/>
              </a:rPr>
              <a:t>Designing your UI &amp; UX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9146" y="2266912"/>
            <a:ext cx="5176523" cy="306315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AU" sz="3200" dirty="0">
                <a:solidFill>
                  <a:srgbClr val="F2F2F2"/>
                </a:solidFill>
                <a:ea typeface="+mn-lt"/>
                <a:cs typeface="+mn-lt"/>
              </a:rPr>
              <a:t>Use semantic HTML and proper document structure </a:t>
            </a:r>
          </a:p>
          <a:p>
            <a:r>
              <a:rPr lang="en-AU" dirty="0">
                <a:solidFill>
                  <a:srgbClr val="F2F2F2"/>
                </a:solidFill>
                <a:ea typeface="+mn-lt"/>
                <a:cs typeface="+mn-lt"/>
              </a:rPr>
              <a:t>E</a:t>
            </a:r>
            <a:r>
              <a:rPr lang="en-AU" sz="3200" dirty="0">
                <a:solidFill>
                  <a:srgbClr val="F2F2F2"/>
                </a:solidFill>
                <a:ea typeface="+mn-lt"/>
                <a:cs typeface="+mn-lt"/>
              </a:rPr>
              <a:t>nsure content is perceivable and navigable by assistive technologies.</a:t>
            </a:r>
            <a:endParaRPr lang="en-AU" sz="3200" dirty="0">
              <a:solidFill>
                <a:srgbClr val="F2F2F2"/>
              </a:solidFill>
              <a:ea typeface="Calibri" panose="020F0502020204030204"/>
              <a:cs typeface="Calibri" panose="020F0502020204030204"/>
            </a:endParaRPr>
          </a:p>
          <a:p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821F72-8EF0-AA02-2C10-B7096E245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8119" y="1049039"/>
            <a:ext cx="6052074" cy="549890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nav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sz="1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AU" sz="1600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ul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sz="1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li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href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"#"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Home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li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sz="1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li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href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"#"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About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li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sz="1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li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href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"#"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Services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&gt;&lt;/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li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sz="1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&lt;/</a:t>
            </a:r>
            <a:r>
              <a:rPr lang="en-AU" sz="1600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ul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sz="1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nav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sz="1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sz="1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article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sz="1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h2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About Us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h2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sz="1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Lorem ipsum 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dolor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sit 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amet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   	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consectetur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adipiscing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elit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 Vestibulum 	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sagittis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metus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eget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scelerisque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	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efficitur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sz="1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AU" sz="1600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src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sz="16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image.jpg</a:t>
            </a:r>
            <a:r>
              <a:rPr lang="en-AU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sz="16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alt</a:t>
            </a:r>
            <a:r>
              <a:rPr lang="en-AU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AU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"Image      		description"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sz="1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&lt;/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article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sz="1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AU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en-AU" sz="16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AU" sz="1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endParaRPr lang="en-US" sz="900" dirty="0">
              <a:solidFill>
                <a:srgbClr val="808080"/>
              </a:solidFill>
              <a:latin typeface="Menlo"/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9005717"/>
      </p:ext>
    </p:extLst>
  </p:cSld>
  <p:clrMapOvr>
    <a:masterClrMapping/>
  </p:clrMapOvr>
  <p:transition spd="slow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C7581-3D38-4CF2-B987-C4F3D862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59D01-20CC-3193-7B84-FD3E4B84B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77614"/>
            <a:ext cx="6769702" cy="523088"/>
          </a:xfrm>
        </p:spPr>
        <p:txBody>
          <a:bodyPr>
            <a:noAutofit/>
          </a:bodyPr>
          <a:lstStyle/>
          <a:p>
            <a:r>
              <a:rPr lang="en-US" sz="4000" dirty="0">
                <a:ea typeface="Calibri"/>
                <a:cs typeface="Calibri"/>
              </a:rPr>
              <a:t>Designing your UI &amp; UX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55C1A-EB18-4385-F89A-C1F1803D3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2013336"/>
            <a:ext cx="6076019" cy="385143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AU" dirty="0">
                <a:solidFill>
                  <a:srgbClr val="F2F2F2"/>
                </a:solidFill>
                <a:ea typeface="+mn-lt"/>
                <a:cs typeface="+mn-lt"/>
              </a:rPr>
              <a:t>c</a:t>
            </a:r>
            <a:r>
              <a:rPr lang="en-AU" sz="3200" dirty="0">
                <a:solidFill>
                  <a:srgbClr val="F2F2F2"/>
                </a:solidFill>
                <a:ea typeface="+mn-lt"/>
                <a:cs typeface="+mn-lt"/>
              </a:rPr>
              <a:t>lear contrast in colours for text &amp; background is correct</a:t>
            </a:r>
          </a:p>
          <a:p>
            <a:r>
              <a:rPr lang="en-AU" sz="3200" dirty="0">
                <a:solidFill>
                  <a:srgbClr val="F2F2F2"/>
                </a:solidFill>
                <a:ea typeface="+mn-lt"/>
                <a:cs typeface="+mn-lt"/>
              </a:rPr>
              <a:t>links are styled to provide clear visual cues.</a:t>
            </a:r>
          </a:p>
          <a:p>
            <a:r>
              <a:rPr lang="en-AU" sz="3200" dirty="0">
                <a:solidFill>
                  <a:srgbClr val="F2F2F2"/>
                </a:solidFill>
                <a:ea typeface="+mn-lt"/>
                <a:cs typeface="+mn-lt"/>
              </a:rPr>
              <a:t>images are responsive</a:t>
            </a:r>
          </a:p>
          <a:p>
            <a:r>
              <a:rPr lang="en-AU" dirty="0">
                <a:solidFill>
                  <a:srgbClr val="F2F2F2"/>
                </a:solidFill>
                <a:ea typeface="+mn-lt"/>
                <a:cs typeface="+mn-lt"/>
              </a:rPr>
              <a:t>l</a:t>
            </a:r>
            <a:r>
              <a:rPr lang="en-AU" sz="3200" dirty="0">
                <a:solidFill>
                  <a:srgbClr val="F2F2F2"/>
                </a:solidFill>
                <a:ea typeface="+mn-lt"/>
                <a:cs typeface="+mn-lt"/>
              </a:rPr>
              <a:t>inks are styled for keyboard navigation.</a:t>
            </a:r>
          </a:p>
          <a:p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E7EFAA-8263-92C5-DC39-316843127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86592" y="1701763"/>
            <a:ext cx="4612157" cy="447458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nav</a:t>
            </a:r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ul</a:t>
            </a:r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li</a:t>
            </a:r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  text-decoration</a:t>
            </a:r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#333</a:t>
            </a:r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b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nav</a:t>
            </a:r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ul</a:t>
            </a:r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li</a:t>
            </a:r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AU" b="0" dirty="0" err="1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a:hover</a:t>
            </a:r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AU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color</a:t>
            </a:r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#666</a:t>
            </a:r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AU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AU" b="0" dirty="0" err="1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img</a:t>
            </a:r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  max-width</a:t>
            </a:r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100%</a:t>
            </a:r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  height</a:t>
            </a:r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AU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auto</a:t>
            </a:r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AU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AU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endParaRPr lang="en-US" sz="900" dirty="0">
              <a:solidFill>
                <a:srgbClr val="808080"/>
              </a:solidFill>
              <a:latin typeface="Menlo"/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2150407"/>
      </p:ext>
    </p:extLst>
  </p:cSld>
  <p:clrMapOvr>
    <a:masterClrMapping/>
  </p:clrMapOvr>
  <p:transition spd="slow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C7581-3D38-4CF2-B987-C4F3D862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59D01-20CC-3193-7B84-FD3E4B84B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1321233"/>
            <a:ext cx="10893503" cy="523088"/>
          </a:xfrm>
        </p:spPr>
        <p:txBody>
          <a:bodyPr>
            <a:noAutofit/>
          </a:bodyPr>
          <a:lstStyle/>
          <a:p>
            <a:r>
              <a:rPr lang="en-US" sz="4000" dirty="0">
                <a:ea typeface="Calibri"/>
                <a:cs typeface="Calibri"/>
              </a:rPr>
              <a:t>ARIA </a:t>
            </a:r>
            <a:r>
              <a:rPr lang="en-AU" sz="4000" dirty="0"/>
              <a:t>Accessible Rich Internet Applications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55C1A-EB18-4385-F89A-C1F1803D3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2013336"/>
            <a:ext cx="10449883" cy="385143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AU" dirty="0"/>
              <a:t>set of attributes that make web content and applications more accessible </a:t>
            </a:r>
          </a:p>
          <a:p>
            <a:r>
              <a:rPr lang="en-AU" dirty="0"/>
              <a:t>provide additional information to assistive technologies such as screen readers</a:t>
            </a:r>
          </a:p>
          <a:p>
            <a:r>
              <a:rPr lang="en-AU" dirty="0"/>
              <a:t>allow these technologies to access the behaviour of a site (e.g. our JavaScript)</a:t>
            </a:r>
          </a:p>
        </p:txBody>
      </p:sp>
    </p:spTree>
    <p:extLst>
      <p:ext uri="{BB962C8B-B14F-4D97-AF65-F5344CB8AC3E}">
        <p14:creationId xmlns:p14="http://schemas.microsoft.com/office/powerpoint/2010/main" val="1019618240"/>
      </p:ext>
    </p:extLst>
  </p:cSld>
  <p:clrMapOvr>
    <a:masterClrMapping/>
  </p:clrMapOvr>
  <p:transition spd="slow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C7581-3D38-4CF2-B987-C4F3D8624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59D01-20CC-3193-7B84-FD3E4B84B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167325"/>
            <a:ext cx="8693511" cy="523088"/>
          </a:xfrm>
        </p:spPr>
        <p:txBody>
          <a:bodyPr>
            <a:noAutofit/>
          </a:bodyPr>
          <a:lstStyle/>
          <a:p>
            <a:r>
              <a:rPr lang="en-US" sz="4000" dirty="0">
                <a:ea typeface="Calibri"/>
                <a:cs typeface="Calibri"/>
              </a:rPr>
              <a:t>Some common attribute examples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55C1A-EB18-4385-F89A-C1F1803D3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2013336"/>
            <a:ext cx="10649060" cy="385143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AU" dirty="0"/>
              <a:t>Role Attribute - defines the role of an element </a:t>
            </a:r>
          </a:p>
          <a:p>
            <a:pPr lvl="1"/>
            <a:r>
              <a:rPr lang="en-AU" dirty="0">
                <a:solidFill>
                  <a:schemeClr val="accent3"/>
                </a:solidFill>
              </a:rPr>
              <a:t>role="button"</a:t>
            </a:r>
          </a:p>
          <a:p>
            <a:pPr lvl="1"/>
            <a:r>
              <a:rPr lang="en-AU" dirty="0">
                <a:solidFill>
                  <a:schemeClr val="accent3"/>
                </a:solidFill>
              </a:rPr>
              <a:t>role="navigation"</a:t>
            </a:r>
          </a:p>
          <a:p>
            <a:r>
              <a:rPr lang="en-AU" dirty="0"/>
              <a:t>State and Property Attribute – return a useable </a:t>
            </a:r>
            <a:r>
              <a:rPr lang="en-AU" dirty="0" err="1"/>
              <a:t>boolean</a:t>
            </a:r>
            <a:endParaRPr lang="en-AU" dirty="0"/>
          </a:p>
          <a:p>
            <a:pPr lvl="1"/>
            <a:r>
              <a:rPr lang="en-AU" dirty="0">
                <a:solidFill>
                  <a:schemeClr val="accent3"/>
                </a:solidFill>
              </a:rPr>
              <a:t>aria-hidden: is an element is visible</a:t>
            </a:r>
          </a:p>
          <a:p>
            <a:pPr lvl="1"/>
            <a:r>
              <a:rPr lang="en-AU" dirty="0">
                <a:solidFill>
                  <a:schemeClr val="accent3"/>
                </a:solidFill>
              </a:rPr>
              <a:t>aria-disabled: is an element is disabled</a:t>
            </a:r>
          </a:p>
          <a:p>
            <a:pPr lvl="1"/>
            <a:r>
              <a:rPr lang="en-AU" dirty="0">
                <a:solidFill>
                  <a:schemeClr val="accent3"/>
                </a:solidFill>
              </a:rPr>
              <a:t>aria-expanded: is a collapsible element is expanded</a:t>
            </a:r>
          </a:p>
        </p:txBody>
      </p:sp>
    </p:spTree>
    <p:extLst>
      <p:ext uri="{BB962C8B-B14F-4D97-AF65-F5344CB8AC3E}">
        <p14:creationId xmlns:p14="http://schemas.microsoft.com/office/powerpoint/2010/main" val="1570528665"/>
      </p:ext>
    </p:extLst>
  </p:cSld>
  <p:clrMapOvr>
    <a:masterClrMapping/>
  </p:clrMapOvr>
  <p:transition spd="slow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CF467-C2CD-AFC6-FBAB-1F70A0E29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53161-C164-2A89-6F59-EFA5A8C68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77614"/>
            <a:ext cx="6769702" cy="523088"/>
          </a:xfrm>
        </p:spPr>
        <p:txBody>
          <a:bodyPr>
            <a:noAutofit/>
          </a:bodyPr>
          <a:lstStyle/>
          <a:p>
            <a:r>
              <a:rPr lang="en-US" sz="4000" dirty="0">
                <a:ea typeface="Calibri"/>
                <a:cs typeface="Calibri"/>
              </a:rPr>
              <a:t>Resources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A0940-B82D-14D4-2796-EE7857276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2013336"/>
            <a:ext cx="9723109" cy="385143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AU" sz="3200" dirty="0">
                <a:solidFill>
                  <a:srgbClr val="F2F2F2"/>
                </a:solidFill>
                <a:ea typeface="+mn-lt"/>
                <a:cs typeface="+mn-lt"/>
              </a:rPr>
              <a:t>NVDA - </a:t>
            </a:r>
            <a:r>
              <a:rPr lang="en-AU" sz="3200" dirty="0">
                <a:solidFill>
                  <a:srgbClr val="F2F2F2"/>
                </a:solidFill>
                <a:ea typeface="+mn-lt"/>
                <a:cs typeface="+mn-lt"/>
                <a:hlinkClick r:id="rId2"/>
              </a:rPr>
              <a:t>https://www.nvaccess.org</a:t>
            </a:r>
            <a:endParaRPr lang="en-AU" dirty="0">
              <a:solidFill>
                <a:srgbClr val="F2F2F2"/>
              </a:solidFill>
              <a:ea typeface="+mn-lt"/>
              <a:cs typeface="+mn-lt"/>
            </a:endParaRPr>
          </a:p>
          <a:p>
            <a:r>
              <a:rPr lang="en-AU" sz="3200" dirty="0" err="1">
                <a:solidFill>
                  <a:srgbClr val="F2F2F2"/>
                </a:solidFill>
                <a:ea typeface="+mn-lt"/>
                <a:cs typeface="+mn-lt"/>
              </a:rPr>
              <a:t>VoiceOver</a:t>
            </a:r>
            <a:r>
              <a:rPr lang="en-AU" sz="3200" dirty="0">
                <a:solidFill>
                  <a:srgbClr val="F2F2F2"/>
                </a:solidFill>
                <a:ea typeface="+mn-lt"/>
                <a:cs typeface="+mn-lt"/>
              </a:rPr>
              <a:t> - </a:t>
            </a:r>
            <a:r>
              <a:rPr lang="en-AU" dirty="0">
                <a:hlinkClick r:id="rId3"/>
              </a:rPr>
              <a:t>Accessibility - Vision – Apple</a:t>
            </a:r>
            <a:endParaRPr lang="en-AU" dirty="0"/>
          </a:p>
          <a:p>
            <a:r>
              <a:rPr lang="en-AU" sz="3200" dirty="0">
                <a:solidFill>
                  <a:srgbClr val="F2F2F2"/>
                </a:solidFill>
                <a:ea typeface="+mn-lt"/>
                <a:cs typeface="+mn-lt"/>
              </a:rPr>
              <a:t>Axe Ex</a:t>
            </a:r>
            <a:r>
              <a:rPr lang="en-AU" dirty="0">
                <a:solidFill>
                  <a:srgbClr val="F2F2F2"/>
                </a:solidFill>
                <a:ea typeface="+mn-lt"/>
                <a:cs typeface="+mn-lt"/>
              </a:rPr>
              <a:t>tension - </a:t>
            </a:r>
            <a:r>
              <a:rPr lang="en-AU" dirty="0">
                <a:hlinkClick r:id="rId4"/>
              </a:rPr>
              <a:t>Axe - Web Accessibility Testing</a:t>
            </a:r>
            <a:endParaRPr lang="en-AU" dirty="0"/>
          </a:p>
          <a:p>
            <a:r>
              <a:rPr lang="en-AU" dirty="0"/>
              <a:t>WAVE - </a:t>
            </a:r>
            <a:r>
              <a:rPr lang="en-AU" dirty="0">
                <a:hlinkClick r:id="rId5"/>
              </a:rPr>
              <a:t>WAVE Web Accessibility Evaluation Tools</a:t>
            </a:r>
            <a:endParaRPr lang="en-AU" dirty="0"/>
          </a:p>
          <a:p>
            <a:r>
              <a:rPr lang="en-AU" dirty="0" err="1"/>
              <a:t>Achecker</a:t>
            </a:r>
            <a:r>
              <a:rPr lang="en-AU" dirty="0"/>
              <a:t> - </a:t>
            </a:r>
            <a:r>
              <a:rPr lang="en-AU" dirty="0">
                <a:hlinkClick r:id="rId6"/>
              </a:rPr>
              <a:t>AChecker+ Web Accessibility Checker</a:t>
            </a:r>
            <a:endParaRPr lang="en-AU" dirty="0"/>
          </a:p>
          <a:p>
            <a:r>
              <a:rPr lang="en-AU" dirty="0"/>
              <a:t>Lighthouse - </a:t>
            </a:r>
            <a:r>
              <a:rPr lang="en-AU" dirty="0">
                <a:hlinkClick r:id="rId7"/>
              </a:rPr>
              <a:t>Lighthouse (google.com)</a:t>
            </a:r>
            <a:endParaRPr lang="en-AU" dirty="0"/>
          </a:p>
          <a:p>
            <a:endParaRPr lang="en-AU" sz="3200" dirty="0">
              <a:solidFill>
                <a:srgbClr val="F2F2F2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596657"/>
      </p:ext>
    </p:extLst>
  </p:cSld>
  <p:clrMapOvr>
    <a:masterClrMapping/>
  </p:clrMapOvr>
  <p:transition spd="slow"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Cloning and Forking the Repository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dirty="0">
                <a:latin typeface="arial" panose="020B0604020202020204" pitchFamily="34" charset="0"/>
              </a:rPr>
              <a:t>Lets </a:t>
            </a:r>
            <a:r>
              <a:rPr lang="en-AU" dirty="0">
                <a:effectLst/>
                <a:latin typeface="arial" panose="020B0604020202020204" pitchFamily="34" charset="0"/>
              </a:rPr>
              <a:t>practise:</a:t>
            </a:r>
          </a:p>
          <a:p>
            <a:pPr marL="0" indent="0">
              <a:buNone/>
            </a:pPr>
            <a:endParaRPr lang="en-AU" b="1" i="1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AU" dirty="0">
                <a:effectLst/>
                <a:latin typeface="arial" panose="020B0604020202020204" pitchFamily="34" charset="0"/>
              </a:rPr>
              <a:t>How to use the 1st assessment repository AT1 - Portfolio</a:t>
            </a:r>
          </a:p>
          <a:p>
            <a:pPr marL="0" indent="0">
              <a:buNone/>
            </a:pPr>
            <a:r>
              <a:rPr lang="en-AU" u="sng" dirty="0">
                <a:solidFill>
                  <a:srgbClr val="1874A4"/>
                </a:solidFill>
                <a:effectLst/>
                <a:latin typeface="arial" panose="020B0604020202020204" pitchFamily="34" charset="0"/>
                <a:hlinkClick r:id="rId2"/>
              </a:rPr>
              <a:t>NM-TAFE/civ-web-technologies-portfolio-phases (github.com)</a:t>
            </a:r>
            <a:endParaRPr lang="en-AU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br>
              <a:rPr lang="en-AU" dirty="0">
                <a:effectLst/>
                <a:latin typeface="arial" panose="020B0604020202020204" pitchFamily="34" charset="0"/>
              </a:rPr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3769648"/>
      </p:ext>
    </p:extLst>
  </p:cSld>
  <p:clrMapOvr>
    <a:masterClrMapping/>
  </p:clrMapOvr>
  <p:transition spd="slow"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256A80-CA06-C8F7-AADD-A23637D293C2}"/>
              </a:ext>
            </a:extLst>
          </p:cNvPr>
          <p:cNvSpPr txBox="1"/>
          <p:nvPr/>
        </p:nvSpPr>
        <p:spPr>
          <a:xfrm>
            <a:off x="622169" y="1828800"/>
            <a:ext cx="10972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5600" dirty="0"/>
              <a:t>🦆</a:t>
            </a:r>
          </a:p>
        </p:txBody>
      </p:sp>
    </p:spTree>
    <p:extLst>
      <p:ext uri="{BB962C8B-B14F-4D97-AF65-F5344CB8AC3E}">
        <p14:creationId xmlns:p14="http://schemas.microsoft.com/office/powerpoint/2010/main" val="399839865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TAFE-White-BG-C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C92A6A38-762D-4D1E-84F6-35B86993516B}"/>
    </a:ext>
  </a:extLst>
</a:theme>
</file>

<file path=ppt/theme/theme2.xml><?xml version="1.0" encoding="utf-8"?>
<a:theme xmlns:a="http://schemas.openxmlformats.org/drawingml/2006/main" name="8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D1B6720D-EE33-4432-8F34-AC78FA415D44}"/>
    </a:ext>
  </a:extLst>
</a:theme>
</file>

<file path=ppt/theme/theme3.xml><?xml version="1.0" encoding="utf-8"?>
<a:theme xmlns:a="http://schemas.openxmlformats.org/drawingml/2006/main" name="9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D1B6720D-EE33-4432-8F34-AC78FA415D44}"/>
    </a:ext>
  </a:extLst>
</a:theme>
</file>

<file path=ppt/theme/theme4.xml><?xml version="1.0" encoding="utf-8"?>
<a:theme xmlns:a="http://schemas.openxmlformats.org/drawingml/2006/main" name="3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74005428-A334-41FB-9C76-B70EADF29CBB}"/>
    </a:ext>
  </a:extLst>
</a:theme>
</file>

<file path=ppt/theme/theme5.xml><?xml version="1.0" encoding="utf-8"?>
<a:theme xmlns:a="http://schemas.openxmlformats.org/drawingml/2006/main" name="4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FB2A232E-75D7-4897-BB1C-74DF42300102}"/>
    </a:ext>
  </a:extLst>
</a:theme>
</file>

<file path=ppt/theme/theme6.xml><?xml version="1.0" encoding="utf-8"?>
<a:theme xmlns:a="http://schemas.openxmlformats.org/drawingml/2006/main" name="5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B197BA3C-52E1-452E-9ECF-A8FC308A75CB}"/>
    </a:ext>
  </a:extLst>
</a:theme>
</file>

<file path=ppt/theme/theme7.xml><?xml version="1.0" encoding="utf-8"?>
<a:theme xmlns:a="http://schemas.openxmlformats.org/drawingml/2006/main" name="TAFE-Dark-BG-animated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091D9253-E664-4300-BB76-B0EA74ABD4E3}"/>
    </a:ext>
  </a:extLst>
</a:theme>
</file>

<file path=ppt/theme/theme8.xml><?xml version="1.0" encoding="utf-8"?>
<a:theme xmlns:a="http://schemas.openxmlformats.org/drawingml/2006/main" name="6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F5315164-D39B-4AAC-B304-B1A2B031A95B}"/>
    </a:ext>
  </a:extLst>
</a:theme>
</file>

<file path=ppt/theme/theme9.xml><?xml version="1.0" encoding="utf-8"?>
<a:theme xmlns:a="http://schemas.openxmlformats.org/drawingml/2006/main" name="7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53110149-A4D3-4904-BBE1-036CB5C878D3}"/>
    </a:ext>
  </a:extLst>
</a:theme>
</file>

<file path=ppt/theme/theme10.xml><?xml version="1.0" encoding="utf-8"?>
<a:theme xmlns:a="http://schemas.openxmlformats.org/drawingml/2006/main" name="1_TAFE-White-BG-C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FE-White-BG-C" id="{512C2FDB-8C93-844A-9C7C-E16B2F56908F}" vid="{F409DB23-9C1D-2B4A-B99D-0844671217B0}"/>
    </a:ext>
  </a:extLst>
</a:theme>
</file>

<file path=ppt/theme/theme11.xml><?xml version="1.0" encoding="utf-8"?>
<a:theme xmlns:a="http://schemas.openxmlformats.org/drawingml/2006/main" name="10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TAFE-White-BG-B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FE-White-BG-B" id="{2956925C-A3E0-A44D-A1CA-96DE5E326E72}" vid="{BF725D3F-94CF-3B48-BC06-35479312206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Presentation-2023</Template>
  <TotalTime>257</TotalTime>
  <Words>2121</Words>
  <Application>Microsoft Office PowerPoint</Application>
  <PresentationFormat>Widescreen</PresentationFormat>
  <Paragraphs>339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67</vt:i4>
      </vt:variant>
    </vt:vector>
  </HeadingPairs>
  <TitlesOfParts>
    <vt:vector size="90" baseType="lpstr">
      <vt:lpstr>Arial Unicode MS</vt:lpstr>
      <vt:lpstr>Arial</vt:lpstr>
      <vt:lpstr>Arial</vt:lpstr>
      <vt:lpstr>Calibri</vt:lpstr>
      <vt:lpstr>Calibri Light</vt:lpstr>
      <vt:lpstr>Consolas</vt:lpstr>
      <vt:lpstr>Courier New</vt:lpstr>
      <vt:lpstr>Fira Code</vt:lpstr>
      <vt:lpstr>Menlo</vt:lpstr>
      <vt:lpstr>TAFE-White-BG-C</vt:lpstr>
      <vt:lpstr>8_Office Theme</vt:lpstr>
      <vt:lpstr>9_Office Theme</vt:lpstr>
      <vt:lpstr>3_Office Theme</vt:lpstr>
      <vt:lpstr>4_Office Theme</vt:lpstr>
      <vt:lpstr>5_Office Theme</vt:lpstr>
      <vt:lpstr>TAFE-Dark-BG-animated</vt:lpstr>
      <vt:lpstr>6_Office Theme</vt:lpstr>
      <vt:lpstr>7_Office Theme</vt:lpstr>
      <vt:lpstr>1_TAFE-White-BG-C</vt:lpstr>
      <vt:lpstr>10_Office Theme</vt:lpstr>
      <vt:lpstr>11_Office Theme</vt:lpstr>
      <vt:lpstr>12_Office Theme</vt:lpstr>
      <vt:lpstr>TAFE-White-BG-B</vt:lpstr>
      <vt:lpstr> Web Technologies: Introduction</vt:lpstr>
      <vt:lpstr>Overview</vt:lpstr>
      <vt:lpstr> Semantic HTML &amp; Validating</vt:lpstr>
      <vt:lpstr>Semantic HTML</vt:lpstr>
      <vt:lpstr>Simple Semantic HTML Demo</vt:lpstr>
      <vt:lpstr>Simple Semantic HTML Demo</vt:lpstr>
      <vt:lpstr>Simple Semantic HTML Demo</vt:lpstr>
      <vt:lpstr>Simple Semantic HTML Demo</vt:lpstr>
      <vt:lpstr>Simple Semantic HTML Demo</vt:lpstr>
      <vt:lpstr>Simple Semantic HTML Demo</vt:lpstr>
      <vt:lpstr>Simple Semantic HTML Demo</vt:lpstr>
      <vt:lpstr>Simple Semantic HTML Demo</vt:lpstr>
      <vt:lpstr>Simple Semantic HTML Demo</vt:lpstr>
      <vt:lpstr>Simple Semantic HTML Demo</vt:lpstr>
      <vt:lpstr>Simple Semantic HTML Demo</vt:lpstr>
      <vt:lpstr>Simple Semantic HTML Demo</vt:lpstr>
      <vt:lpstr>Simple Semantic HTML Demo</vt:lpstr>
      <vt:lpstr>Simple Semantic HTML Demo</vt:lpstr>
      <vt:lpstr>Simple Semantic HTML Demo</vt:lpstr>
      <vt:lpstr>Simple Semantic HTML Demo</vt:lpstr>
      <vt:lpstr>Simple Semantic HTML Demo</vt:lpstr>
      <vt:lpstr>Simple Semantic HTML Demo</vt:lpstr>
      <vt:lpstr>Simple Semantic HTML Demo</vt:lpstr>
      <vt:lpstr>Simple Semantic HTML Demo</vt:lpstr>
      <vt:lpstr>Simple Semantic HTML Demo</vt:lpstr>
      <vt:lpstr>Simple Semantic HTML Demo</vt:lpstr>
      <vt:lpstr> HTML Validation</vt:lpstr>
      <vt:lpstr>HTML Code Validation</vt:lpstr>
      <vt:lpstr>HTML Code Validation</vt:lpstr>
      <vt:lpstr>HTML Code Validation</vt:lpstr>
      <vt:lpstr>HTML Code Validation</vt:lpstr>
      <vt:lpstr> Session 3 Challenge 1 </vt:lpstr>
      <vt:lpstr>Challenge 1</vt:lpstr>
      <vt:lpstr> Session 3 Challenge 2</vt:lpstr>
      <vt:lpstr>Challenge 2</vt:lpstr>
      <vt:lpstr> Session 3 Challenge 3</vt:lpstr>
      <vt:lpstr>Challenge 3</vt:lpstr>
      <vt:lpstr> Session 3 Challenge 4 </vt:lpstr>
      <vt:lpstr>Challenge 4</vt:lpstr>
      <vt:lpstr> Session 3 Challenge 5</vt:lpstr>
      <vt:lpstr>Challenge 5</vt:lpstr>
      <vt:lpstr> Session 3 Challenge 6</vt:lpstr>
      <vt:lpstr>Challenge 6</vt:lpstr>
      <vt:lpstr> Session 3 Challenge 7</vt:lpstr>
      <vt:lpstr>Challenge 7</vt:lpstr>
      <vt:lpstr>Challenge 7</vt:lpstr>
      <vt:lpstr>Challenge 7</vt:lpstr>
      <vt:lpstr> Session 3 Challenge 8</vt:lpstr>
      <vt:lpstr>Challenge 8</vt:lpstr>
      <vt:lpstr> HTML Attributes</vt:lpstr>
      <vt:lpstr>data-*</vt:lpstr>
      <vt:lpstr>contenteditable</vt:lpstr>
      <vt:lpstr>rel-*</vt:lpstr>
      <vt:lpstr>srcset &amp; sizes</vt:lpstr>
      <vt:lpstr> Accessibility on the Web</vt:lpstr>
      <vt:lpstr>Case in data</vt:lpstr>
      <vt:lpstr>Standards &amp; Obligations</vt:lpstr>
      <vt:lpstr>Planning your specifications</vt:lpstr>
      <vt:lpstr>Accessibility &amp; Project iterations</vt:lpstr>
      <vt:lpstr>Building a toolset</vt:lpstr>
      <vt:lpstr>Designing your UI &amp; UX</vt:lpstr>
      <vt:lpstr>Designing your UI &amp; UX</vt:lpstr>
      <vt:lpstr>ARIA Accessible Rich Internet Applications</vt:lpstr>
      <vt:lpstr>Some common attribute examples</vt:lpstr>
      <vt:lpstr>Resources</vt:lpstr>
      <vt:lpstr>Cloning and Forking the Repository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Technologies Introduction</dc:title>
  <dc:creator>Adrian Gould</dc:creator>
  <cp:lastModifiedBy>John Robertson</cp:lastModifiedBy>
  <cp:revision>195</cp:revision>
  <dcterms:created xsi:type="dcterms:W3CDTF">2023-07-07T02:00:43Z</dcterms:created>
  <dcterms:modified xsi:type="dcterms:W3CDTF">2024-07-30T00:25:25Z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ac7e5b-5da2-46c7-8677-8a6b50f7d886_Enabled">
    <vt:lpwstr>true</vt:lpwstr>
  </property>
  <property fmtid="{D5CDD505-2E9C-101B-9397-08002B2CF9AE}" pid="3" name="MSIP_Label_f3ac7e5b-5da2-46c7-8677-8a6b50f7d886_SetDate">
    <vt:lpwstr>2023-07-09T17:39:43Z</vt:lpwstr>
  </property>
  <property fmtid="{D5CDD505-2E9C-101B-9397-08002B2CF9AE}" pid="4" name="MSIP_Label_f3ac7e5b-5da2-46c7-8677-8a6b50f7d886_Method">
    <vt:lpwstr>Standard</vt:lpwstr>
  </property>
  <property fmtid="{D5CDD505-2E9C-101B-9397-08002B2CF9AE}" pid="5" name="MSIP_Label_f3ac7e5b-5da2-46c7-8677-8a6b50f7d886_Name">
    <vt:lpwstr>Official</vt:lpwstr>
  </property>
  <property fmtid="{D5CDD505-2E9C-101B-9397-08002B2CF9AE}" pid="6" name="MSIP_Label_f3ac7e5b-5da2-46c7-8677-8a6b50f7d886_SiteId">
    <vt:lpwstr>218881e8-07ad-4142-87d7-f6b90d17009b</vt:lpwstr>
  </property>
  <property fmtid="{D5CDD505-2E9C-101B-9397-08002B2CF9AE}" pid="7" name="MSIP_Label_f3ac7e5b-5da2-46c7-8677-8a6b50f7d886_ActionId">
    <vt:lpwstr>934bf055-5d58-4591-8f85-6de4d295ed91</vt:lpwstr>
  </property>
  <property fmtid="{D5CDD505-2E9C-101B-9397-08002B2CF9AE}" pid="8" name="MSIP_Label_f3ac7e5b-5da2-46c7-8677-8a6b50f7d886_ContentBits">
    <vt:lpwstr>1</vt:lpwstr>
  </property>
  <property fmtid="{D5CDD505-2E9C-101B-9397-08002B2CF9AE}" pid="9" name="ClassificationContentMarkingHeaderLocations">
    <vt:lpwstr>TAFE-White-BG-C:4\8_Office Theme:4\9_Office Theme:4\3_Office Theme:4\4_Office Theme:4\5_Office Theme:4\TAFE-Dark-BG-animated:4\6_Office Theme:4\7_Office Theme:4\1_TAFE-White-BG-C:7\10_Office Theme:8\11_Office Theme:7\12_Office Theme:7\TAFE-White-BG-B:7</vt:lpwstr>
  </property>
  <property fmtid="{D5CDD505-2E9C-101B-9397-08002B2CF9AE}" pid="10" name="ClassificationContentMarkingHeaderText">
    <vt:lpwstr>OFFICIAL</vt:lpwstr>
  </property>
</Properties>
</file>