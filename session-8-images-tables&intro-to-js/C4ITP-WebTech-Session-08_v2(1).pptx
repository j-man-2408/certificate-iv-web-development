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2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  <p:sldMasterId id="2147483686" r:id="rId2"/>
    <p:sldMasterId id="2147483698" r:id="rId3"/>
    <p:sldMasterId id="2147483710" r:id="rId4"/>
    <p:sldMasterId id="2147483722" r:id="rId5"/>
    <p:sldMasterId id="2147483734" r:id="rId6"/>
    <p:sldMasterId id="2147483746" r:id="rId7"/>
    <p:sldMasterId id="2147483758" r:id="rId8"/>
    <p:sldMasterId id="2147483770" r:id="rId9"/>
    <p:sldMasterId id="2147483806" r:id="rId10"/>
    <p:sldMasterId id="2147483818" r:id="rId11"/>
    <p:sldMasterId id="2147483829" r:id="rId12"/>
    <p:sldMasterId id="2147483840" r:id="rId13"/>
    <p:sldMasterId id="2147483851" r:id="rId14"/>
  </p:sldMasterIdLst>
  <p:notesMasterIdLst>
    <p:notesMasterId r:id="rId53"/>
  </p:notesMasterIdLst>
  <p:sldIdLst>
    <p:sldId id="270" r:id="rId15"/>
    <p:sldId id="387" r:id="rId16"/>
    <p:sldId id="278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4" r:id="rId26"/>
    <p:sldId id="415" r:id="rId27"/>
    <p:sldId id="416" r:id="rId28"/>
    <p:sldId id="417" r:id="rId29"/>
    <p:sldId id="401" r:id="rId30"/>
    <p:sldId id="419" r:id="rId31"/>
    <p:sldId id="418" r:id="rId32"/>
    <p:sldId id="420" r:id="rId33"/>
    <p:sldId id="421" r:id="rId34"/>
    <p:sldId id="400" r:id="rId35"/>
    <p:sldId id="481" r:id="rId36"/>
    <p:sldId id="271" r:id="rId37"/>
    <p:sldId id="478" r:id="rId38"/>
    <p:sldId id="272" r:id="rId39"/>
    <p:sldId id="273" r:id="rId40"/>
    <p:sldId id="274" r:id="rId41"/>
    <p:sldId id="275" r:id="rId42"/>
    <p:sldId id="511" r:id="rId43"/>
    <p:sldId id="512" r:id="rId44"/>
    <p:sldId id="514" r:id="rId45"/>
    <p:sldId id="516" r:id="rId46"/>
    <p:sldId id="513" r:id="rId47"/>
    <p:sldId id="515" r:id="rId48"/>
    <p:sldId id="517" r:id="rId49"/>
    <p:sldId id="518" r:id="rId50"/>
    <p:sldId id="509" r:id="rId51"/>
    <p:sldId id="388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673E5C-48F0-4880-9E5D-C1B753F526B3}">
          <p14:sldIdLst>
            <p14:sldId id="270"/>
          </p14:sldIdLst>
        </p14:section>
        <p14:section name="Overview" id="{6B305998-727F-4E0D-B590-D2FA76C3FDC2}">
          <p14:sldIdLst>
            <p14:sldId id="387"/>
          </p14:sldIdLst>
        </p14:section>
        <p14:section name="Session 08" id="{9A26274C-C592-4A45-B89F-914848F7415D}">
          <p14:sldIdLst>
            <p14:sldId id="278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4"/>
            <p14:sldId id="415"/>
            <p14:sldId id="416"/>
            <p14:sldId id="417"/>
            <p14:sldId id="401"/>
            <p14:sldId id="419"/>
            <p14:sldId id="418"/>
            <p14:sldId id="420"/>
            <p14:sldId id="421"/>
            <p14:sldId id="400"/>
            <p14:sldId id="481"/>
            <p14:sldId id="271"/>
            <p14:sldId id="478"/>
            <p14:sldId id="272"/>
            <p14:sldId id="273"/>
            <p14:sldId id="274"/>
            <p14:sldId id="275"/>
            <p14:sldId id="511"/>
            <p14:sldId id="512"/>
            <p14:sldId id="514"/>
            <p14:sldId id="516"/>
            <p14:sldId id="513"/>
            <p14:sldId id="515"/>
            <p14:sldId id="517"/>
            <p14:sldId id="518"/>
            <p14:sldId id="509"/>
          </p14:sldIdLst>
        </p14:section>
        <p14:section name="End" id="{3072ED9E-465E-4038-83F4-1DE8123ED601}">
          <p14:sldIdLst>
            <p14:sldId id="3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DB720D-CB23-00BD-4BF4-8F254009EC64}" name="Adrian Gould" initials="AG" userId="S::Adrian.Gould@nmtafe.wa.edu.au::0a44525a-5416-41c1-827b-f073cee28c70" providerId="AD"/>
  <p188:author id="{CF9B4C55-2547-8E87-20F7-0B62AB1B37EA}" name="John Robertson" initials="JR" userId="S::john.robertson@nmtafe.wa.edu.au::27eef65d-0d9b-46bb-85ea-fba5d9d913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001"/>
    <a:srgbClr val="4C0001"/>
    <a:srgbClr val="3C3F41"/>
    <a:srgbClr val="0B0000"/>
    <a:srgbClr val="000000"/>
    <a:srgbClr val="3A0001"/>
    <a:srgbClr val="3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1AE91-3FE9-4109-941B-3204CFEBFEE5}" v="1" dt="2023-07-20T07:54:55.042"/>
    <p1510:client id="{87FEBEDB-BEFD-4F1E-AC41-B1B902CF6504}" v="1" dt="2023-07-20T07:59:59.449"/>
    <p1510:client id="{D4300B61-0B4A-E584-1832-4C37993A801F}" v="3" dt="2023-09-06T00:44:58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0612"/>
  </p:normalViewPr>
  <p:slideViewPr>
    <p:cSldViewPr snapToGrid="0">
      <p:cViewPr varScale="1">
        <p:scale>
          <a:sx n="79" d="100"/>
          <a:sy n="79" d="100"/>
        </p:scale>
        <p:origin x="17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50" Type="http://schemas.openxmlformats.org/officeDocument/2006/relationships/slide" Target="slides/slide36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slide" Target="slides/slide34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7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59" Type="http://schemas.microsoft.com/office/2018/10/relationships/authors" Target="authors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slide" Target="slides/slide35.xml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4AD0A-6903-524E-81B5-45BBC4CB040F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02C22-EBBD-124D-85F8-7A50A9B06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7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ossless_compression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Lossy_compression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course is an introduction to JS remember to view the videos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93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AU" dirty="0"/>
          </a:p>
          <a:p>
            <a:pPr>
              <a:buFont typeface="Arial" panose="020B0604020202020204" pitchFamily="34" charset="0"/>
              <a:buNone/>
            </a:pPr>
            <a:r>
              <a:rPr lang="en-AU" dirty="0"/>
              <a:t>We have an &lt;</a:t>
            </a:r>
            <a:r>
              <a:rPr lang="en-AU" dirty="0" err="1"/>
              <a:t>img</a:t>
            </a:r>
            <a:r>
              <a:rPr lang="en-AU" dirty="0"/>
              <a:t>&gt; tag with the </a:t>
            </a:r>
            <a:r>
              <a:rPr lang="en-AU" dirty="0" err="1"/>
              <a:t>srcset</a:t>
            </a:r>
            <a:r>
              <a:rPr lang="en-AU" dirty="0"/>
              <a:t> attribute, which provides three different image sources with different widths (400w, 800w, and 1200w).</a:t>
            </a:r>
          </a:p>
          <a:p>
            <a:pPr>
              <a:buFont typeface="Arial" panose="020B0604020202020204" pitchFamily="34" charset="0"/>
              <a:buNone/>
            </a:pPr>
            <a:r>
              <a:rPr lang="en-AU" dirty="0"/>
              <a:t>The sizes attribute is used to specify how the image should be displayed at different viewport sizes. </a:t>
            </a:r>
          </a:p>
          <a:p>
            <a:pPr>
              <a:buFont typeface="Arial" panose="020B0604020202020204" pitchFamily="34" charset="0"/>
              <a:buNone/>
            </a:pPr>
            <a:endParaRPr lang="en-AU" dirty="0"/>
          </a:p>
          <a:p>
            <a:pPr>
              <a:buFont typeface="Arial" panose="020B0604020202020204" pitchFamily="34" charset="0"/>
              <a:buNone/>
            </a:pPr>
            <a:r>
              <a:rPr lang="en-AU" dirty="0"/>
              <a:t>In this example: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AU" dirty="0"/>
              <a:t>When the viewport width is less than or equal to 600 pixels, the image will take up the full viewport width (100vw).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AU" dirty="0"/>
              <a:t>When the viewport width is between 601 and 1200 pixels, the image will take up 50% of the viewport width (50vw).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AU" dirty="0"/>
              <a:t>When the viewport width is greater than 1200 pixels, the image will have a fixed width of 1000 pixels.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93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85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AU" dirty="0">
                <a:hlinkClick r:id="rId3"/>
              </a:rPr>
              <a:t>Lossless compression</a:t>
            </a:r>
            <a:r>
              <a:rPr lang="en-AU" dirty="0"/>
              <a:t> refers to compression in which the </a:t>
            </a:r>
            <a:r>
              <a:rPr lang="en-AU" b="1" dirty="0"/>
              <a:t>image is reduced without any quality loss</a:t>
            </a:r>
            <a:r>
              <a:rPr lang="en-AU" dirty="0"/>
              <a:t>. Usually this is done by removing unnecessary metadata from JPEG and PNG files. RAW, </a:t>
            </a:r>
          </a:p>
          <a:p>
            <a:pPr>
              <a:buFont typeface="Arial" panose="020B0604020202020204" pitchFamily="34" charset="0"/>
              <a:buNone/>
            </a:pPr>
            <a:r>
              <a:rPr lang="en-AU" dirty="0">
                <a:hlinkClick r:id="rId4"/>
              </a:rPr>
              <a:t>Lossy compression</a:t>
            </a:r>
            <a:r>
              <a:rPr lang="en-AU" dirty="0"/>
              <a:t> refers to compression in which some of the </a:t>
            </a:r>
            <a:r>
              <a:rPr lang="en-AU" b="1" dirty="0"/>
              <a:t>data from the original file (JPEG) is lost</a:t>
            </a:r>
            <a:r>
              <a:rPr lang="en-AU" dirty="0"/>
              <a:t>. The process is irreversible, once you convert to lossy, you can't go back. And the more you compress it, the more degradation occurs.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45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96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54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33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35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28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93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8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68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97172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213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821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752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74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947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6586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75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211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91207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581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852940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58343247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35436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075545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416204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446637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902548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8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1281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10913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0153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3/09/2024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914329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39090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26711071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454972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09105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094653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124391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677842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39502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761409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51233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3/09/2024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7872616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325809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009829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45563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44494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350594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059109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440938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279959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590441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57663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646541"/>
      </p:ext>
    </p:extLst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842572"/>
      </p:ext>
    </p:extLst>
  </p:cSld>
  <p:clrMapOvr>
    <a:masterClrMapping/>
  </p:clrMapOvr>
  <p:transition spd="slow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037543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812088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765084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664379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627324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46778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866695"/>
      </p:ext>
    </p:extLst>
  </p:cSld>
  <p:clrMapOvr>
    <a:masterClrMapping/>
  </p:clrMapOvr>
  <p:transition spd="slow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941442"/>
      </p:ext>
    </p:extLst>
  </p:cSld>
  <p:clrMapOvr>
    <a:masterClrMapping/>
  </p:clrMapOvr>
  <p:transition spd="slow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579322"/>
      </p:ext>
    </p:extLst>
  </p:cSld>
  <p:clrMapOvr>
    <a:masterClrMapping/>
  </p:clrMapOvr>
  <p:transition spd="slow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395453"/>
      </p:ext>
    </p:extLst>
  </p:cSld>
  <p:clrMapOvr>
    <a:masterClrMapping/>
  </p:clrMapOvr>
  <p:transition spd="slow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220297"/>
      </p:ext>
    </p:extLst>
  </p:cSld>
  <p:clrMapOvr>
    <a:masterClrMapping/>
  </p:clrMapOvr>
  <p:transition spd="slow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710051"/>
      </p:ext>
    </p:extLst>
  </p:cSld>
  <p:clrMapOvr>
    <a:masterClrMapping/>
  </p:clrMapOvr>
  <p:transition spd="slow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095686"/>
      </p:ext>
    </p:extLst>
  </p:cSld>
  <p:clrMapOvr>
    <a:masterClrMapping/>
  </p:clrMapOvr>
  <p:transition spd="slow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82501"/>
      </p:ext>
    </p:extLst>
  </p:cSld>
  <p:clrMapOvr>
    <a:masterClrMapping/>
  </p:clrMapOvr>
  <p:transition spd="slow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643192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730182"/>
      </p:ext>
    </p:extLst>
  </p:cSld>
  <p:clrMapOvr>
    <a:masterClrMapping/>
  </p:clrMapOvr>
  <p:transition spd="slow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84613"/>
      </p:ext>
    </p:extLst>
  </p:cSld>
  <p:clrMapOvr>
    <a:masterClrMapping/>
  </p:clrMapOvr>
  <p:transition spd="slow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3288"/>
      </p:ext>
    </p:extLst>
  </p:cSld>
  <p:clrMapOvr>
    <a:masterClrMapping/>
  </p:clrMapOvr>
  <p:transition spd="slow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045618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998777"/>
      </p:ext>
    </p:extLst>
  </p:cSld>
  <p:clrMapOvr>
    <a:masterClrMapping/>
  </p:clrMapOvr>
  <p:transition spd="slow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052585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99411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144768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102047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389621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817362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219357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39140"/>
      </p:ext>
    </p:extLst>
  </p:cSld>
  <p:clrMapOvr>
    <a:masterClrMapping/>
  </p:clrMapOvr>
  <p:transition spd="slow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202440"/>
      </p:ext>
    </p:extLst>
  </p:cSld>
  <p:clrMapOvr>
    <a:masterClrMapping/>
  </p:clrMapOvr>
  <p:transition spd="slow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118706"/>
      </p:ext>
    </p:extLst>
  </p:cSld>
  <p:clrMapOvr>
    <a:masterClrMapping/>
  </p:clrMapOvr>
  <p:transition spd="slow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97514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331379"/>
      </p:ext>
    </p:extLst>
  </p:cSld>
  <p:clrMapOvr>
    <a:masterClrMapping/>
  </p:clrMapOvr>
  <p:transition spd="slow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500825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379820"/>
      </p:ext>
    </p:extLst>
  </p:cSld>
  <p:clrMapOvr>
    <a:masterClrMapping/>
  </p:clrMapOvr>
  <p:transition spd="slow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86074"/>
      </p:ext>
    </p:extLst>
  </p:cSld>
  <p:clrMapOvr>
    <a:masterClrMapping/>
  </p:clrMapOvr>
  <p:transition spd="slow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273943"/>
      </p:ext>
    </p:extLst>
  </p:cSld>
  <p:clrMapOvr>
    <a:masterClrMapping/>
  </p:clrMapOvr>
  <p:transition spd="slow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435440"/>
      </p:ext>
    </p:extLst>
  </p:cSld>
  <p:clrMapOvr>
    <a:masterClrMapping/>
  </p:clrMapOvr>
  <p:transition spd="slow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5935"/>
      </p:ext>
    </p:extLst>
  </p:cSld>
  <p:clrMapOvr>
    <a:masterClrMapping/>
  </p:clrMapOvr>
  <p:transition spd="slow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185332"/>
      </p:ext>
    </p:extLst>
  </p:cSld>
  <p:clrMapOvr>
    <a:masterClrMapping/>
  </p:clrMapOvr>
  <p:transition spd="slow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765892"/>
      </p:ext>
    </p:extLst>
  </p:cSld>
  <p:clrMapOvr>
    <a:masterClrMapping/>
  </p:clrMapOvr>
  <p:transition spd="slow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31487"/>
      </p:ext>
    </p:extLst>
  </p:cSld>
  <p:clrMapOvr>
    <a:masterClrMapping/>
  </p:clrMapOvr>
  <p:transition spd="slow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082134"/>
      </p:ext>
    </p:extLst>
  </p:cSld>
  <p:clrMapOvr>
    <a:masterClrMapping/>
  </p:clrMapOvr>
  <p:transition spd="slow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485142"/>
      </p:ext>
    </p:extLst>
  </p:cSld>
  <p:clrMapOvr>
    <a:masterClrMapping/>
  </p:clrMapOvr>
  <p:transition spd="slow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969938"/>
      </p:ext>
    </p:extLst>
  </p:cSld>
  <p:clrMapOvr>
    <a:masterClrMapping/>
  </p:clrMapOvr>
  <p:transition spd="slow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283881"/>
      </p:ext>
    </p:extLst>
  </p:cSld>
  <p:clrMapOvr>
    <a:masterClrMapping/>
  </p:clrMapOvr>
  <p:transition spd="slow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06424"/>
      </p:ext>
    </p:extLst>
  </p:cSld>
  <p:clrMapOvr>
    <a:masterClrMapping/>
  </p:clrMapOvr>
  <p:transition spd="slow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59658"/>
      </p:ext>
    </p:extLst>
  </p:cSld>
  <p:clrMapOvr>
    <a:masterClrMapping/>
  </p:clrMapOvr>
  <p:transition spd="slow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316661"/>
      </p:ext>
    </p:extLst>
  </p:cSld>
  <p:clrMapOvr>
    <a:masterClrMapping/>
  </p:clrMapOvr>
  <p:transition spd="slow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312828"/>
      </p:ext>
    </p:extLst>
  </p:cSld>
  <p:clrMapOvr>
    <a:masterClrMapping/>
  </p:clrMapOvr>
  <p:transition spd="slow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389694"/>
      </p:ext>
    </p:extLst>
  </p:cSld>
  <p:clrMapOvr>
    <a:masterClrMapping/>
  </p:clrMapOvr>
  <p:transition spd="slow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756321"/>
      </p:ext>
    </p:extLst>
  </p:cSld>
  <p:clrMapOvr>
    <a:masterClrMapping/>
  </p:clrMapOvr>
  <p:transition spd="slow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377667"/>
      </p:ext>
    </p:extLst>
  </p:cSld>
  <p:clrMapOvr>
    <a:masterClrMapping/>
  </p:clrMapOvr>
  <p:transition spd="slow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518369"/>
      </p:ext>
    </p:extLst>
  </p:cSld>
  <p:clrMapOvr>
    <a:masterClrMapping/>
  </p:clrMapOvr>
  <p:transition spd="slow"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450234"/>
      </p:ext>
    </p:extLst>
  </p:cSld>
  <p:clrMapOvr>
    <a:masterClrMapping/>
  </p:clrMapOvr>
  <p:transition spd="slow"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79199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800938"/>
      </p:ext>
    </p:extLst>
  </p:cSld>
  <p:clrMapOvr>
    <a:masterClrMapping/>
  </p:clrMapOvr>
  <p:transition spd="slow"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78032"/>
      </p:ext>
    </p:extLst>
  </p:cSld>
  <p:clrMapOvr>
    <a:masterClrMapping/>
  </p:clrMapOvr>
  <p:transition spd="slow"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599382"/>
      </p:ext>
    </p:extLst>
  </p:cSld>
  <p:clrMapOvr>
    <a:masterClrMapping/>
  </p:clrMapOvr>
  <p:transition spd="slow"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226191"/>
      </p:ext>
    </p:extLst>
  </p:cSld>
  <p:clrMapOvr>
    <a:masterClrMapping/>
  </p:clrMapOvr>
  <p:transition spd="slow"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5649"/>
      </p:ext>
    </p:extLst>
  </p:cSld>
  <p:clrMapOvr>
    <a:masterClrMapping/>
  </p:clrMapOvr>
  <p:transition spd="slow"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847952"/>
      </p:ext>
    </p:extLst>
  </p:cSld>
  <p:clrMapOvr>
    <a:masterClrMapping/>
  </p:clrMapOvr>
  <p:transition spd="slow"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42388"/>
      </p:ext>
    </p:extLst>
  </p:cSld>
  <p:clrMapOvr>
    <a:masterClrMapping/>
  </p:clrMapOvr>
  <p:transition spd="slow"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28909"/>
      </p:ext>
    </p:extLst>
  </p:cSld>
  <p:clrMapOvr>
    <a:masterClrMapping/>
  </p:clrMapOvr>
  <p:transition spd="slow"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4987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13130"/>
      </p:ext>
    </p:extLst>
  </p:cSld>
  <p:clrMapOvr>
    <a:masterClrMapping/>
  </p:clrMapOvr>
  <p:hf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6127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9226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03298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459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6161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3609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823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2297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4091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8195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040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6382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14777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460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8374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7942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03280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7626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0846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8367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2511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8333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72933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03705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21436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45080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77024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4312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22243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36901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01920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754979"/>
      </p:ext>
    </p:extLst>
  </p:cSld>
  <p:clrMapOvr>
    <a:masterClrMapping/>
  </p:clrMapOvr>
  <p:transition spd="slow"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0377"/>
      </p:ext>
    </p:extLst>
  </p:cSld>
  <p:clrMapOvr>
    <a:masterClrMapping/>
  </p:clrMapOvr>
  <p:transition spd="slow"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064148"/>
      </p:ext>
    </p:extLst>
  </p:cSld>
  <p:clrMapOvr>
    <a:masterClrMapping/>
  </p:clrMapOvr>
  <p:transition spd="slow"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742752"/>
      </p:ext>
    </p:extLst>
  </p:cSld>
  <p:clrMapOvr>
    <a:masterClrMapping/>
  </p:clrMapOvr>
  <p:transition spd="slow"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9718"/>
      </p:ext>
    </p:extLst>
  </p:cSld>
  <p:clrMapOvr>
    <a:masterClrMapping/>
  </p:clrMapOvr>
  <p:transition spd="slow"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485039"/>
      </p:ext>
    </p:extLst>
  </p:cSld>
  <p:clrMapOvr>
    <a:masterClrMapping/>
  </p:clrMapOvr>
  <p:transition spd="slow"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88109"/>
      </p:ext>
    </p:extLst>
  </p:cSld>
  <p:clrMapOvr>
    <a:masterClrMapping/>
  </p:clrMapOvr>
  <p:transition spd="slow"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331647"/>
      </p:ext>
    </p:extLst>
  </p:cSld>
  <p:clrMapOvr>
    <a:masterClrMapping/>
  </p:clrMapOvr>
  <p:transition spd="slow"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79250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72729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e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E2B1F-3BA7-43D8-54B8-9DA63BB590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D4F25-35BD-D59F-8D88-D390634E6B3E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6679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1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FB1B3E2C-5634-B283-5DA9-CF2AA0C6251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" r="786" b="90698"/>
          <a:stretch/>
        </p:blipFill>
        <p:spPr>
          <a:xfrm>
            <a:off x="0" y="0"/>
            <a:ext cx="12192000" cy="756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3A73D-BC11-784C-91CA-D338A5444653}"/>
              </a:ext>
            </a:extLst>
          </p:cNvPr>
          <p:cNvSpPr txBox="1"/>
          <p:nvPr userDrawn="1"/>
        </p:nvSpPr>
        <p:spPr>
          <a:xfrm rot="16200000">
            <a:off x="-2391618" y="3266444"/>
            <a:ext cx="5420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ICT40120 Certificate IV in Programming</a:t>
            </a:r>
          </a:p>
        </p:txBody>
      </p:sp>
    </p:spTree>
    <p:extLst>
      <p:ext uri="{BB962C8B-B14F-4D97-AF65-F5344CB8AC3E}">
        <p14:creationId xmlns:p14="http://schemas.microsoft.com/office/powerpoint/2010/main" val="3883497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3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5733F300-0A4E-72B7-DE64-0D266581486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t="-1" b="90593"/>
          <a:stretch/>
        </p:blipFill>
        <p:spPr>
          <a:xfrm>
            <a:off x="0" y="0"/>
            <a:ext cx="12192000" cy="76943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0"/>
            <a:biLevel thresh="7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4022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C11DD-A15C-4F20-5497-445A07C596A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5C0C4-2700-5C2E-E243-A32AC6D7823C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54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11DD5-AE95-6FD5-F8ED-581EC21266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93067-C2A8-9188-F67D-1811D395F548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73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A7CC75FF-9724-8147-A0FC-729B7F6418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3C976-4323-BEC4-D794-29DE4A65855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61454-5231-CD4C-E25B-2A0FBF4C772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  <a:biLevel thresh="2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558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C2F6B-FCEF-2A83-9D11-F99C242B3A0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CD787-14C6-1E61-13ED-101927EA526B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9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D6E24-8DEC-3744-9360-4F74DC4CCB8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C2C9F-DCB7-A316-B061-B71274F85B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079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F743F-302A-D5A5-923F-4E3553F2D6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E2B0E-C479-8999-813C-931896F8186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5962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5D370-27CE-1543-DE20-99096E7ED3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791760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A7F89-7143-E432-6480-FB158F149B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678496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5C7F7-5515-9DD4-EE0B-1026F2942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42744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80" t="15106" r="9315" b="9369"/>
          <a:stretch/>
        </p:blipFill>
        <p:spPr>
          <a:xfrm>
            <a:off x="-57876" y="0"/>
            <a:ext cx="12249875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4ABB8-7D50-6384-C614-FB8D78343D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68687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329E7-8084-71E1-C3DE-7E44BA3F9B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536819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36Evo9c8gfU" TargetMode="Externa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br>
              <a:rPr lang="en-AU"/>
            </a:br>
            <a:r>
              <a:rPr lang="en-AU"/>
              <a:t>Web Technologies: Introduction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740E6E62-3521-150E-78A6-322B5A2C9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76761145"/>
              </p:ext>
            </p:extLst>
          </p:nvPr>
        </p:nvGraphicFramePr>
        <p:xfrm>
          <a:off x="1524000" y="3771900"/>
          <a:ext cx="9144000" cy="11125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81537">
                  <a:extLst>
                    <a:ext uri="{9D8B030D-6E8A-4147-A177-3AD203B41FA5}">
                      <a16:colId xmlns:a16="http://schemas.microsoft.com/office/drawing/2014/main" val="3907653306"/>
                    </a:ext>
                  </a:extLst>
                </a:gridCol>
                <a:gridCol w="7462463">
                  <a:extLst>
                    <a:ext uri="{9D8B030D-6E8A-4147-A177-3AD203B41FA5}">
                      <a16:colId xmlns:a16="http://schemas.microsoft.com/office/drawing/2014/main" val="3038254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2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Produce basic client-side script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6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ICTWEB452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Create a markup language document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43322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157-7D4C-4413-9455-A6DCBBD2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A502-DEA4-4E56-A1A3-DFE5B334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/>
              <a:t>This session may include:</a:t>
            </a:r>
            <a:endParaRPr lang="en-AU" dirty="0">
              <a:cs typeface="Calibri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>
                <a:cs typeface="Calibri"/>
              </a:rPr>
              <a:t>HTML </a:t>
            </a:r>
            <a:r>
              <a:rPr lang="en-AU" b="1" i="1" dirty="0" err="1">
                <a:cs typeface="Calibri"/>
              </a:rPr>
              <a:t>img</a:t>
            </a:r>
            <a:r>
              <a:rPr lang="en-AU" dirty="0">
                <a:cs typeface="Calibri"/>
              </a:rPr>
              <a:t> &amp; </a:t>
            </a:r>
            <a:r>
              <a:rPr lang="en-AU" b="1" i="1" dirty="0">
                <a:cs typeface="Calibri"/>
              </a:rPr>
              <a:t>tables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>
                <a:cs typeface="Calibri"/>
              </a:rPr>
              <a:t> JavaScript Introduction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>
                <a:cs typeface="Calibri"/>
              </a:rPr>
              <a:t> Challenge Exercises</a:t>
            </a:r>
          </a:p>
          <a:p>
            <a:pPr marL="914400" lvl="2" indent="0">
              <a:buNone/>
            </a:pPr>
            <a:endParaRPr lang="en-A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025242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HTML Images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831574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en-US" i="1" dirty="0"/>
              <a:t>&lt;</a:t>
            </a:r>
            <a:r>
              <a:rPr lang="en-US" i="1" dirty="0" err="1"/>
              <a:t>img</a:t>
            </a:r>
            <a:r>
              <a:rPr lang="en-US" i="1" dirty="0"/>
              <a:t>&gt; </a:t>
            </a:r>
            <a:r>
              <a:rPr lang="en-US" dirty="0"/>
              <a:t>tag attributes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26374" cy="4039147"/>
          </a:xfrm>
        </p:spPr>
        <p:txBody>
          <a:bodyPr>
            <a:normAutofit fontScale="77500" lnSpcReduction="20000"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 err="1">
                <a:solidFill>
                  <a:schemeClr val="accent3"/>
                </a:solidFill>
              </a:rPr>
              <a:t>src</a:t>
            </a:r>
            <a:r>
              <a:rPr lang="en-AU" dirty="0">
                <a:solidFill>
                  <a:schemeClr val="accent3"/>
                </a:solidFill>
              </a:rPr>
              <a:t>: </a:t>
            </a:r>
            <a:r>
              <a:rPr lang="en-AU" dirty="0"/>
              <a:t>Specifies the path to the image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accent3"/>
                </a:solidFill>
              </a:rPr>
              <a:t>alt: </a:t>
            </a:r>
            <a:r>
              <a:rPr lang="en-AU" dirty="0"/>
              <a:t>Provides alternative text for screen readers and if the image cannot be displayed.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accent3"/>
                </a:solidFill>
              </a:rPr>
              <a:t>width and height: </a:t>
            </a:r>
            <a:r>
              <a:rPr lang="en-AU" dirty="0"/>
              <a:t>Set the dimensions of the image.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accent3"/>
                </a:solidFill>
              </a:rPr>
              <a:t>title: </a:t>
            </a:r>
            <a:r>
              <a:rPr lang="en-AU" dirty="0"/>
              <a:t>Adds a tooltip when the user hovers over the image.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6316910" y="3307736"/>
            <a:ext cx="56374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image.jpg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"Description"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AU" dirty="0">
              <a:solidFill>
                <a:srgbClr val="808080"/>
              </a:solidFill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image.jpg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"Description"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"300"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height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"200"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82748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Relative Paths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4659" y="1686800"/>
            <a:ext cx="5126374" cy="4039147"/>
          </a:xfrm>
        </p:spPr>
        <p:txBody>
          <a:bodyPr>
            <a:normAutofit fontScale="92500" lnSpcReduction="20000"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relative paths are defined in relation to the current location of the HTML file.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used when the image is within the same directory as the HTML file or in a subdirectory of 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696286" y="2673780"/>
            <a:ext cx="56374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AU" dirty="0">
              <a:solidFill>
                <a:srgbClr val="808080"/>
              </a:solidFill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“./image.jpg"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"Description"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"300"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height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"200"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AU" b="0" dirty="0">
              <a:solidFill>
                <a:srgbClr val="808080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"images/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image.jpg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"Description"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20989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Absolute Paths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1331" y="1754841"/>
            <a:ext cx="4494402" cy="3865784"/>
          </a:xfrm>
        </p:spPr>
        <p:txBody>
          <a:bodyPr>
            <a:normAutofit fontScale="92500" lnSpcReduction="10000"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absolute paths specify the full URL or file system path to the image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used when the image is hosted on a different server or in a different directory.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5663268" y="2103329"/>
            <a:ext cx="6324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AU" dirty="0">
              <a:solidFill>
                <a:srgbClr val="808080"/>
              </a:solidFill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example.com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/images/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image.jpg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"Description"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"file://C:/path/to/your/image.jpg"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"Description"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521487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Accessibility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83742" y="1496108"/>
            <a:ext cx="4494402" cy="3865784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the alt attribute in the </a:t>
            </a:r>
            <a:r>
              <a:rPr lang="en-AU" i="1" dirty="0">
                <a:solidFill>
                  <a:schemeClr val="accent3"/>
                </a:solidFill>
              </a:rPr>
              <a:t>&lt;</a:t>
            </a:r>
            <a:r>
              <a:rPr lang="en-AU" i="1" dirty="0" err="1">
                <a:solidFill>
                  <a:schemeClr val="accent3"/>
                </a:solidFill>
              </a:rPr>
              <a:t>img</a:t>
            </a:r>
            <a:r>
              <a:rPr lang="en-AU" i="1" dirty="0">
                <a:solidFill>
                  <a:schemeClr val="accent3"/>
                </a:solidFill>
              </a:rPr>
              <a:t>&gt; </a:t>
            </a:r>
            <a:r>
              <a:rPr lang="en-AU" dirty="0"/>
              <a:t>tag plays a crucial role in accessibility.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providing alternative text for users who cannot see the images.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838200" y="2422111"/>
            <a:ext cx="6324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AU" dirty="0">
              <a:solidFill>
                <a:srgbClr val="808080"/>
              </a:solidFill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profile.jpg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"Portrait of Jane Doe, smiling in a business suit"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button.png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"Image"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482695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Responsive Images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1330" y="1754841"/>
            <a:ext cx="6239311" cy="3865784"/>
          </a:xfrm>
        </p:spPr>
        <p:txBody>
          <a:bodyPr>
            <a:normAutofit lnSpcReduction="10000"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use </a:t>
            </a:r>
            <a:r>
              <a:rPr lang="en-AU" b="1" i="1" dirty="0">
                <a:solidFill>
                  <a:schemeClr val="accent3"/>
                </a:solidFill>
              </a:rPr>
              <a:t>max-width</a:t>
            </a:r>
            <a:r>
              <a:rPr lang="en-AU" dirty="0"/>
              <a:t> to set the max-width property for the image to a percentage value to make it responsive.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ensuring the image never exceeds its container's width.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7738844" y="2640225"/>
            <a:ext cx="36149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max-width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100%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height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auto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0405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Responsive Images 2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79440" y="1863898"/>
            <a:ext cx="6239311" cy="3865784"/>
          </a:xfrm>
        </p:spPr>
        <p:txBody>
          <a:bodyPr>
            <a:normAutofit fontScale="85000" lnSpcReduction="20000"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 err="1">
                <a:solidFill>
                  <a:schemeClr val="accent3"/>
                </a:solidFill>
              </a:rPr>
              <a:t>srcset</a:t>
            </a:r>
            <a:r>
              <a:rPr lang="en-AU" dirty="0"/>
              <a:t> attribute in the </a:t>
            </a:r>
            <a:r>
              <a:rPr lang="en-AU" b="1" dirty="0">
                <a:solidFill>
                  <a:schemeClr val="accent3"/>
                </a:solidFill>
              </a:rPr>
              <a:t>&lt;</a:t>
            </a:r>
            <a:r>
              <a:rPr lang="en-AU" b="1" dirty="0" err="1">
                <a:solidFill>
                  <a:schemeClr val="accent3"/>
                </a:solidFill>
              </a:rPr>
              <a:t>img</a:t>
            </a:r>
            <a:r>
              <a:rPr lang="en-AU" b="1" dirty="0">
                <a:solidFill>
                  <a:schemeClr val="accent3"/>
                </a:solidFill>
              </a:rPr>
              <a:t>&gt; </a:t>
            </a:r>
            <a:r>
              <a:rPr lang="en-AU" dirty="0"/>
              <a:t>tag allows you to provide multiple image sources with different resolutions.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browsers can then choose the most appropriate one based on the user's device.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This can also be achieved with the </a:t>
            </a:r>
            <a:r>
              <a:rPr lang="en-AU" b="1" dirty="0">
                <a:solidFill>
                  <a:schemeClr val="accent3"/>
                </a:solidFill>
              </a:rPr>
              <a:t>&lt;picture&gt; </a:t>
            </a:r>
            <a:r>
              <a:rPr lang="en-AU" dirty="0"/>
              <a:t>HTML element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838199" y="1779687"/>
            <a:ext cx="465658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"image-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small.jpg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"Description"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srcset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	image-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small.jpg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400w,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	image-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medium.jpg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800w,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	image-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large.jpg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1200w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	"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sizes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"(max-width: 600px) 	100vw,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	(max-width: 1200px) 50vw,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	1000px"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/&gt;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167709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Image Formats - Considerations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17599"/>
            <a:ext cx="10389243" cy="4189661"/>
          </a:xfrm>
        </p:spPr>
        <p:txBody>
          <a:bodyPr>
            <a:noAutofit/>
          </a:bodyPr>
          <a:lstStyle/>
          <a:p>
            <a:r>
              <a:rPr lang="en-AU" sz="2400" dirty="0"/>
              <a:t>Balance quality &amp; file size</a:t>
            </a:r>
          </a:p>
          <a:p>
            <a:r>
              <a:rPr lang="en-AU" sz="2400" dirty="0"/>
              <a:t>Match the format to the purpose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sz="2400" dirty="0"/>
              <a:t>JPEG is suitable for photographs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sz="2400" dirty="0"/>
              <a:t>PNG for images with transparency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sz="2400" dirty="0"/>
              <a:t>GIF for simple animations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sz="2400" dirty="0"/>
              <a:t>SVG for scalable vector graphics</a:t>
            </a:r>
          </a:p>
          <a:p>
            <a:r>
              <a:rPr lang="en-AU" sz="2400" dirty="0"/>
              <a:t>Optimise your load times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sz="2400" dirty="0"/>
              <a:t>selecting the appropriate format to optimise loading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sz="2400" dirty="0"/>
              <a:t>crucial for user experience and SEO</a:t>
            </a:r>
          </a:p>
        </p:txBody>
      </p:sp>
    </p:spTree>
    <p:extLst>
      <p:ext uri="{BB962C8B-B14F-4D97-AF65-F5344CB8AC3E}">
        <p14:creationId xmlns:p14="http://schemas.microsoft.com/office/powerpoint/2010/main" val="73983169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Image Formats - Examples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17599"/>
            <a:ext cx="10736485" cy="41896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&lt;!-- JPEG for photographs --&gt;</a:t>
            </a:r>
            <a:endParaRPr lang="en-AU" sz="2000" b="0" dirty="0">
              <a:solidFill>
                <a:srgbClr val="80808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sz="20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sz="20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photo.jpg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"Photograph"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/&gt;</a:t>
            </a:r>
          </a:p>
          <a:p>
            <a:pPr marL="0" indent="0">
              <a:buNone/>
            </a:pPr>
            <a:r>
              <a:rPr lang="en-AU" sz="2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&lt;!-- PNG for images with transparency --&gt;</a:t>
            </a:r>
            <a:b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sz="20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sz="20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icon.png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"Icon"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/&gt;</a:t>
            </a:r>
          </a:p>
          <a:p>
            <a:pPr marL="0" indent="0">
              <a:buNone/>
            </a:pPr>
            <a:r>
              <a:rPr lang="en-AU" sz="2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&lt;!-- GIF for simple animations --&gt;</a:t>
            </a:r>
            <a:b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sz="20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sz="20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animation.gif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"Animation"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/&gt;</a:t>
            </a:r>
          </a:p>
          <a:p>
            <a:pPr marL="0" indent="0">
              <a:buNone/>
            </a:pPr>
            <a:r>
              <a:rPr lang="en-AU" sz="2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&lt;!-- SVG for scalable vector graphics --&gt;</a:t>
            </a:r>
            <a:b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sz="20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svg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"100"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height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"100"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2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xmlns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"http://www.w3.org/2000/</a:t>
            </a:r>
            <a:r>
              <a:rPr lang="en-AU" sz="20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svg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20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</a:t>
            </a:r>
            <a:r>
              <a:rPr lang="en-AU" sz="2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circle</a:t>
            </a:r>
            <a:r>
              <a:rPr lang="en-AU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cx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"50”</a:t>
            </a:r>
            <a:r>
              <a:rPr lang="en-AU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cy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"50”</a:t>
            </a:r>
            <a:r>
              <a:rPr lang="en-AU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"40”</a:t>
            </a:r>
            <a:r>
              <a:rPr lang="en-AU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stroke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"black”</a:t>
            </a:r>
            <a:r>
              <a:rPr lang="en-AU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stroke-width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"2”</a:t>
            </a:r>
            <a:r>
              <a:rPr lang="en-AU" sz="2000" dirty="0">
                <a:solidFill>
                  <a:srgbClr val="D4D4D4"/>
                </a:solidFill>
                <a:latin typeface="Menlo" panose="020B0609030804020204" pitchFamily="49" charset="0"/>
              </a:rPr>
              <a:t> 	</a:t>
            </a:r>
            <a:r>
              <a:rPr lang="en-AU" sz="2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fill</a:t>
            </a:r>
            <a:r>
              <a:rPr lang="en-AU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"red"</a:t>
            </a: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/&gt;</a:t>
            </a:r>
            <a:endParaRPr lang="en-AU" sz="20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sz="20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svg</a:t>
            </a:r>
            <a:r>
              <a:rPr lang="en-AU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20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062493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Lazy Loading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378" y="1875473"/>
            <a:ext cx="5795418" cy="3865784"/>
          </a:xfrm>
        </p:spPr>
        <p:txBody>
          <a:bodyPr>
            <a:normAutofit lnSpcReduction="10000"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accent3"/>
                </a:solidFill>
              </a:rPr>
              <a:t>Lazy loading </a:t>
            </a:r>
            <a:r>
              <a:rPr lang="en-AU" dirty="0"/>
              <a:t>delays the loading of images until they are in or near the user's viewport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This can significantly improve page load times and user experience.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573249" y="3064477"/>
            <a:ext cx="55510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image.jpg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"Description"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loading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"lazy"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866886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Lazy Loading Attribute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85" y="1972832"/>
            <a:ext cx="5795418" cy="3865784"/>
          </a:xfrm>
        </p:spPr>
        <p:txBody>
          <a:bodyPr>
            <a:norm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3"/>
                </a:solidFill>
              </a:rPr>
              <a:t>loading</a:t>
            </a:r>
            <a:r>
              <a:rPr lang="en-AU" dirty="0"/>
              <a:t> attribute allows you to specify how an image should be loaded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accent3"/>
                </a:solidFill>
              </a:rPr>
              <a:t>"lazy" </a:t>
            </a:r>
            <a:r>
              <a:rPr lang="en-AU" dirty="0"/>
              <a:t>for lazy loading and </a:t>
            </a:r>
            <a:r>
              <a:rPr lang="en-AU" dirty="0">
                <a:solidFill>
                  <a:schemeClr val="accent3"/>
                </a:solidFill>
              </a:rPr>
              <a:t>"eager" </a:t>
            </a:r>
            <a:r>
              <a:rPr lang="en-AU" dirty="0"/>
              <a:t>for immediate loading.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6274803" y="2786683"/>
            <a:ext cx="55510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image.jpg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"Description"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loading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"lazy"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image.jpg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"Description"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loading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"eager"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814556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Challenge 1 – Insert Images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85" y="1972832"/>
            <a:ext cx="11292068" cy="3865784"/>
          </a:xfrm>
        </p:spPr>
        <p:txBody>
          <a:bodyPr>
            <a:normAutofit fontScale="62500" lnSpcReduction="20000"/>
          </a:bodyPr>
          <a:lstStyle/>
          <a:p>
            <a:pPr marL="457200" lvl="1" indent="0">
              <a:buNone/>
            </a:pPr>
            <a:r>
              <a:rPr lang="en-AU" dirty="0"/>
              <a:t>Using the &lt;</a:t>
            </a:r>
            <a:r>
              <a:rPr lang="en-AU" dirty="0" err="1"/>
              <a:t>img</a:t>
            </a:r>
            <a:r>
              <a:rPr lang="en-AU" dirty="0"/>
              <a:t>&gt; tag and set the </a:t>
            </a:r>
            <a:r>
              <a:rPr lang="en-AU" dirty="0" err="1"/>
              <a:t>src</a:t>
            </a:r>
            <a:r>
              <a:rPr lang="en-AU" dirty="0"/>
              <a:t>, alt, and optionally, width and height attributes. 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Insert an image in the header section (&lt;header&gt;). </a:t>
            </a:r>
          </a:p>
          <a:p>
            <a:pPr lvl="1"/>
            <a:r>
              <a:rPr lang="en-AU" dirty="0"/>
              <a:t>Within the "Latest News" section, replace one of the news articles' placeholder text with an image. </a:t>
            </a:r>
          </a:p>
          <a:p>
            <a:pPr lvl="1"/>
            <a:r>
              <a:rPr lang="en-AU" dirty="0"/>
              <a:t>In the sidebar (&lt;aside&gt;), add an image that adjusts its size based on the screen width (responsive design). Use CSS to style the image to be a maximum of 100% of the container's width. </a:t>
            </a:r>
          </a:p>
          <a:p>
            <a:pPr lvl="1"/>
            <a:r>
              <a:rPr lang="en-AU" dirty="0"/>
              <a:t>Place an image in the footer section (&lt;footer&gt;). </a:t>
            </a:r>
          </a:p>
          <a:p>
            <a:pPr lvl="1"/>
            <a:r>
              <a:rPr lang="en-AU" b="1" dirty="0"/>
              <a:t>Eager load </a:t>
            </a:r>
            <a:r>
              <a:rPr lang="en-AU" dirty="0"/>
              <a:t>all of your images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1818862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HTML Tables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8560272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Basic Table Structure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73415" cy="403914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accent3"/>
                </a:solidFill>
              </a:rPr>
              <a:t>&lt;table&gt; </a:t>
            </a:r>
            <a:r>
              <a:rPr lang="en-AU" dirty="0"/>
              <a:t>element is used to create a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accent3"/>
                </a:solidFill>
              </a:rPr>
              <a:t>&lt;tr&gt; </a:t>
            </a:r>
            <a:r>
              <a:rPr lang="en-AU" dirty="0"/>
              <a:t>(table row) is used to define a row within the table.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6409447" y="1997839"/>
            <a:ext cx="552405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1, Cell 1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1, Cell 2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2, Cell 1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2, Cell 2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059350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Basic Table Structure 2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73415" cy="403914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accent3"/>
                </a:solidFill>
              </a:rPr>
              <a:t>&lt;</a:t>
            </a:r>
            <a:r>
              <a:rPr lang="en-AU" dirty="0" err="1">
                <a:solidFill>
                  <a:schemeClr val="accent3"/>
                </a:solidFill>
              </a:rPr>
              <a:t>th</a:t>
            </a:r>
            <a:r>
              <a:rPr lang="en-AU" dirty="0">
                <a:solidFill>
                  <a:schemeClr val="accent3"/>
                </a:solidFill>
              </a:rPr>
              <a:t>&gt; </a:t>
            </a:r>
            <a:r>
              <a:rPr lang="en-AU" dirty="0"/>
              <a:t>(table header) tag for improved clarity.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accent3"/>
                </a:solidFill>
              </a:rPr>
              <a:t>&lt;td&gt; </a:t>
            </a:r>
            <a:r>
              <a:rPr lang="en-AU" dirty="0"/>
              <a:t>(table data) table cell to hold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6409447" y="1997839"/>
            <a:ext cx="552405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John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966119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Styling Tables with CSS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2147706"/>
            <a:ext cx="5756443" cy="2562587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CSS can be used to style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including adding borders and background colours.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838200" y="1997839"/>
            <a:ext cx="5257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border-collapse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collapse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100%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border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solid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#ccc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padding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text-align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208369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Table Attributes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6"/>
            <a:ext cx="4138915" cy="28968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We can use both the </a:t>
            </a:r>
            <a:r>
              <a:rPr lang="en-AU" i="1" dirty="0" err="1">
                <a:solidFill>
                  <a:schemeClr val="accent3"/>
                </a:solidFill>
              </a:rPr>
              <a:t>rowspan</a:t>
            </a:r>
            <a:r>
              <a:rPr lang="en-AU" dirty="0"/>
              <a:t> and</a:t>
            </a:r>
            <a:r>
              <a:rPr lang="en-AU" i="1" dirty="0">
                <a:solidFill>
                  <a:schemeClr val="accent3"/>
                </a:solidFill>
              </a:rPr>
              <a:t> </a:t>
            </a:r>
            <a:r>
              <a:rPr lang="en-AU" i="1" dirty="0" err="1">
                <a:solidFill>
                  <a:schemeClr val="accent3"/>
                </a:solidFill>
              </a:rPr>
              <a:t>colspan</a:t>
            </a:r>
            <a:r>
              <a:rPr lang="en-AU" dirty="0"/>
              <a:t> attributes to span rows and columns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5077393" y="335845"/>
            <a:ext cx="696027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table&gt;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1, Cell 1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1, Cell 2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colspan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"2"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AU" dirty="0">
                <a:solidFill>
                  <a:srgbClr val="808080"/>
                </a:solidFill>
                <a:latin typeface="Menlo" panose="020B0609030804020204" pitchFamily="49" charset="0"/>
              </a:rPr>
              <a:t>			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1, Cell 3 and 4</a:t>
            </a:r>
          </a:p>
          <a:p>
            <a:r>
              <a:rPr lang="en-AU" dirty="0">
                <a:solidFill>
                  <a:srgbClr val="D4D4D4"/>
                </a:solidFill>
                <a:latin typeface="Menlo" panose="020B0609030804020204" pitchFamily="49" charset="0"/>
              </a:rPr>
              <a:t>		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rowspan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"2"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AU" dirty="0">
                <a:solidFill>
                  <a:srgbClr val="808080"/>
                </a:solidFill>
                <a:latin typeface="Menlo" panose="020B0609030804020204" pitchFamily="49" charset="0"/>
              </a:rPr>
              <a:t>			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2, Cell 1</a:t>
            </a:r>
          </a:p>
          <a:p>
            <a:r>
              <a:rPr lang="en-AU" dirty="0">
                <a:solidFill>
                  <a:srgbClr val="D4D4D4"/>
                </a:solidFill>
                <a:latin typeface="Menlo" panose="020B0609030804020204" pitchFamily="49" charset="0"/>
              </a:rPr>
              <a:t>		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2, Cell 2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2, Cell 3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2, Cell 4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3, Cell 2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3, Cell 3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	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Row 3, Cell 4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658159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Challenge 2 – Insert a Table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33936"/>
            <a:ext cx="10515600" cy="386578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AU" dirty="0"/>
              <a:t>Add a table containing information about upcoming events to the provided HTML code.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Locate the &lt;aside class="sidebar"&gt; element.</a:t>
            </a:r>
          </a:p>
          <a:p>
            <a:r>
              <a:rPr lang="en-AU" dirty="0"/>
              <a:t>Inside the &lt;aside&gt;, insert an HTML table structure that includes the following columns:</a:t>
            </a:r>
          </a:p>
          <a:p>
            <a:pPr lvl="1"/>
            <a:r>
              <a:rPr lang="en-AU" dirty="0"/>
              <a:t>Event Name</a:t>
            </a:r>
          </a:p>
          <a:p>
            <a:pPr lvl="1"/>
            <a:r>
              <a:rPr lang="en-AU" dirty="0"/>
              <a:t>Date</a:t>
            </a:r>
          </a:p>
          <a:p>
            <a:pPr lvl="1"/>
            <a:r>
              <a:rPr lang="en-AU" dirty="0"/>
              <a:t>Location</a:t>
            </a:r>
          </a:p>
          <a:p>
            <a:r>
              <a:rPr lang="en-AU" dirty="0"/>
              <a:t>Populate the table with three upcoming events, include names, dates, &amp; locations.</a:t>
            </a:r>
          </a:p>
          <a:p>
            <a:r>
              <a:rPr lang="en-AU" dirty="0"/>
              <a:t>Apply CSS styles to the table using "</a:t>
            </a:r>
            <a:r>
              <a:rPr lang="en-AU" dirty="0" err="1"/>
              <a:t>styles.css</a:t>
            </a:r>
            <a:r>
              <a:rPr lang="en-AU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0917314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JavaScript Basics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0962671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JS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1201554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9AFC92-BA41-FD06-211E-0970A0F3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JavaScript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F66146-054A-DF01-3858-8BE6B195B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JavaScript</a:t>
            </a:r>
          </a:p>
          <a:p>
            <a:pPr lvl="1"/>
            <a:r>
              <a:rPr lang="en-AU" dirty="0"/>
              <a:t>Abbreviated to JS</a:t>
            </a:r>
          </a:p>
          <a:p>
            <a:pPr lvl="1"/>
            <a:r>
              <a:rPr lang="en-AU" dirty="0"/>
              <a:t>JavaScript is © Oracle</a:t>
            </a:r>
          </a:p>
          <a:p>
            <a:pPr lvl="1"/>
            <a:r>
              <a:rPr lang="en-AU" dirty="0"/>
              <a:t>Officially called ECMAScript</a:t>
            </a:r>
          </a:p>
          <a:p>
            <a:pPr lvl="1"/>
            <a:r>
              <a:rPr lang="en-AU" dirty="0"/>
              <a:t>ECMA-262 Standard</a:t>
            </a:r>
          </a:p>
          <a:p>
            <a:pPr lvl="1"/>
            <a:r>
              <a:rPr lang="en-AU" dirty="0"/>
              <a:t>2022: ECMA-262 Revision 13</a:t>
            </a:r>
          </a:p>
          <a:p>
            <a:pPr lvl="1"/>
            <a:endParaRPr lang="en-AU" dirty="0"/>
          </a:p>
          <a:p>
            <a:r>
              <a:rPr lang="en-AU" dirty="0"/>
              <a:t>It is </a:t>
            </a:r>
            <a:r>
              <a:rPr lang="en-AU" b="1" dirty="0"/>
              <a:t>not</a:t>
            </a:r>
            <a:r>
              <a:rPr lang="en-AU" dirty="0"/>
              <a:t> Java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378FF9-F449-E676-8ECB-B59619C4F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020" y="2520950"/>
            <a:ext cx="1287780" cy="1816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E5A194-A9E1-63F9-E764-2E0335FA27D8}"/>
              </a:ext>
            </a:extLst>
          </p:cNvPr>
          <p:cNvSpPr txBox="1"/>
          <p:nvPr/>
        </p:nvSpPr>
        <p:spPr>
          <a:xfrm>
            <a:off x="10066020" y="4348876"/>
            <a:ext cx="12877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00" dirty="0"/>
              <a:t>Possible JS Logo</a:t>
            </a:r>
          </a:p>
        </p:txBody>
      </p:sp>
    </p:spTree>
    <p:extLst>
      <p:ext uri="{BB962C8B-B14F-4D97-AF65-F5344CB8AC3E}">
        <p14:creationId xmlns:p14="http://schemas.microsoft.com/office/powerpoint/2010/main" val="445053822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9AFC92-BA41-FD06-211E-0970A0F3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JavaScript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F66146-054A-DF01-3858-8BE6B195B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4011" cy="426294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AU" sz="3200" dirty="0"/>
              <a:t>ECMAScript:</a:t>
            </a:r>
          </a:p>
          <a:p>
            <a:pPr lvl="1">
              <a:lnSpc>
                <a:spcPct val="110000"/>
              </a:lnSpc>
            </a:pPr>
            <a:r>
              <a:rPr lang="en-AU" sz="2800" dirty="0"/>
              <a:t>ECMA-262 specification is a blueprint for creating a scripting language. </a:t>
            </a:r>
          </a:p>
          <a:p>
            <a:pPr lvl="1">
              <a:lnSpc>
                <a:spcPct val="110000"/>
              </a:lnSpc>
            </a:pPr>
            <a:r>
              <a:rPr lang="en-AU" sz="2800" dirty="0"/>
              <a:t>The “Official” name for JavaScript</a:t>
            </a:r>
          </a:p>
          <a:p>
            <a:pPr>
              <a:lnSpc>
                <a:spcPct val="110000"/>
              </a:lnSpc>
            </a:pPr>
            <a:r>
              <a:rPr lang="en-AU" sz="3200" dirty="0"/>
              <a:t>JavaScript:</a:t>
            </a:r>
          </a:p>
          <a:p>
            <a:pPr lvl="1">
              <a:lnSpc>
                <a:spcPct val="110000"/>
              </a:lnSpc>
            </a:pPr>
            <a:r>
              <a:rPr lang="en-AU" sz="2800" dirty="0"/>
              <a:t>general-purpose scripting language.</a:t>
            </a:r>
          </a:p>
          <a:p>
            <a:pPr lvl="1">
              <a:lnSpc>
                <a:spcPct val="110000"/>
              </a:lnSpc>
            </a:pPr>
            <a:r>
              <a:rPr lang="en-AU" sz="2800" dirty="0"/>
              <a:t>conforms to the ECMAScript specification. </a:t>
            </a:r>
          </a:p>
          <a:p>
            <a:pPr lvl="1">
              <a:lnSpc>
                <a:spcPct val="110000"/>
              </a:lnSpc>
            </a:pPr>
            <a:r>
              <a:rPr lang="en-AU" sz="2800" dirty="0"/>
              <a:t>is an implementation of that blueprint. </a:t>
            </a:r>
          </a:p>
          <a:p>
            <a:pPr lvl="1">
              <a:lnSpc>
                <a:spcPct val="110000"/>
              </a:lnSpc>
            </a:pPr>
            <a:r>
              <a:rPr lang="en-AU" sz="2800" dirty="0"/>
              <a:t>implements the ECMAScript specification.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4186B5F-E31A-4167-FFCA-ECF9D878C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3800" y="4001294"/>
            <a:ext cx="1800000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EF7A3F-5067-637C-EB08-1BAC00DA7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800" y="1825625"/>
            <a:ext cx="1800000" cy="18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FFF727-EED0-CDC3-C7F8-504E9E1A578F}"/>
              </a:ext>
            </a:extLst>
          </p:cNvPr>
          <p:cNvSpPr txBox="1"/>
          <p:nvPr/>
        </p:nvSpPr>
        <p:spPr>
          <a:xfrm>
            <a:off x="9553798" y="5857733"/>
            <a:ext cx="1800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00" dirty="0"/>
              <a:t>Other Common JS Logo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0D451-675C-16C6-2E86-B6138AD8BFF2}"/>
              </a:ext>
            </a:extLst>
          </p:cNvPr>
          <p:cNvSpPr txBox="1"/>
          <p:nvPr/>
        </p:nvSpPr>
        <p:spPr>
          <a:xfrm>
            <a:off x="9553798" y="3682064"/>
            <a:ext cx="180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00" dirty="0"/>
              <a:t>Possible ECMAScript Logo</a:t>
            </a:r>
          </a:p>
        </p:txBody>
      </p:sp>
    </p:spTree>
    <p:extLst>
      <p:ext uri="{BB962C8B-B14F-4D97-AF65-F5344CB8AC3E}">
        <p14:creationId xmlns:p14="http://schemas.microsoft.com/office/powerpoint/2010/main" val="39083149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49A6-0A36-C2A1-8122-2BD7A3365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Where to use 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2E470-C41B-0800-9A92-BC6FF7F39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rgbClr val="001030"/>
          </a:solidFill>
        </p:spPr>
        <p:txBody>
          <a:bodyPr/>
          <a:lstStyle/>
          <a:p>
            <a:r>
              <a:rPr lang="en-AU" dirty="0"/>
              <a:t>Front-End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5819F-EC30-0713-C062-AF47CED14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002060"/>
          </a:solidFill>
        </p:spPr>
        <p:txBody>
          <a:bodyPr>
            <a:normAutofit/>
          </a:bodyPr>
          <a:lstStyle/>
          <a:p>
            <a:pPr lvl="1"/>
            <a:r>
              <a:rPr lang="en-AU" dirty="0"/>
              <a:t>Web Browser</a:t>
            </a:r>
          </a:p>
          <a:p>
            <a:pPr lvl="1"/>
            <a:r>
              <a:rPr lang="en-AU" dirty="0"/>
              <a:t>Desktop</a:t>
            </a:r>
          </a:p>
          <a:p>
            <a:pPr lvl="2"/>
            <a:r>
              <a:rPr lang="en-AU" dirty="0"/>
              <a:t>Electron</a:t>
            </a:r>
          </a:p>
          <a:p>
            <a:pPr lvl="2"/>
            <a:r>
              <a:rPr lang="en-AU" dirty="0" err="1"/>
              <a:t>NW.js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4D1D3-680B-FC78-B25F-D08C7A5C6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solidFill>
            <a:srgbClr val="1B0000"/>
          </a:solidFill>
        </p:spPr>
        <p:txBody>
          <a:bodyPr/>
          <a:lstStyle/>
          <a:p>
            <a:r>
              <a:rPr lang="en-AU" dirty="0"/>
              <a:t>Back-End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381BA-D092-1685-3967-20FD94C08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solidFill>
            <a:srgbClr val="800001"/>
          </a:solidFill>
        </p:spPr>
        <p:txBody>
          <a:bodyPr>
            <a:normAutofit/>
          </a:bodyPr>
          <a:lstStyle/>
          <a:p>
            <a:pPr lvl="1"/>
            <a:r>
              <a:rPr lang="en-AU" dirty="0"/>
              <a:t>Server based</a:t>
            </a:r>
          </a:p>
          <a:p>
            <a:pPr lvl="1"/>
            <a:r>
              <a:rPr lang="en-AU" dirty="0"/>
              <a:t>Server Run-times</a:t>
            </a:r>
          </a:p>
          <a:p>
            <a:pPr lvl="2"/>
            <a:r>
              <a:rPr lang="en-AU" dirty="0"/>
              <a:t>NodeJS</a:t>
            </a:r>
          </a:p>
          <a:p>
            <a:pPr lvl="2"/>
            <a:r>
              <a:rPr lang="en-AU" dirty="0"/>
              <a:t>Bun</a:t>
            </a:r>
          </a:p>
          <a:p>
            <a:pPr lvl="2"/>
            <a:r>
              <a:rPr lang="en-AU" dirty="0" err="1"/>
              <a:t>Deno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583446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Front-End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ED46-7272-9488-BD53-105D8B47708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001030"/>
          </a:solidFill>
        </p:spPr>
        <p:txBody>
          <a:bodyPr/>
          <a:lstStyle/>
          <a:p>
            <a:r>
              <a:rPr lang="en-AU" dirty="0"/>
              <a:t>Examples:</a:t>
            </a:r>
          </a:p>
          <a:p>
            <a:pPr lvl="1"/>
            <a:r>
              <a:rPr lang="en-AU" dirty="0"/>
              <a:t>interact with user input</a:t>
            </a:r>
          </a:p>
          <a:p>
            <a:pPr lvl="1"/>
            <a:r>
              <a:rPr lang="en-AU" dirty="0"/>
              <a:t>alter the content of the page displayed</a:t>
            </a:r>
          </a:p>
          <a:p>
            <a:pPr lvl="1"/>
            <a:r>
              <a:rPr lang="en-AU" dirty="0"/>
              <a:t>validate form data before sending it to the server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9014208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Back-End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ED46-7272-9488-BD53-105D8B47708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1B0000"/>
          </a:solidFill>
        </p:spPr>
        <p:txBody>
          <a:bodyPr/>
          <a:lstStyle/>
          <a:p>
            <a:r>
              <a:rPr lang="en-AU" dirty="0"/>
              <a:t>Examples:</a:t>
            </a:r>
          </a:p>
          <a:p>
            <a:pPr lvl="1"/>
            <a:r>
              <a:rPr lang="en-AU" dirty="0"/>
              <a:t>write files to disk</a:t>
            </a:r>
          </a:p>
          <a:p>
            <a:pPr lvl="1"/>
            <a:r>
              <a:rPr lang="en-AU" dirty="0"/>
              <a:t>persist data to a database, or fetch data from it</a:t>
            </a:r>
          </a:p>
          <a:p>
            <a:pPr lvl="1"/>
            <a:r>
              <a:rPr lang="en-AU" dirty="0"/>
              <a:t>interact with the operating system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9297945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ED46-7272-9488-BD53-105D8B477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AU" dirty="0"/>
              <a:t>JavaScript is a “C-Style language”</a:t>
            </a:r>
            <a:br>
              <a:rPr lang="en-AU" dirty="0"/>
            </a:br>
            <a:r>
              <a:rPr lang="en-AU" dirty="0"/>
              <a:t>that is, it is similar in syntax to:</a:t>
            </a:r>
          </a:p>
          <a:p>
            <a:pPr lvl="1">
              <a:lnSpc>
                <a:spcPct val="110000"/>
              </a:lnSpc>
            </a:pPr>
            <a:r>
              <a:rPr lang="en-AU" dirty="0"/>
              <a:t>C, C++, C#, PHP, Hack, Rust and others</a:t>
            </a:r>
          </a:p>
          <a:p>
            <a:pPr>
              <a:lnSpc>
                <a:spcPct val="110000"/>
              </a:lnSpc>
            </a:pPr>
            <a:endParaRPr lang="en-AU" dirty="0"/>
          </a:p>
          <a:p>
            <a:pPr marL="0" indent="0">
              <a:lnSpc>
                <a:spcPct val="110000"/>
              </a:lnSpc>
              <a:buNone/>
            </a:pPr>
            <a:r>
              <a:rPr lang="en-AU" i="1" dirty="0">
                <a:solidFill>
                  <a:srgbClr val="FFC000"/>
                </a:solidFill>
              </a:rPr>
              <a:t>Use your prior coding experience</a:t>
            </a:r>
            <a:br>
              <a:rPr lang="en-AU" i="1" dirty="0">
                <a:solidFill>
                  <a:srgbClr val="FFC000"/>
                </a:solidFill>
              </a:rPr>
            </a:br>
            <a:r>
              <a:rPr lang="en-AU" i="1" dirty="0">
                <a:solidFill>
                  <a:srgbClr val="FFC000"/>
                </a:solidFill>
              </a:rPr>
              <a:t>when learning JavaScript</a:t>
            </a:r>
          </a:p>
        </p:txBody>
      </p:sp>
    </p:spTree>
    <p:extLst>
      <p:ext uri="{BB962C8B-B14F-4D97-AF65-F5344CB8AC3E}">
        <p14:creationId xmlns:p14="http://schemas.microsoft.com/office/powerpoint/2010/main" val="3510868528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Embedded JS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EB21F-184D-E923-2C0D-2FE4AFC93129}"/>
              </a:ext>
            </a:extLst>
          </p:cNvPr>
          <p:cNvSpPr txBox="1"/>
          <p:nvPr/>
        </p:nvSpPr>
        <p:spPr>
          <a:xfrm>
            <a:off x="838200" y="1690688"/>
            <a:ext cx="55154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800" dirty="0"/>
              <a:t>executed immediately when encountered in HTML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800" dirty="0"/>
              <a:t>interacts directly with the HTML so you can update or modify elements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800" dirty="0"/>
              <a:t>lacks code reusability compared to external JavaScript files.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800" dirty="0"/>
              <a:t>often used for simple interactions or adjustments to web pages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BAD46-5D2A-53DB-4414-7DB032892A48}"/>
              </a:ext>
            </a:extLst>
          </p:cNvPr>
          <p:cNvSpPr txBox="1"/>
          <p:nvPr/>
        </p:nvSpPr>
        <p:spPr>
          <a:xfrm>
            <a:off x="7199085" y="2690336"/>
            <a:ext cx="51235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&lt;!-- Embedded </a:t>
            </a:r>
            <a:r>
              <a:rPr lang="en-AU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Javascript</a:t>
            </a: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--&gt;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AU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AU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'Hello from 	Embedded JavaScript!'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17753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External JS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EB21F-184D-E923-2C0D-2FE4AFC93129}"/>
              </a:ext>
            </a:extLst>
          </p:cNvPr>
          <p:cNvSpPr txBox="1"/>
          <p:nvPr/>
        </p:nvSpPr>
        <p:spPr>
          <a:xfrm>
            <a:off x="6096000" y="1712233"/>
            <a:ext cx="56932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/>
              <a:t>helps maintain a cleaner and more organized structure in web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/>
              <a:t>reuse the same code across multiple web pages.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/>
              <a:t>files can be edited independently making it easier to maintain the functionality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/>
              <a:t>files are cached by the browser &amp; only need to be downloaded once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BAD46-5D2A-53DB-4414-7DB032892A48}"/>
              </a:ext>
            </a:extLst>
          </p:cNvPr>
          <p:cNvSpPr txBox="1"/>
          <p:nvPr/>
        </p:nvSpPr>
        <p:spPr>
          <a:xfrm>
            <a:off x="647700" y="2752517"/>
            <a:ext cx="55299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&lt;!-- External </a:t>
            </a:r>
            <a:r>
              <a:rPr lang="en-AU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Javascript</a:t>
            </a: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--&gt;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"/assets/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js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scripts.js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A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AU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59645261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5257800" cy="921254"/>
          </a:xfrm>
        </p:spPr>
        <p:txBody>
          <a:bodyPr/>
          <a:lstStyle/>
          <a:p>
            <a:r>
              <a:rPr lang="en-AU" dirty="0"/>
              <a:t>Chrome Dev 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EB21F-184D-E923-2C0D-2FE4AFC93129}"/>
              </a:ext>
            </a:extLst>
          </p:cNvPr>
          <p:cNvSpPr txBox="1"/>
          <p:nvPr/>
        </p:nvSpPr>
        <p:spPr>
          <a:xfrm>
            <a:off x="838200" y="1690688"/>
            <a:ext cx="49443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Console</a:t>
            </a:r>
            <a:r>
              <a:rPr lang="en-AU" sz="2400" dirty="0"/>
              <a:t>: Execute JavaScript code and view logs.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Sources</a:t>
            </a:r>
            <a:r>
              <a:rPr lang="en-AU" sz="2400" dirty="0"/>
              <a:t>: Set breakpoints, step through code, and inspect variables.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Network</a:t>
            </a:r>
            <a:r>
              <a:rPr lang="en-AU" sz="2400" dirty="0"/>
              <a:t>: Monitor requests and responses when working with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Performance</a:t>
            </a:r>
            <a:r>
              <a:rPr lang="en-AU" sz="2400" dirty="0"/>
              <a:t>: Analyse JavaScript performance and optimize code.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7BA6294-B343-4F5B-4587-28AD128F7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90" y="769434"/>
            <a:ext cx="5100366" cy="57238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75CCAC-14CE-2A9D-5F86-D3A522AFC9A6}"/>
              </a:ext>
            </a:extLst>
          </p:cNvPr>
          <p:cNvSpPr txBox="1"/>
          <p:nvPr/>
        </p:nvSpPr>
        <p:spPr>
          <a:xfrm>
            <a:off x="6488890" y="4383549"/>
            <a:ext cx="5591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AU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AU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‘Run from the console'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24320714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IDE - WebStorm</a:t>
            </a:r>
          </a:p>
        </p:txBody>
      </p:sp>
      <p:pic>
        <p:nvPicPr>
          <p:cNvPr id="7" name="Picture 6" descr="A logo with a black square with white letters and blue and yellow squares&#10;&#10;Description automatically generated">
            <a:extLst>
              <a:ext uri="{FF2B5EF4-FFF2-40B4-BE49-F238E27FC236}">
                <a16:creationId xmlns:a16="http://schemas.microsoft.com/office/drawing/2014/main" id="{47ECE34D-1442-E90E-7D5E-5880EC2E7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7EB21F-184D-E923-2C0D-2FE4AFC93129}"/>
              </a:ext>
            </a:extLst>
          </p:cNvPr>
          <p:cNvSpPr txBox="1"/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2200">
                <a:solidFill>
                  <a:schemeClr val="tx1">
                    <a:lumMod val="95000"/>
                  </a:schemeClr>
                </a:solidFill>
              </a:rPr>
              <a:t>Code editing with intelligent code completion, code analysis, and refactoring tools.</a:t>
            </a:r>
          </a:p>
          <a:p>
            <a:pPr marL="3429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2200">
                <a:solidFill>
                  <a:schemeClr val="tx1">
                    <a:lumMod val="95000"/>
                  </a:schemeClr>
                </a:solidFill>
              </a:rPr>
              <a:t>Integration with Git for source code management.</a:t>
            </a:r>
          </a:p>
          <a:p>
            <a:pPr marL="3429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2200">
                <a:solidFill>
                  <a:schemeClr val="tx1">
                    <a:lumMod val="95000"/>
                  </a:schemeClr>
                </a:solidFill>
              </a:rPr>
              <a:t>Debug JavaScript code with breakpoints, watches, and call stack navigation.</a:t>
            </a:r>
          </a:p>
          <a:p>
            <a:pPr marL="3429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2200">
                <a:solidFill>
                  <a:schemeClr val="tx1">
                    <a:lumMod val="95000"/>
                  </a:schemeClr>
                </a:solidFill>
              </a:rPr>
              <a:t>Develop server-side JavaScript applications using Node.js.</a:t>
            </a:r>
          </a:p>
          <a:p>
            <a:pPr marL="3429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2200">
                <a:solidFill>
                  <a:schemeClr val="tx1">
                    <a:lumMod val="95000"/>
                  </a:schemeClr>
                </a:solidFill>
              </a:rPr>
              <a:t>Manage packages and dependencies effortlessly with npm integration.</a:t>
            </a:r>
          </a:p>
        </p:txBody>
      </p:sp>
    </p:spTree>
    <p:extLst>
      <p:ext uri="{BB962C8B-B14F-4D97-AF65-F5344CB8AC3E}">
        <p14:creationId xmlns:p14="http://schemas.microsoft.com/office/powerpoint/2010/main" val="1634538303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1033"/>
            <a:ext cx="10515600" cy="1209837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Challenge 3 – Use an external/embedded JavaScript</a:t>
            </a:r>
            <a:br>
              <a:rPr lang="en-AU" b="1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79270"/>
            <a:ext cx="10515600" cy="3865784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Create an external JavaScript file (/assets/</a:t>
            </a:r>
            <a:r>
              <a:rPr lang="en-AU" dirty="0" err="1"/>
              <a:t>js</a:t>
            </a:r>
            <a:r>
              <a:rPr lang="en-AU" dirty="0"/>
              <a:t>/</a:t>
            </a:r>
            <a:r>
              <a:rPr lang="en-AU" dirty="0" err="1"/>
              <a:t>scripts.js</a:t>
            </a:r>
            <a:r>
              <a:rPr lang="en-AU" dirty="0"/>
              <a:t>) that logs the message "Hello, External JavaScript!" to the console when the page loads.</a:t>
            </a:r>
          </a:p>
          <a:p>
            <a:r>
              <a:rPr lang="en-AU" dirty="0"/>
              <a:t>Embed JavaScript within the HTML document to log  "Hello, Embedded JavaScript!" to the console when the page loads.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255804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0690"/>
            <a:ext cx="10515600" cy="1209837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Challenge 4 – Use the Chrome Dev tools Debugger</a:t>
            </a:r>
            <a:br>
              <a:rPr lang="en-AU" b="1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85478"/>
            <a:ext cx="10515600" cy="3044795"/>
          </a:xfrm>
        </p:spPr>
        <p:txBody>
          <a:bodyPr>
            <a:normAutofit/>
          </a:bodyPr>
          <a:lstStyle/>
          <a:p>
            <a:r>
              <a:rPr lang="en-AU" dirty="0"/>
              <a:t>Download the Debugger challenge code &amp; instructions from blackboard</a:t>
            </a:r>
          </a:p>
          <a:p>
            <a:r>
              <a:rPr lang="en-AU" dirty="0"/>
              <a:t>Create an external JS file in your project &amp; follow steps 1-10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1190138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0690"/>
            <a:ext cx="10515600" cy="1209837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Modern HTML &amp; JS</a:t>
            </a:r>
            <a:br>
              <a:rPr lang="en-AU" b="1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05062"/>
            <a:ext cx="5257800" cy="3441831"/>
          </a:xfrm>
        </p:spPr>
        <p:txBody>
          <a:bodyPr>
            <a:normAutofit fontScale="77500" lnSpcReduction="20000"/>
          </a:bodyPr>
          <a:lstStyle/>
          <a:p>
            <a:r>
              <a:rPr lang="en-AU" dirty="0"/>
              <a:t>modern HTML allows us to create reusable HTML elements.</a:t>
            </a:r>
          </a:p>
          <a:p>
            <a:r>
              <a:rPr lang="en-AU" dirty="0"/>
              <a:t>these custom HTML structures can be used as components</a:t>
            </a:r>
          </a:p>
          <a:p>
            <a:r>
              <a:rPr lang="en-AU" dirty="0"/>
              <a:t>they use JavaScript classes as blueprints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2DEDF-90B5-D385-0E8B-F34CDDA69D6E}"/>
              </a:ext>
            </a:extLst>
          </p:cNvPr>
          <p:cNvSpPr txBox="1"/>
          <p:nvPr/>
        </p:nvSpPr>
        <p:spPr>
          <a:xfrm>
            <a:off x="6096000" y="2906064"/>
            <a:ext cx="55717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A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A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Use the custom web component --&gt;</a:t>
            </a:r>
            <a:endParaRPr lang="en-A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hello-world</a:t>
            </a:r>
            <a:r>
              <a:rPr lang="en-A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hello-world</a:t>
            </a:r>
            <a:r>
              <a:rPr lang="en-A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A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A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A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B7EF1-AA31-ED5A-5009-D019D72559A3}"/>
              </a:ext>
            </a:extLst>
          </p:cNvPr>
          <p:cNvSpPr txBox="1"/>
          <p:nvPr/>
        </p:nvSpPr>
        <p:spPr>
          <a:xfrm>
            <a:off x="838200" y="5805477"/>
            <a:ext cx="9509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i="1" dirty="0">
                <a:solidFill>
                  <a:schemeClr val="accent1"/>
                </a:solidFill>
              </a:rPr>
              <a:t>Both HTML and JavaScript are using the Document Object Model (DOM) ….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4278337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0690"/>
            <a:ext cx="10515600" cy="1209837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Challenge 5 </a:t>
            </a:r>
            <a:br>
              <a:rPr lang="en-AU" b="1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85478"/>
            <a:ext cx="10515600" cy="3044795"/>
          </a:xfrm>
        </p:spPr>
        <p:txBody>
          <a:bodyPr>
            <a:normAutofit/>
          </a:bodyPr>
          <a:lstStyle/>
          <a:p>
            <a:r>
              <a:rPr lang="en-AU" dirty="0"/>
              <a:t>Use the challenge-5.html code to build your own custom component</a:t>
            </a:r>
          </a:p>
          <a:p>
            <a:r>
              <a:rPr lang="en-AU" dirty="0"/>
              <a:t>Place this component in the aside element in the index.html</a:t>
            </a:r>
          </a:p>
        </p:txBody>
      </p:sp>
    </p:spTree>
    <p:extLst>
      <p:ext uri="{BB962C8B-B14F-4D97-AF65-F5344CB8AC3E}">
        <p14:creationId xmlns:p14="http://schemas.microsoft.com/office/powerpoint/2010/main" val="682989300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Video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ED46-7272-9488-BD53-105D8B477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JavaScript Tutorial For Beginners - Intro + </a:t>
            </a:r>
            <a:r>
              <a:rPr lang="en-AU" dirty="0" err="1"/>
              <a:t>VSCode</a:t>
            </a:r>
            <a:r>
              <a:rPr lang="en-AU" dirty="0"/>
              <a:t> Setup</a:t>
            </a:r>
          </a:p>
          <a:p>
            <a:pPr marL="0" indent="0">
              <a:buNone/>
            </a:pPr>
            <a:endParaRPr lang="en-AU" dirty="0">
              <a:solidFill>
                <a:srgbClr val="75D5FF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AU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https://youtu.be/36Evo9c8gfU</a:t>
            </a:r>
            <a:endParaRPr lang="en-AU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71510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9B867-F86C-9F53-2C09-210C6FDE683C}"/>
              </a:ext>
            </a:extLst>
          </p:cNvPr>
          <p:cNvSpPr txBox="1"/>
          <p:nvPr/>
        </p:nvSpPr>
        <p:spPr>
          <a:xfrm>
            <a:off x="1" y="1272618"/>
            <a:ext cx="1219199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56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141566846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C92A6A38-762D-4D1E-84F6-35B86993516B}"/>
    </a:ext>
  </a:extLst>
</a:theme>
</file>

<file path=ppt/theme/theme2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3.xml><?xml version="1.0" encoding="utf-8"?>
<a:theme xmlns:a="http://schemas.openxmlformats.org/drawingml/2006/main" name="9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4.xml><?xml version="1.0" encoding="utf-8"?>
<a:theme xmlns:a="http://schemas.openxmlformats.org/drawingml/2006/main" name="3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74005428-A334-41FB-9C76-B70EADF29CBB}"/>
    </a:ext>
  </a:extLst>
</a:theme>
</file>

<file path=ppt/theme/theme5.xml><?xml version="1.0" encoding="utf-8"?>
<a:theme xmlns:a="http://schemas.openxmlformats.org/drawingml/2006/main" name="4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B2A232E-75D7-4897-BB1C-74DF42300102}"/>
    </a:ext>
  </a:extLst>
</a:theme>
</file>

<file path=ppt/theme/theme6.xml><?xml version="1.0" encoding="utf-8"?>
<a:theme xmlns:a="http://schemas.openxmlformats.org/drawingml/2006/main" name="5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B197BA3C-52E1-452E-9ECF-A8FC308A75CB}"/>
    </a:ext>
  </a:extLst>
</a:theme>
</file>

<file path=ppt/theme/theme7.xml><?xml version="1.0" encoding="utf-8"?>
<a:theme xmlns:a="http://schemas.openxmlformats.org/drawingml/2006/main" name="TAFE-Dark-BG-animated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091D9253-E664-4300-BB76-B0EA74ABD4E3}"/>
    </a:ext>
  </a:extLst>
</a:theme>
</file>

<file path=ppt/theme/theme8.xml><?xml version="1.0" encoding="utf-8"?>
<a:theme xmlns:a="http://schemas.openxmlformats.org/drawingml/2006/main" name="6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5315164-D39B-4AAC-B304-B1A2B031A95B}"/>
    </a:ext>
  </a:extLst>
</a:theme>
</file>

<file path=ppt/theme/theme9.xml><?xml version="1.0" encoding="utf-8"?>
<a:theme xmlns:a="http://schemas.openxmlformats.org/drawingml/2006/main" name="7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53110149-A4D3-4904-BBE1-036CB5C878D3}"/>
    </a:ext>
  </a:extLst>
</a:theme>
</file>

<file path=ppt/theme/theme10.xml><?xml version="1.0" encoding="utf-8"?>
<a:theme xmlns:a="http://schemas.openxmlformats.org/drawingml/2006/main" name="1_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C" id="{512C2FDB-8C93-844A-9C7C-E16B2F56908F}" vid="{F409DB23-9C1D-2B4A-B99D-0844671217B0}"/>
    </a:ext>
  </a:extLst>
</a:theme>
</file>

<file path=ppt/theme/theme11.xml><?xml version="1.0" encoding="utf-8"?>
<a:theme xmlns:a="http://schemas.openxmlformats.org/drawingml/2006/main" name="10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AFE-White-BG-B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B" id="{2956925C-A3E0-A44D-A1CA-96DE5E326E72}" vid="{BF725D3F-94CF-3B48-BC06-35479312206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Presentation-2023</Template>
  <TotalTime>242</TotalTime>
  <Words>2277</Words>
  <Application>Microsoft Office PowerPoint</Application>
  <PresentationFormat>Widescreen</PresentationFormat>
  <Paragraphs>322</Paragraphs>
  <Slides>38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38</vt:i4>
      </vt:variant>
    </vt:vector>
  </HeadingPairs>
  <TitlesOfParts>
    <vt:vector size="59" baseType="lpstr">
      <vt:lpstr>Arial</vt:lpstr>
      <vt:lpstr>Calibri</vt:lpstr>
      <vt:lpstr>Calibri Light</vt:lpstr>
      <vt:lpstr>Consolas</vt:lpstr>
      <vt:lpstr>Courier New</vt:lpstr>
      <vt:lpstr>Fira Code</vt:lpstr>
      <vt:lpstr>Menlo</vt:lpstr>
      <vt:lpstr>TAFE-White-BG-C</vt:lpstr>
      <vt:lpstr>8_Office Theme</vt:lpstr>
      <vt:lpstr>9_Office Theme</vt:lpstr>
      <vt:lpstr>3_Office Theme</vt:lpstr>
      <vt:lpstr>4_Office Theme</vt:lpstr>
      <vt:lpstr>5_Office Theme</vt:lpstr>
      <vt:lpstr>TAFE-Dark-BG-animated</vt:lpstr>
      <vt:lpstr>6_Office Theme</vt:lpstr>
      <vt:lpstr>7_Office Theme</vt:lpstr>
      <vt:lpstr>1_TAFE-White-BG-C</vt:lpstr>
      <vt:lpstr>10_Office Theme</vt:lpstr>
      <vt:lpstr>11_Office Theme</vt:lpstr>
      <vt:lpstr>12_Office Theme</vt:lpstr>
      <vt:lpstr>TAFE-White-BG-B</vt:lpstr>
      <vt:lpstr> Web Technologies: Introduction</vt:lpstr>
      <vt:lpstr>Overview</vt:lpstr>
      <vt:lpstr> HTML Images</vt:lpstr>
      <vt:lpstr>HTML &lt;img&gt; tag attributes</vt:lpstr>
      <vt:lpstr>Relative Paths</vt:lpstr>
      <vt:lpstr>Absolute Paths</vt:lpstr>
      <vt:lpstr>Accessibility</vt:lpstr>
      <vt:lpstr>Responsive Images</vt:lpstr>
      <vt:lpstr>Responsive Images 2</vt:lpstr>
      <vt:lpstr>Image Formats - Considerations</vt:lpstr>
      <vt:lpstr>Image Formats - Examples</vt:lpstr>
      <vt:lpstr>Lazy Loading</vt:lpstr>
      <vt:lpstr>Lazy Loading Attribute</vt:lpstr>
      <vt:lpstr>Challenge 1 – Insert Images</vt:lpstr>
      <vt:lpstr> HTML Tables</vt:lpstr>
      <vt:lpstr>Basic Table Structure</vt:lpstr>
      <vt:lpstr>Basic Table Structure 2</vt:lpstr>
      <vt:lpstr>Styling Tables with CSS</vt:lpstr>
      <vt:lpstr>Table Attributes</vt:lpstr>
      <vt:lpstr>Challenge 2 – Insert a Table</vt:lpstr>
      <vt:lpstr> JavaScript Basics</vt:lpstr>
      <vt:lpstr>What is JS</vt:lpstr>
      <vt:lpstr>What is JavaScript</vt:lpstr>
      <vt:lpstr>What is JavaScript</vt:lpstr>
      <vt:lpstr>Where to use it</vt:lpstr>
      <vt:lpstr>Front-End</vt:lpstr>
      <vt:lpstr>Back-End</vt:lpstr>
      <vt:lpstr>Fundamentals</vt:lpstr>
      <vt:lpstr>Embedded JS</vt:lpstr>
      <vt:lpstr>External JS</vt:lpstr>
      <vt:lpstr>Chrome Dev Tools</vt:lpstr>
      <vt:lpstr>IDE - WebStorm</vt:lpstr>
      <vt:lpstr>Challenge 3 – Use an external/embedded JavaScript </vt:lpstr>
      <vt:lpstr>Challenge 4 – Use the Chrome Dev tools Debugger </vt:lpstr>
      <vt:lpstr>Modern HTML &amp; JS </vt:lpstr>
      <vt:lpstr>Challenge 5  </vt:lpstr>
      <vt:lpstr>Video 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 Introduction</dc:title>
  <dc:creator>Adrian Gould</dc:creator>
  <cp:lastModifiedBy>John Robertson</cp:lastModifiedBy>
  <cp:revision>12</cp:revision>
  <dcterms:created xsi:type="dcterms:W3CDTF">2023-07-07T02:00:43Z</dcterms:created>
  <dcterms:modified xsi:type="dcterms:W3CDTF">2024-09-03T00:38:29Z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2023-07-09T17:39:43Z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934bf055-5d58-4591-8f85-6de4d295ed91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TAFE-White-BG-C:4\8_Office Theme:4\9_Office Theme:4\3_Office Theme:4\4_Office Theme:4\5_Office Theme:4\TAFE-Dark-BG-animated:4\6_Office Theme:4\7_Office Theme:4\1_TAFE-White-BG-C:7\10_Office Theme:8\11_Office Theme:7\12_Office Theme:7\TAFE-White-BG-B:7</vt:lpwstr>
  </property>
  <property fmtid="{D5CDD505-2E9C-101B-9397-08002B2CF9AE}" pid="10" name="ClassificationContentMarkingHeaderText">
    <vt:lpwstr>OFFICIAL</vt:lpwstr>
  </property>
</Properties>
</file>